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7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489" r:id="rId3"/>
    <p:sldId id="296" r:id="rId4"/>
    <p:sldId id="506" r:id="rId5"/>
    <p:sldId id="507" r:id="rId6"/>
    <p:sldId id="496" r:id="rId7"/>
    <p:sldId id="508" r:id="rId8"/>
    <p:sldId id="477" r:id="rId9"/>
    <p:sldId id="490" r:id="rId10"/>
    <p:sldId id="491" r:id="rId11"/>
    <p:sldId id="498" r:id="rId12"/>
    <p:sldId id="500" r:id="rId13"/>
    <p:sldId id="499" r:id="rId14"/>
    <p:sldId id="501" r:id="rId15"/>
    <p:sldId id="510" r:id="rId16"/>
    <p:sldId id="509" r:id="rId17"/>
    <p:sldId id="502" r:id="rId18"/>
    <p:sldId id="511" r:id="rId19"/>
    <p:sldId id="503" r:id="rId20"/>
    <p:sldId id="484" r:id="rId21"/>
    <p:sldId id="473" r:id="rId22"/>
    <p:sldId id="504" r:id="rId23"/>
    <p:sldId id="505" r:id="rId24"/>
    <p:sldId id="497" r:id="rId25"/>
    <p:sldId id="51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26" autoAdjust="0"/>
  </p:normalViewPr>
  <p:slideViewPr>
    <p:cSldViewPr snapToGrid="0">
      <p:cViewPr varScale="1">
        <p:scale>
          <a:sx n="67" d="100"/>
          <a:sy n="67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16AB-453D-4224-B0C8-022441C300AE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2AF-2797-4AC5-BC52-C6EAF0479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裸机系统就像我们学校把所有的工作都包揽下来，管理困难，管理成本高效率低，质量差。</a:t>
            </a:r>
            <a:endParaRPr lang="en-US" altLang="zh-CN" dirty="0"/>
          </a:p>
          <a:p>
            <a:r>
              <a:rPr lang="zh-CN" altLang="en-US" dirty="0"/>
              <a:t>如果把一些非核心业务外包出去，则可以减轻学校很大的负担，压缩成本，提高效率，提高质量。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017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8935" indent="-356870">
              <a:lnSpc>
                <a:spcPct val="100000"/>
              </a:lnSpc>
              <a:spcBef>
                <a:spcPts val="7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68935" algn="l"/>
                <a:tab pos="369570" algn="l"/>
              </a:tabLst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Noto Sans CJK JP Black"/>
              </a:rPr>
              <a:t>一个时钟周期大概对应多少条指令？多长时间？</a:t>
            </a:r>
            <a:endParaRPr lang="zh-CN" altLang="en-US" sz="1200" dirty="0">
              <a:latin typeface="Noto Sans CJK JP Black"/>
              <a:cs typeface="Noto Sans CJK JP Black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843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8935" indent="-356870">
              <a:lnSpc>
                <a:spcPct val="100000"/>
              </a:lnSpc>
              <a:spcBef>
                <a:spcPts val="7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68935" algn="l"/>
                <a:tab pos="369570" algn="l"/>
              </a:tabLst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Noto Sans CJK JP Black"/>
              </a:rPr>
              <a:t>一个时钟周期大概对应多少条指令？多长时间？</a:t>
            </a:r>
            <a:endParaRPr lang="zh-CN" altLang="en-US" sz="1200" dirty="0">
              <a:latin typeface="Noto Sans CJK JP Black"/>
              <a:cs typeface="Noto Sans CJK JP Black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791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这里逻辑上有没问题？休眠的时间其实很长，</a:t>
            </a:r>
            <a:r>
              <a:rPr lang="en-US" altLang="zh-CN" dirty="0"/>
              <a:t>task2</a:t>
            </a:r>
            <a:r>
              <a:rPr lang="zh-CN" altLang="en-US" dirty="0"/>
              <a:t>休眠时，</a:t>
            </a:r>
            <a:r>
              <a:rPr lang="en-US" altLang="zh-CN" dirty="0"/>
              <a:t>task1</a:t>
            </a:r>
            <a:r>
              <a:rPr lang="zh-CN" altLang="en-US" dirty="0"/>
              <a:t>还没醒过来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59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这时候应该回到</a:t>
            </a:r>
            <a:r>
              <a:rPr lang="en-US" altLang="zh-CN" dirty="0"/>
              <a:t>task1</a:t>
            </a:r>
            <a:r>
              <a:rPr lang="zh-CN" altLang="en-US" dirty="0"/>
              <a:t>继续执行吗？由谁来接手呢？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412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这里逻辑上有没问题？休眠的时间其实很长，</a:t>
            </a:r>
            <a:r>
              <a:rPr lang="en-US" altLang="zh-CN" dirty="0"/>
              <a:t>task2</a:t>
            </a:r>
            <a:r>
              <a:rPr lang="zh-CN" altLang="en-US" dirty="0"/>
              <a:t>休眠时，</a:t>
            </a:r>
            <a:r>
              <a:rPr lang="en-US" altLang="zh-CN" dirty="0"/>
              <a:t>task1</a:t>
            </a:r>
            <a:r>
              <a:rPr lang="zh-CN" altLang="en-US" dirty="0"/>
              <a:t>还没醒过来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594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这里逻辑上有没问题？休眠的时间其实很长，</a:t>
            </a:r>
            <a:r>
              <a:rPr lang="en-US" altLang="zh-CN" dirty="0"/>
              <a:t>task2</a:t>
            </a:r>
            <a:r>
              <a:rPr lang="zh-CN" altLang="en-US" dirty="0"/>
              <a:t>休眠时，</a:t>
            </a:r>
            <a:r>
              <a:rPr lang="en-US" altLang="zh-CN" dirty="0"/>
              <a:t>task1</a:t>
            </a:r>
            <a:r>
              <a:rPr lang="zh-CN" altLang="en-US" dirty="0"/>
              <a:t>还没醒过来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073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这里逻辑上有没问题？休眠的时间其实很长，</a:t>
            </a:r>
            <a:r>
              <a:rPr lang="en-US" altLang="zh-CN" dirty="0"/>
              <a:t>task2</a:t>
            </a:r>
            <a:r>
              <a:rPr lang="zh-CN" altLang="en-US" dirty="0"/>
              <a:t>休眠时，</a:t>
            </a:r>
            <a:r>
              <a:rPr lang="en-US" altLang="zh-CN" dirty="0"/>
              <a:t>task1</a:t>
            </a:r>
            <a:r>
              <a:rPr lang="zh-CN" altLang="en-US" dirty="0"/>
              <a:t>还没醒过来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134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4BA-B1A5-4ECC-B5B1-7FA78BEB8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39ADC-A550-4C3A-9AC2-CD529869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E12A6-846E-4071-AF36-F41D6CA1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8A229-06B4-4B51-88D1-1B59AD70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51AAF-C4B9-4089-BDE8-07E932C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5887-0E71-4103-85FD-8CDEE6F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2D7BF-D5A3-4694-8B87-0634500A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09E3-02EC-43D1-A1B8-7B546BC9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BC617-4219-4B83-9A20-F3DB62B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5B740-6237-411D-B16D-742A66FB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8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FA55-CE45-4512-9368-A6199B14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4D45-4159-4800-8A5E-0A21E879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5BC78-3D5C-4753-85AB-AF1434D2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A96B6-B0E7-4F0E-AF0E-71E5D52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AF7A6-99C6-4C37-85D4-BFFF5C61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CA99-0307-44C6-8912-C7B500A2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5FF9F-2171-42F4-B8E1-E8688D46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040E7-974C-4556-8607-9775821A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3FCB9-DD73-4B34-B330-D284702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194C-E502-4422-9D66-20ABF9D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1A57C-9419-44C5-BA41-FE16C527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895A-2473-4092-B69C-61F6077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E70D-9DBD-45FE-A8B7-5FFEE433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AE356-1D1C-49C8-BEF0-C645975F6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17F7B-9C33-480A-8884-6FE5E0C98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31C870-79FD-4E9D-8CDC-FA5D4817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89B77-A81C-42DF-914F-8FDD7D1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A62C2-D794-4B33-98AB-1F6DD04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01910E-B6BD-4213-81C5-70758008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5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B822-43CE-49A6-894B-E6B591B9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E7D564-3E82-4F36-AEC0-EDF6E1CB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137A6B-A81E-42F5-86F5-63A4982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9ACE2D-6646-4A79-9062-02105E5F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6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6B471-DBF8-41B0-8E8C-0CBF19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ADD16E-EC43-467B-9050-3BDC131F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C1FA3-91EF-46AC-A53F-0D36742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3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E30B-7D98-4AE2-B249-3FE9636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A669B-ED10-4783-BFDA-296C57AE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F041B-38EB-4AD2-9E05-F0488AD0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CAA6-8A71-4480-80D8-768C76A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C111A-5A19-4A5B-897F-41D6D8A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52CB8-82CD-4492-A4B0-5A0EEDC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0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B64D3-0394-4B6F-8374-E4F4DAF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427DC-FFCA-4E6B-91BD-13B9FB8BD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AC41D-6B44-4CE6-B772-2C1771BA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D53A6-17FE-4B06-B5C5-135600F8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0E9588-B72D-4BC2-94C9-8986B162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26FB7-51EB-4949-8A04-72ED5554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EAD3-DF79-41FB-A297-A00031B6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2B2B1D-96BC-49C3-B3D5-351185CC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2ABE4-6BBC-4A33-A377-1C063C6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C02D-408C-47CD-8C87-096FE1B1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A4163-6869-4E1B-9FC8-8C8790C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9FBDB-9CC0-4519-8950-41B7804B2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B50AE-74FB-490C-84D9-F44BBB83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FA88-3356-49A3-836C-A3EAE7F8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1C6CE-5C25-4ECA-8B82-2D95BD66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A314-0F46-442C-8459-6D27604F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3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1552789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6405257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EFA144-0481-4318-8D44-693A3A854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368E29-8D5C-4805-A101-CCE9E7B8C7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C65-A18F-4D86-AA5C-5DFE165BDEB2}" type="datetime1">
              <a:rPr lang="en-US" altLang="zh-CN"/>
              <a:pPr>
                <a:defRPr/>
              </a:pPr>
              <a:t>10/8/2021</a:t>
            </a:fld>
            <a:endParaRPr lang="en-US" altLang="zh-C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DC50C4-792F-49EB-8F41-BF6AD4BD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33EAC-60A0-4066-A8AE-F5749B32B4F9}" type="slidenum">
              <a:rPr lang="ru-RU" altLang="zh-CN"/>
              <a:pPr>
                <a:defRPr/>
              </a:pPr>
              <a:t>‹#›</a:t>
            </a:fld>
            <a:endParaRPr lang="ru-RU" altLang="zh-CN"/>
          </a:p>
        </p:txBody>
      </p:sp>
    </p:spTree>
    <p:extLst>
      <p:ext uri="{BB962C8B-B14F-4D97-AF65-F5344CB8AC3E}">
        <p14:creationId xmlns:p14="http://schemas.microsoft.com/office/powerpoint/2010/main" val="30248889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B8A8D-7041-4600-8ED4-E8D852B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41A4E-6C33-4B95-85CE-7A662C88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1D24-F87E-4CAF-9B07-2656566D9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61CB-0CBA-48E8-BB71-4F28376232DC}" type="datetimeFigureOut">
              <a:rPr lang="zh-CN" altLang="en-US" smtClean="0"/>
              <a:t>2021/10/8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DF12-62C0-417B-A990-D58E52A79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41EC-86EB-4794-8905-E87716B3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2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2.jpe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image" Target="../media/image2.jpe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0.xml"/><Relationship Id="rId7" Type="http://schemas.openxmlformats.org/officeDocument/2006/relationships/image" Target="../media/image2.jpe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4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image" Target="../media/image2.jpe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bject 1">
            <a:extLst>
              <a:ext uri="{FF2B5EF4-FFF2-40B4-BE49-F238E27FC236}">
                <a16:creationId xmlns:a16="http://schemas.microsoft.com/office/drawing/2014/main" id="{4DF71452-0B77-4493-AB39-DD147C9E1B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1" name="object 2">
            <a:extLst>
              <a:ext uri="{FF2B5EF4-FFF2-40B4-BE49-F238E27FC236}">
                <a16:creationId xmlns:a16="http://schemas.microsoft.com/office/drawing/2014/main" id="{09051FC2-CFFD-44F2-860D-9F04F04D63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2" name="object 4">
            <a:extLst>
              <a:ext uri="{FF2B5EF4-FFF2-40B4-BE49-F238E27FC236}">
                <a16:creationId xmlns:a16="http://schemas.microsoft.com/office/drawing/2014/main" id="{53C7D0FB-BB93-4D66-95AA-B8A0DFBE1C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69180" y="1499828"/>
            <a:ext cx="5886930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嵌入式操作系统</a:t>
            </a:r>
            <a:endParaRPr lang="en-US" altLang="zh-CN" sz="5446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  <a:p>
            <a:pPr>
              <a:lnSpc>
                <a:spcPts val="7215"/>
              </a:lnSpc>
            </a:pPr>
            <a:r>
              <a:rPr lang="en-US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--</a:t>
            </a:r>
            <a:r>
              <a:rPr lang="zh-CN" altLang="en-US" sz="3993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逐步构建</a:t>
            </a:r>
            <a:endParaRPr lang="zh-CN" altLang="zh-CN" sz="3993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  <p:sp>
        <p:nvSpPr>
          <p:cNvPr id="68613" name="object 6">
            <a:extLst>
              <a:ext uri="{FF2B5EF4-FFF2-40B4-BE49-F238E27FC236}">
                <a16:creationId xmlns:a16="http://schemas.microsoft.com/office/drawing/2014/main" id="{2247452C-94B6-4525-8F7E-3C0AA3AF03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44584" y="3559704"/>
            <a:ext cx="7142416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空闲任务和阻塞延时</a:t>
            </a:r>
            <a:endParaRPr lang="zh-CN" altLang="zh-CN" sz="5446" b="1" dirty="0">
              <a:solidFill>
                <a:srgbClr val="00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多任务应用程序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610" y="21168"/>
            <a:ext cx="8952860" cy="6882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int main(void)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OS_ERR err;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OSInit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(&amp;err); /* </a:t>
            </a:r>
            <a:r>
              <a:rPr lang="zh-CN" altLang="en-US" sz="1634" dirty="0">
                <a:solidFill>
                  <a:srgbClr val="000000"/>
                </a:solidFill>
                <a:latin typeface="Courier New" panose="02070309020205020404" pitchFamily="49" charset="0"/>
              </a:rPr>
              <a:t>初始化相关的全局变量 *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OSTaskCreate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(…, Task1, 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OSTaskCreate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(…, Task2, 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/ 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OSStart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(&amp;err);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void delay (uint32_t count) /* </a:t>
            </a:r>
            <a:r>
              <a:rPr lang="zh-CN" altLang="en-US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延时函数 *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{	for(; count!=0; count--);}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{	flag1 = 1;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flag1 = 0;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//</a:t>
            </a:r>
            <a:r>
              <a:rPr lang="en-US" altLang="zh-CN" sz="1634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1634" b="1" dirty="0">
                <a:solidFill>
                  <a:srgbClr val="FF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); /* </a:t>
            </a:r>
            <a:r>
              <a:rPr lang="zh-CN" altLang="en-US" sz="1634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{	flag2 = 1;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flag2 = 0;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//</a:t>
            </a:r>
            <a:r>
              <a:rPr lang="en-US" altLang="zh-CN" sz="1634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1634" b="1" dirty="0">
                <a:solidFill>
                  <a:srgbClr val="FF0000"/>
                </a:solidFill>
                <a:latin typeface="Courier New" panose="02070309020205020404" pitchFamily="49" charset="0"/>
              </a:rPr>
              <a:t>(); 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1634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7747645" y="609873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8003464" y="1170843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2447925" y="2058406"/>
            <a:ext cx="8659582" cy="4574033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                   内存   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4409589" y="2257426"/>
            <a:ext cx="2305536" cy="2641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delay(); 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flag1 =0;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delay(); </a:t>
            </a:r>
            <a:endParaRPr lang="en-US" altLang="zh-CN" sz="2178" b="1" strike="sngStrike" dirty="0">
              <a:solidFill>
                <a:srgbClr val="00B050"/>
              </a:solidFill>
            </a:endParaRP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}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}</a:t>
            </a:r>
            <a:endParaRPr lang="zh-CN" altLang="en-US" sz="2178" b="1" dirty="0">
              <a:solidFill>
                <a:srgbClr val="00B050"/>
              </a:solidFill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695733" y="1233494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4487917" y="4973323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F728A-0425-49C7-B642-0C0CA8582E38}"/>
              </a:ext>
            </a:extLst>
          </p:cNvPr>
          <p:cNvSpPr/>
          <p:nvPr/>
        </p:nvSpPr>
        <p:spPr>
          <a:xfrm>
            <a:off x="8560556" y="2248705"/>
            <a:ext cx="2305536" cy="27669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70C0"/>
                </a:solidFill>
              </a:rPr>
              <a:t>void Task2()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flag2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delay(); 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flag2 =0;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delay(); </a:t>
            </a:r>
            <a:endParaRPr lang="en-US" altLang="zh-CN" sz="2178" b="1" strike="sngStrike" dirty="0">
              <a:solidFill>
                <a:srgbClr val="0070C0"/>
              </a:solidFill>
            </a:endParaRP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}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}</a:t>
            </a:r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4AFD27-9C45-4E1F-8A84-35EF4678409E}"/>
              </a:ext>
            </a:extLst>
          </p:cNvPr>
          <p:cNvSpPr/>
          <p:nvPr/>
        </p:nvSpPr>
        <p:spPr>
          <a:xfrm>
            <a:off x="9288439" y="509188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B70F51-1E8C-4A6C-B9BA-D66102F8D7F3}"/>
              </a:ext>
            </a:extLst>
          </p:cNvPr>
          <p:cNvSpPr/>
          <p:nvPr/>
        </p:nvSpPr>
        <p:spPr>
          <a:xfrm>
            <a:off x="5953638" y="5800725"/>
            <a:ext cx="3363376" cy="7524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sz="2178" b="1" dirty="0">
              <a:solidFill>
                <a:srgbClr val="FF0000"/>
              </a:solidFill>
            </a:endParaRPr>
          </a:p>
          <a:p>
            <a:pPr algn="ctr"/>
            <a:r>
              <a:rPr lang="en-US" altLang="zh-CN" sz="2178" b="1" dirty="0">
                <a:solidFill>
                  <a:srgbClr val="FF0000"/>
                </a:solidFill>
              </a:rPr>
              <a:t>OS</a:t>
            </a:r>
            <a:endParaRPr lang="zh-CN" altLang="en-US" sz="2178" b="1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CEA4B3-18AE-434D-992F-4CB039272A0A}"/>
              </a:ext>
            </a:extLst>
          </p:cNvPr>
          <p:cNvSpPr/>
          <p:nvPr/>
        </p:nvSpPr>
        <p:spPr>
          <a:xfrm>
            <a:off x="7025090" y="5595245"/>
            <a:ext cx="1023535" cy="434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OSStart</a:t>
            </a:r>
            <a:endParaRPr lang="zh-CN" altLang="en-US" sz="1815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EB4E2D-D014-41F2-B3B0-7EE0CF675292}"/>
              </a:ext>
            </a:extLst>
          </p:cNvPr>
          <p:cNvSpPr/>
          <p:nvPr/>
        </p:nvSpPr>
        <p:spPr>
          <a:xfrm>
            <a:off x="6048260" y="5583685"/>
            <a:ext cx="881697" cy="434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OSInit</a:t>
            </a:r>
            <a:endParaRPr lang="zh-CN" altLang="en-US" sz="1815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7F7E7B-74A1-469F-B20C-90E34096E6CA}"/>
              </a:ext>
            </a:extLst>
          </p:cNvPr>
          <p:cNvSpPr/>
          <p:nvPr/>
        </p:nvSpPr>
        <p:spPr>
          <a:xfrm>
            <a:off x="8115301" y="5583685"/>
            <a:ext cx="1127430" cy="445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rgbClr val="FF0000"/>
                </a:solidFill>
              </a:rPr>
              <a:t>OSSched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1E7EFC-5E46-4198-9F35-D4E136EB6B5D}"/>
              </a:ext>
            </a:extLst>
          </p:cNvPr>
          <p:cNvSpPr/>
          <p:nvPr/>
        </p:nvSpPr>
        <p:spPr>
          <a:xfrm>
            <a:off x="6883388" y="3877321"/>
            <a:ext cx="1463441" cy="16512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rgbClr val="7030A0"/>
                </a:solidFill>
              </a:rPr>
              <a:t>SysTick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7030A0"/>
                </a:solidFill>
              </a:rPr>
              <a:t>时钟中断服务程序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algn="ctr"/>
            <a:r>
              <a:rPr lang="en-US" altLang="zh-CN" sz="2400" b="1" dirty="0" err="1">
                <a:solidFill>
                  <a:srgbClr val="FF0000"/>
                </a:solidFill>
              </a:rPr>
              <a:t>OSSched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D6AE30-A401-45FE-BE61-E982B941B08B}"/>
              </a:ext>
            </a:extLst>
          </p:cNvPr>
          <p:cNvSpPr/>
          <p:nvPr/>
        </p:nvSpPr>
        <p:spPr>
          <a:xfrm>
            <a:off x="5538553" y="774273"/>
            <a:ext cx="1517662" cy="7400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rgbClr val="7030A0"/>
                </a:solidFill>
              </a:rPr>
              <a:t>SysTick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7030A0"/>
                </a:solidFill>
              </a:rPr>
              <a:t>时钟中断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AFA06C7-C340-40AA-99F2-683373DEDFA4}"/>
              </a:ext>
            </a:extLst>
          </p:cNvPr>
          <p:cNvCxnSpPr>
            <a:cxnSpLocks/>
            <a:stCxn id="21" idx="3"/>
            <a:endCxn id="3" idx="1"/>
          </p:cNvCxnSpPr>
          <p:nvPr/>
        </p:nvCxnSpPr>
        <p:spPr>
          <a:xfrm flipV="1">
            <a:off x="7056215" y="1132688"/>
            <a:ext cx="691430" cy="116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8">
            <a:extLst>
              <a:ext uri="{FF2B5EF4-FFF2-40B4-BE49-F238E27FC236}">
                <a16:creationId xmlns:a16="http://schemas.microsoft.com/office/drawing/2014/main" id="{96EBE2C1-1F8B-4301-A267-1107F84D3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80420"/>
              </p:ext>
            </p:extLst>
          </p:nvPr>
        </p:nvGraphicFramePr>
        <p:xfrm>
          <a:off x="2505075" y="2090946"/>
          <a:ext cx="1846020" cy="1188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57053103"/>
                    </a:ext>
                  </a:extLst>
                </a:gridCol>
                <a:gridCol w="626820">
                  <a:extLst>
                    <a:ext uri="{9D8B030D-6E8A-4147-A177-3AD203B41FA5}">
                      <a16:colId xmlns:a16="http://schemas.microsoft.com/office/drawing/2014/main" val="673715480"/>
                    </a:ext>
                  </a:extLst>
                </a:gridCol>
              </a:tblGrid>
              <a:tr h="281096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中断向量表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223033"/>
                  </a:ext>
                </a:extLst>
              </a:tr>
              <a:tr h="281096"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Systick</a:t>
                      </a:r>
                      <a:endParaRPr lang="zh-CN" alt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650697"/>
                  </a:ext>
                </a:extLst>
              </a:tr>
              <a:tr h="28109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919609"/>
                  </a:ext>
                </a:extLst>
              </a:tr>
            </a:tbl>
          </a:graphicData>
        </a:graphic>
      </p:graphicFrame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13550E70-6AA8-49B3-BE5C-85CF4214B690}"/>
              </a:ext>
            </a:extLst>
          </p:cNvPr>
          <p:cNvSpPr/>
          <p:nvPr/>
        </p:nvSpPr>
        <p:spPr>
          <a:xfrm>
            <a:off x="3963376" y="2067885"/>
            <a:ext cx="3304426" cy="2086426"/>
          </a:xfrm>
          <a:custGeom>
            <a:avLst/>
            <a:gdLst>
              <a:gd name="connsiteX0" fmla="*/ 8549 w 3304426"/>
              <a:gd name="connsiteY0" fmla="*/ 589590 h 2086426"/>
              <a:gd name="connsiteX1" fmla="*/ 427649 w 3304426"/>
              <a:gd name="connsiteY1" fmla="*/ 84765 h 2086426"/>
              <a:gd name="connsiteX2" fmla="*/ 2770799 w 3304426"/>
              <a:gd name="connsiteY2" fmla="*/ 75240 h 2086426"/>
              <a:gd name="connsiteX3" fmla="*/ 3304199 w 3304426"/>
              <a:gd name="connsiteY3" fmla="*/ 827715 h 2086426"/>
              <a:gd name="connsiteX4" fmla="*/ 2837474 w 3304426"/>
              <a:gd name="connsiteY4" fmla="*/ 1789740 h 2086426"/>
              <a:gd name="connsiteX5" fmla="*/ 2837474 w 3304426"/>
              <a:gd name="connsiteY5" fmla="*/ 2065965 h 2086426"/>
              <a:gd name="connsiteX6" fmla="*/ 3142274 w 3304426"/>
              <a:gd name="connsiteY6" fmla="*/ 2065965 h 2086426"/>
              <a:gd name="connsiteX7" fmla="*/ 3142274 w 3304426"/>
              <a:gd name="connsiteY7" fmla="*/ 2065965 h 208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04426" h="2086426">
                <a:moveTo>
                  <a:pt x="8549" y="589590"/>
                </a:moveTo>
                <a:cubicBezTo>
                  <a:pt x="-12089" y="380040"/>
                  <a:pt x="-32726" y="170490"/>
                  <a:pt x="427649" y="84765"/>
                </a:cubicBezTo>
                <a:cubicBezTo>
                  <a:pt x="888024" y="-960"/>
                  <a:pt x="2291374" y="-48585"/>
                  <a:pt x="2770799" y="75240"/>
                </a:cubicBezTo>
                <a:cubicBezTo>
                  <a:pt x="3250224" y="199065"/>
                  <a:pt x="3293087" y="541965"/>
                  <a:pt x="3304199" y="827715"/>
                </a:cubicBezTo>
                <a:cubicBezTo>
                  <a:pt x="3315311" y="1113465"/>
                  <a:pt x="2915262" y="1583365"/>
                  <a:pt x="2837474" y="1789740"/>
                </a:cubicBezTo>
                <a:cubicBezTo>
                  <a:pt x="2759687" y="1996115"/>
                  <a:pt x="2786674" y="2019928"/>
                  <a:pt x="2837474" y="2065965"/>
                </a:cubicBezTo>
                <a:cubicBezTo>
                  <a:pt x="2888274" y="2112003"/>
                  <a:pt x="3142274" y="2065965"/>
                  <a:pt x="3142274" y="2065965"/>
                </a:cubicBezTo>
                <a:lnTo>
                  <a:pt x="3142274" y="2065965"/>
                </a:lnTo>
              </a:path>
            </a:pathLst>
          </a:custGeom>
          <a:noFill/>
          <a:ln w="381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2747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1" grpId="0" animBg="1"/>
      <p:bldP spid="5" grpId="0" animBg="1"/>
      <p:bldP spid="7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E2DE1512-E774-401B-817E-E0931C7AC73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520660" y="179500"/>
            <a:ext cx="7767118" cy="956662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4300" y="308300"/>
            <a:ext cx="6534150" cy="652638"/>
          </a:xfrm>
          <a:prstGeom prst="rect">
            <a:avLst/>
          </a:prstGeom>
        </p:spPr>
        <p:txBody>
          <a:bodyPr vert="horz" wrap="square" lIns="0" tIns="10373" rIns="0" bIns="0" rtlCol="0" anchor="ctr">
            <a:spAutoFit/>
          </a:bodyPr>
          <a:lstStyle/>
          <a:p>
            <a:pPr>
              <a:lnSpc>
                <a:spcPts val="5287"/>
              </a:lnSpc>
              <a:spcBef>
                <a:spcPts val="82"/>
              </a:spcBef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时钟中断</a:t>
            </a:r>
            <a:endParaRPr sz="3993" b="1" dirty="0">
              <a:solidFill>
                <a:srgbClr val="33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697A82-1D59-42E5-A1E7-25E8277511BD}"/>
              </a:ext>
            </a:extLst>
          </p:cNvPr>
          <p:cNvSpPr txBox="1"/>
          <p:nvPr/>
        </p:nvSpPr>
        <p:spPr>
          <a:xfrm>
            <a:off x="800102" y="113347"/>
            <a:ext cx="1704973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task1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flag1 =1;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delay(); 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… …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flag1 =0;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delay();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79E92D-B43C-4C1F-BA64-A2B544B72ABD}"/>
              </a:ext>
            </a:extLst>
          </p:cNvPr>
          <p:cNvSpPr txBox="1"/>
          <p:nvPr/>
        </p:nvSpPr>
        <p:spPr>
          <a:xfrm>
            <a:off x="3746743" y="2215753"/>
            <a:ext cx="1704973" cy="717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时钟中断</a:t>
            </a:r>
            <a:r>
              <a:rPr lang="en-US" altLang="zh-CN" dirty="0"/>
              <a:t>ISR</a:t>
            </a:r>
          </a:p>
          <a:p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9B2C632-7212-4F3A-8AF2-C3CF50E051B6}"/>
              </a:ext>
            </a:extLst>
          </p:cNvPr>
          <p:cNvCxnSpPr>
            <a:cxnSpLocks/>
          </p:cNvCxnSpPr>
          <p:nvPr/>
        </p:nvCxnSpPr>
        <p:spPr>
          <a:xfrm>
            <a:off x="2520660" y="2215753"/>
            <a:ext cx="1226083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1390291-4DD7-48ED-814D-72FA850CCA5D}"/>
              </a:ext>
            </a:extLst>
          </p:cNvPr>
          <p:cNvCxnSpPr>
            <a:cxnSpLocks/>
          </p:cNvCxnSpPr>
          <p:nvPr/>
        </p:nvCxnSpPr>
        <p:spPr>
          <a:xfrm>
            <a:off x="5553075" y="4983139"/>
            <a:ext cx="1254610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05DC63F-8872-4C28-B747-9D550CE6FB08}"/>
              </a:ext>
            </a:extLst>
          </p:cNvPr>
          <p:cNvSpPr txBox="1"/>
          <p:nvPr/>
        </p:nvSpPr>
        <p:spPr>
          <a:xfrm>
            <a:off x="6807685" y="2890258"/>
            <a:ext cx="1704973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task2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Task2()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{  for(;;){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flag2 =1;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delay(); 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… …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flag2 =0;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delay();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B6BC87E-9C8A-432C-9872-06210C35474A}"/>
              </a:ext>
            </a:extLst>
          </p:cNvPr>
          <p:cNvCxnSpPr>
            <a:cxnSpLocks/>
          </p:cNvCxnSpPr>
          <p:nvPr/>
        </p:nvCxnSpPr>
        <p:spPr>
          <a:xfrm>
            <a:off x="5451716" y="2910193"/>
            <a:ext cx="1355969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F8249E5-E2BD-4B54-BC90-1DFAFE58B418}"/>
              </a:ext>
            </a:extLst>
          </p:cNvPr>
          <p:cNvSpPr txBox="1"/>
          <p:nvPr/>
        </p:nvSpPr>
        <p:spPr>
          <a:xfrm>
            <a:off x="3841996" y="4983139"/>
            <a:ext cx="1704973" cy="717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时钟中断</a:t>
            </a:r>
            <a:r>
              <a:rPr lang="en-US" altLang="zh-CN" dirty="0"/>
              <a:t>ISR</a:t>
            </a:r>
          </a:p>
          <a:p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8F4EAA-C530-4339-BD2E-2032BE42684E}"/>
              </a:ext>
            </a:extLst>
          </p:cNvPr>
          <p:cNvSpPr txBox="1"/>
          <p:nvPr/>
        </p:nvSpPr>
        <p:spPr>
          <a:xfrm>
            <a:off x="876307" y="5700201"/>
            <a:ext cx="1704973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task1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flag1 =1;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delay(); 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… …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C16E1D3-B8DF-456B-9C00-0C529B551DB4}"/>
              </a:ext>
            </a:extLst>
          </p:cNvPr>
          <p:cNvCxnSpPr>
            <a:cxnSpLocks/>
          </p:cNvCxnSpPr>
          <p:nvPr/>
        </p:nvCxnSpPr>
        <p:spPr>
          <a:xfrm>
            <a:off x="2581280" y="5700201"/>
            <a:ext cx="1254610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1AFB8DE-994B-4770-AACC-21E31D56FC55}"/>
              </a:ext>
            </a:extLst>
          </p:cNvPr>
          <p:cNvGrpSpPr/>
          <p:nvPr/>
        </p:nvGrpSpPr>
        <p:grpSpPr>
          <a:xfrm>
            <a:off x="3835890" y="2932815"/>
            <a:ext cx="1704973" cy="2086860"/>
            <a:chOff x="3835890" y="2932815"/>
            <a:chExt cx="1704973" cy="2086860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2B5637A7-7932-4C80-AA2D-EC19CAC8551D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4599230" y="2932815"/>
              <a:ext cx="0" cy="667635"/>
            </a:xfrm>
            <a:prstGeom prst="straightConnector1">
              <a:avLst/>
            </a:prstGeom>
            <a:ln w="28575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94705B0C-4288-4385-AA7F-18197E7253DF}"/>
                </a:ext>
              </a:extLst>
            </p:cNvPr>
            <p:cNvCxnSpPr>
              <a:cxnSpLocks/>
            </p:cNvCxnSpPr>
            <p:nvPr/>
          </p:nvCxnSpPr>
          <p:spPr>
            <a:xfrm>
              <a:off x="4608755" y="4086226"/>
              <a:ext cx="0" cy="933449"/>
            </a:xfrm>
            <a:prstGeom prst="straightConnector1">
              <a:avLst/>
            </a:prstGeom>
            <a:ln w="28575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F574AED5-2DB6-4D29-9B9E-0361531C970E}"/>
                </a:ext>
              </a:extLst>
            </p:cNvPr>
            <p:cNvSpPr txBox="1"/>
            <p:nvPr/>
          </p:nvSpPr>
          <p:spPr>
            <a:xfrm>
              <a:off x="3835890" y="3600450"/>
              <a:ext cx="1704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一个时钟周期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E2DE1512-E774-401B-817E-E0931C7AC73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520660" y="179500"/>
            <a:ext cx="7767118" cy="956662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6625" y="308300"/>
            <a:ext cx="8572500" cy="652638"/>
          </a:xfrm>
          <a:prstGeom prst="rect">
            <a:avLst/>
          </a:prstGeom>
        </p:spPr>
        <p:txBody>
          <a:bodyPr vert="horz" wrap="square" lIns="0" tIns="10373" rIns="0" bIns="0" rtlCol="0" anchor="ctr">
            <a:spAutoFit/>
          </a:bodyPr>
          <a:lstStyle/>
          <a:p>
            <a:pPr>
              <a:lnSpc>
                <a:spcPts val="5287"/>
              </a:lnSpc>
              <a:spcBef>
                <a:spcPts val="82"/>
              </a:spcBef>
            </a:pPr>
            <a:r>
              <a:rPr lang="zh-CN" altLang="en-US" sz="3600" b="1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问题的提出</a:t>
            </a:r>
            <a:r>
              <a:rPr lang="en-US" altLang="zh-CN" sz="3600" b="1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-----</a:t>
            </a:r>
            <a:r>
              <a:rPr lang="zh-CN" altLang="en-US" sz="3600" b="1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软件延时耗费</a:t>
            </a:r>
            <a:r>
              <a:rPr lang="en-US" altLang="zh-CN" sz="3600" b="1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CPU</a:t>
            </a:r>
            <a:r>
              <a:rPr lang="zh-CN" altLang="en-US" sz="3600" b="1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资源</a:t>
            </a:r>
            <a:endParaRPr sz="3600" b="1" dirty="0">
              <a:solidFill>
                <a:srgbClr val="33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697A82-1D59-42E5-A1E7-25E8277511BD}"/>
              </a:ext>
            </a:extLst>
          </p:cNvPr>
          <p:cNvSpPr txBox="1"/>
          <p:nvPr/>
        </p:nvSpPr>
        <p:spPr>
          <a:xfrm>
            <a:off x="800102" y="113347"/>
            <a:ext cx="1704973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task1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flag1 =1;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delay(); 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… …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flag1 =0;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delay();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79E92D-B43C-4C1F-BA64-A2B544B72ABD}"/>
              </a:ext>
            </a:extLst>
          </p:cNvPr>
          <p:cNvSpPr txBox="1"/>
          <p:nvPr/>
        </p:nvSpPr>
        <p:spPr>
          <a:xfrm>
            <a:off x="3746743" y="2215753"/>
            <a:ext cx="1704973" cy="717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时钟中断</a:t>
            </a:r>
            <a:r>
              <a:rPr lang="en-US" altLang="zh-CN" dirty="0"/>
              <a:t>ISR</a:t>
            </a:r>
          </a:p>
          <a:p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9B2C632-7212-4F3A-8AF2-C3CF50E051B6}"/>
              </a:ext>
            </a:extLst>
          </p:cNvPr>
          <p:cNvCxnSpPr>
            <a:cxnSpLocks/>
          </p:cNvCxnSpPr>
          <p:nvPr/>
        </p:nvCxnSpPr>
        <p:spPr>
          <a:xfrm>
            <a:off x="2520660" y="2215753"/>
            <a:ext cx="1226083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1390291-4DD7-48ED-814D-72FA850CCA5D}"/>
              </a:ext>
            </a:extLst>
          </p:cNvPr>
          <p:cNvCxnSpPr>
            <a:cxnSpLocks/>
          </p:cNvCxnSpPr>
          <p:nvPr/>
        </p:nvCxnSpPr>
        <p:spPr>
          <a:xfrm>
            <a:off x="5553075" y="4983139"/>
            <a:ext cx="1254610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05DC63F-8872-4C28-B747-9D550CE6FB08}"/>
              </a:ext>
            </a:extLst>
          </p:cNvPr>
          <p:cNvSpPr txBox="1"/>
          <p:nvPr/>
        </p:nvSpPr>
        <p:spPr>
          <a:xfrm>
            <a:off x="6807685" y="2890258"/>
            <a:ext cx="1704973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task2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Task2()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{  for(;;){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flag2 =1;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delay(); 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… …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flag2 =0;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 delay();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B6BC87E-9C8A-432C-9872-06210C35474A}"/>
              </a:ext>
            </a:extLst>
          </p:cNvPr>
          <p:cNvCxnSpPr>
            <a:cxnSpLocks/>
          </p:cNvCxnSpPr>
          <p:nvPr/>
        </p:nvCxnSpPr>
        <p:spPr>
          <a:xfrm>
            <a:off x="5451716" y="2910193"/>
            <a:ext cx="1355969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F8249E5-E2BD-4B54-BC90-1DFAFE58B418}"/>
              </a:ext>
            </a:extLst>
          </p:cNvPr>
          <p:cNvSpPr txBox="1"/>
          <p:nvPr/>
        </p:nvSpPr>
        <p:spPr>
          <a:xfrm>
            <a:off x="3841996" y="4983139"/>
            <a:ext cx="1704973" cy="7170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时钟中断</a:t>
            </a:r>
            <a:r>
              <a:rPr lang="en-US" altLang="zh-CN" dirty="0"/>
              <a:t>ISR</a:t>
            </a:r>
          </a:p>
          <a:p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8F4EAA-C530-4339-BD2E-2032BE42684E}"/>
              </a:ext>
            </a:extLst>
          </p:cNvPr>
          <p:cNvSpPr txBox="1"/>
          <p:nvPr/>
        </p:nvSpPr>
        <p:spPr>
          <a:xfrm>
            <a:off x="876307" y="5700201"/>
            <a:ext cx="1704973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task1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flag1 =1;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delay(); 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  … …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C16E1D3-B8DF-456B-9C00-0C529B551DB4}"/>
              </a:ext>
            </a:extLst>
          </p:cNvPr>
          <p:cNvCxnSpPr>
            <a:cxnSpLocks/>
          </p:cNvCxnSpPr>
          <p:nvPr/>
        </p:nvCxnSpPr>
        <p:spPr>
          <a:xfrm>
            <a:off x="2581280" y="5700201"/>
            <a:ext cx="1254610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893C71E-6F31-4FCC-A6C3-22A6F3E404D3}"/>
              </a:ext>
            </a:extLst>
          </p:cNvPr>
          <p:cNvCxnSpPr>
            <a:cxnSpLocks/>
          </p:cNvCxnSpPr>
          <p:nvPr/>
        </p:nvCxnSpPr>
        <p:spPr>
          <a:xfrm flipH="1">
            <a:off x="1942322" y="1126808"/>
            <a:ext cx="2319506" cy="1572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359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解决方案</a:t>
            </a:r>
            <a:r>
              <a:rPr lang="en-US" altLang="zh-CN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---</a:t>
            </a: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阻塞延时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B7F680-C126-4E0C-8714-034E1382C4F1}"/>
              </a:ext>
            </a:extLst>
          </p:cNvPr>
          <p:cNvSpPr txBox="1"/>
          <p:nvPr/>
        </p:nvSpPr>
        <p:spPr>
          <a:xfrm>
            <a:off x="1152525" y="1513522"/>
            <a:ext cx="2055159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task1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{for(;;){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flag1 =1;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(1);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2CA475-D90B-4879-9E8B-659E5B1A7A4E}"/>
              </a:ext>
            </a:extLst>
          </p:cNvPr>
          <p:cNvSpPr txBox="1"/>
          <p:nvPr/>
        </p:nvSpPr>
        <p:spPr>
          <a:xfrm>
            <a:off x="1501487" y="2859881"/>
            <a:ext cx="1704973" cy="7170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设置延时时间</a:t>
            </a:r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975ED7-5DBD-48C6-AA88-B11CCB068221}"/>
              </a:ext>
            </a:extLst>
          </p:cNvPr>
          <p:cNvSpPr txBox="1"/>
          <p:nvPr/>
        </p:nvSpPr>
        <p:spPr>
          <a:xfrm>
            <a:off x="7493485" y="3537958"/>
            <a:ext cx="2402990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task2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Task2()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{ for(;;){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flag2 =1;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(1);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76AE49-D5EE-4C72-91F2-D29867CF5E50}"/>
              </a:ext>
            </a:extLst>
          </p:cNvPr>
          <p:cNvCxnSpPr>
            <a:cxnSpLocks/>
          </p:cNvCxnSpPr>
          <p:nvPr/>
        </p:nvCxnSpPr>
        <p:spPr>
          <a:xfrm flipV="1">
            <a:off x="3177933" y="3557893"/>
            <a:ext cx="4315552" cy="1905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295C44B-69AD-46F5-A6D9-B67E423F0EB5}"/>
              </a:ext>
            </a:extLst>
          </p:cNvPr>
          <p:cNvSpPr txBox="1"/>
          <p:nvPr/>
        </p:nvSpPr>
        <p:spPr>
          <a:xfrm>
            <a:off x="1152526" y="5604952"/>
            <a:ext cx="2034938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task1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flag1 =0;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(1);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6377258-4DF5-4DAB-9D5E-491DAE679B43}"/>
              </a:ext>
            </a:extLst>
          </p:cNvPr>
          <p:cNvCxnSpPr>
            <a:cxnSpLocks/>
          </p:cNvCxnSpPr>
          <p:nvPr/>
        </p:nvCxnSpPr>
        <p:spPr>
          <a:xfrm>
            <a:off x="3177933" y="5609237"/>
            <a:ext cx="4315552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BA98D54-9313-44BD-B14E-CA3A031A7594}"/>
              </a:ext>
            </a:extLst>
          </p:cNvPr>
          <p:cNvSpPr txBox="1"/>
          <p:nvPr/>
        </p:nvSpPr>
        <p:spPr>
          <a:xfrm>
            <a:off x="7463789" y="4892175"/>
            <a:ext cx="1704973" cy="7170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设置延时时间</a:t>
            </a:r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904404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76958" y="167640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阻塞延时</a:t>
            </a:r>
            <a:r>
              <a:rPr lang="en-US" altLang="zh-CN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---</a:t>
            </a: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去向何方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B7F680-C126-4E0C-8714-034E1382C4F1}"/>
              </a:ext>
            </a:extLst>
          </p:cNvPr>
          <p:cNvSpPr txBox="1"/>
          <p:nvPr/>
        </p:nvSpPr>
        <p:spPr>
          <a:xfrm>
            <a:off x="1133475" y="1789747"/>
            <a:ext cx="2055159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task1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{for(;;){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flag1 =1;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(1);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975ED7-5DBD-48C6-AA88-B11CCB068221}"/>
              </a:ext>
            </a:extLst>
          </p:cNvPr>
          <p:cNvSpPr txBox="1"/>
          <p:nvPr/>
        </p:nvSpPr>
        <p:spPr>
          <a:xfrm>
            <a:off x="7474435" y="3814183"/>
            <a:ext cx="2402990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task2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Task2()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{ for(;;){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flag2 =1;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(1);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76AE49-D5EE-4C72-91F2-D29867CF5E50}"/>
              </a:ext>
            </a:extLst>
          </p:cNvPr>
          <p:cNvCxnSpPr>
            <a:cxnSpLocks/>
          </p:cNvCxnSpPr>
          <p:nvPr/>
        </p:nvCxnSpPr>
        <p:spPr>
          <a:xfrm>
            <a:off x="3187410" y="3814183"/>
            <a:ext cx="4287025" cy="19935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1723FA4-309B-4460-B027-5C6DFD33835C}"/>
              </a:ext>
            </a:extLst>
          </p:cNvPr>
          <p:cNvCxnSpPr>
            <a:cxnSpLocks/>
          </p:cNvCxnSpPr>
          <p:nvPr/>
        </p:nvCxnSpPr>
        <p:spPr>
          <a:xfrm>
            <a:off x="3164945" y="6299216"/>
            <a:ext cx="4287025" cy="0"/>
          </a:xfrm>
          <a:prstGeom prst="straightConnector1">
            <a:avLst/>
          </a:prstGeom>
          <a:ln w="28575">
            <a:prstDash val="lgDash"/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347308A7-3274-4AAC-9B23-2A983FF64C71}"/>
              </a:ext>
            </a:extLst>
          </p:cNvPr>
          <p:cNvSpPr txBox="1"/>
          <p:nvPr/>
        </p:nvSpPr>
        <p:spPr>
          <a:xfrm>
            <a:off x="1482437" y="3143964"/>
            <a:ext cx="1704973" cy="7170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设置延时时间</a:t>
            </a:r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B32507-9249-4A10-BCA7-6F165F8A934B}"/>
              </a:ext>
            </a:extLst>
          </p:cNvPr>
          <p:cNvSpPr txBox="1"/>
          <p:nvPr/>
        </p:nvSpPr>
        <p:spPr>
          <a:xfrm>
            <a:off x="7451970" y="5163055"/>
            <a:ext cx="1901580" cy="11424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设置延时时间</a:t>
            </a:r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r>
              <a:rPr lang="en-US" altLang="zh-CN" sz="5400" b="1" dirty="0">
                <a:solidFill>
                  <a:srgbClr val="FF0000"/>
                </a:solidFill>
              </a:rPr>
              <a:t>?</a:t>
            </a:r>
            <a:endParaRPr lang="en-US" altLang="zh-CN" sz="5400" dirty="0"/>
          </a:p>
        </p:txBody>
      </p:sp>
    </p:spTree>
    <p:extLst>
      <p:ext uri="{BB962C8B-B14F-4D97-AF65-F5344CB8AC3E}">
        <p14:creationId xmlns:p14="http://schemas.microsoft.com/office/powerpoint/2010/main" val="137476957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阻塞延时</a:t>
            </a:r>
            <a:r>
              <a:rPr lang="en-US" altLang="zh-CN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---</a:t>
            </a: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空闲任务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B7F680-C126-4E0C-8714-034E1382C4F1}"/>
              </a:ext>
            </a:extLst>
          </p:cNvPr>
          <p:cNvSpPr txBox="1"/>
          <p:nvPr/>
        </p:nvSpPr>
        <p:spPr>
          <a:xfrm>
            <a:off x="1152525" y="1513522"/>
            <a:ext cx="2055159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task1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{for(;;){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flag1 =1;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(1);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975ED7-5DBD-48C6-AA88-B11CCB068221}"/>
              </a:ext>
            </a:extLst>
          </p:cNvPr>
          <p:cNvSpPr txBox="1"/>
          <p:nvPr/>
        </p:nvSpPr>
        <p:spPr>
          <a:xfrm>
            <a:off x="5721835" y="3537958"/>
            <a:ext cx="2402990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task2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void Task2()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{ for(;;){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flag2 =1;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(1);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76AE49-D5EE-4C72-91F2-D29867CF5E50}"/>
              </a:ext>
            </a:extLst>
          </p:cNvPr>
          <p:cNvCxnSpPr>
            <a:cxnSpLocks/>
          </p:cNvCxnSpPr>
          <p:nvPr/>
        </p:nvCxnSpPr>
        <p:spPr>
          <a:xfrm flipV="1">
            <a:off x="3206460" y="3537958"/>
            <a:ext cx="2515375" cy="19935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295C44B-69AD-46F5-A6D9-B67E423F0EB5}"/>
              </a:ext>
            </a:extLst>
          </p:cNvPr>
          <p:cNvSpPr txBox="1"/>
          <p:nvPr/>
        </p:nvSpPr>
        <p:spPr>
          <a:xfrm>
            <a:off x="9914648" y="5609237"/>
            <a:ext cx="2034938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800" b="1" dirty="0" err="1">
                <a:solidFill>
                  <a:schemeClr val="accent2">
                    <a:lumMod val="75000"/>
                  </a:schemeClr>
                </a:solidFill>
              </a:rPr>
              <a:t>OS_IdleTask</a:t>
            </a:r>
            <a:endParaRPr lang="en-US" altLang="zh-CN" sz="18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</a:rPr>
              <a:t>;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6377258-4DF5-4DAB-9D5E-491DAE679B43}"/>
              </a:ext>
            </a:extLst>
          </p:cNvPr>
          <p:cNvCxnSpPr>
            <a:cxnSpLocks/>
          </p:cNvCxnSpPr>
          <p:nvPr/>
        </p:nvCxnSpPr>
        <p:spPr>
          <a:xfrm flipH="1">
            <a:off x="7426808" y="5609237"/>
            <a:ext cx="2469668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AA74239-BEF8-4E48-9E2A-E8FDC08F6C5D}"/>
              </a:ext>
            </a:extLst>
          </p:cNvPr>
          <p:cNvSpPr txBox="1"/>
          <p:nvPr/>
        </p:nvSpPr>
        <p:spPr>
          <a:xfrm>
            <a:off x="1501487" y="2840831"/>
            <a:ext cx="1704973" cy="7170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设置延时时间</a:t>
            </a:r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E7667E-278E-41D5-8318-AA3A8CEEDA35}"/>
              </a:ext>
            </a:extLst>
          </p:cNvPr>
          <p:cNvSpPr txBox="1"/>
          <p:nvPr/>
        </p:nvSpPr>
        <p:spPr>
          <a:xfrm>
            <a:off x="5721835" y="4912110"/>
            <a:ext cx="1704973" cy="71706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设置延时时间</a:t>
            </a:r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7137155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7220913" cy="62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添加空闲任务</a:t>
            </a:r>
            <a:endParaRPr lang="zh-CN" altLang="zh-CN" sz="36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A0E7ED-742D-48AD-9959-0E4797D8950F}"/>
              </a:ext>
            </a:extLst>
          </p:cNvPr>
          <p:cNvSpPr/>
          <p:nvPr/>
        </p:nvSpPr>
        <p:spPr>
          <a:xfrm>
            <a:off x="8557878" y="297348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DB68AB-67B2-498B-A567-82D16D89A44F}"/>
              </a:ext>
            </a:extLst>
          </p:cNvPr>
          <p:cNvSpPr/>
          <p:nvPr/>
        </p:nvSpPr>
        <p:spPr>
          <a:xfrm>
            <a:off x="8813697" y="85831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D087A6-5208-4987-9E59-DF04F823F027}"/>
              </a:ext>
            </a:extLst>
          </p:cNvPr>
          <p:cNvSpPr/>
          <p:nvPr/>
        </p:nvSpPr>
        <p:spPr>
          <a:xfrm>
            <a:off x="476250" y="1734306"/>
            <a:ext cx="11439525" cy="4745011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          内存           内存   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4BB732-981C-4BAF-8F54-9FAE3FDD7B6F}"/>
              </a:ext>
            </a:extLst>
          </p:cNvPr>
          <p:cNvSpPr/>
          <p:nvPr/>
        </p:nvSpPr>
        <p:spPr>
          <a:xfrm>
            <a:off x="2437914" y="1944901"/>
            <a:ext cx="2305536" cy="2641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delay(); 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delay(); </a:t>
            </a:r>
            <a:endParaRPr lang="en-US" altLang="zh-CN" sz="2178" b="1" strike="sngStrike" dirty="0">
              <a:solidFill>
                <a:srgbClr val="00B050"/>
              </a:solidFill>
            </a:endParaRP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}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}</a:t>
            </a:r>
            <a:endParaRPr lang="zh-CN" altLang="en-US" sz="2178" b="1" dirty="0">
              <a:solidFill>
                <a:srgbClr val="00B050"/>
              </a:solidFill>
            </a:endParaRPr>
          </a:p>
        </p:txBody>
      </p:sp>
      <p:sp>
        <p:nvSpPr>
          <p:cNvPr id="10" name="箭头: 上下 9">
            <a:extLst>
              <a:ext uri="{FF2B5EF4-FFF2-40B4-BE49-F238E27FC236}">
                <a16:creationId xmlns:a16="http://schemas.microsoft.com/office/drawing/2014/main" id="{4D128784-6A17-4BC1-97CE-829418131F4F}"/>
              </a:ext>
            </a:extLst>
          </p:cNvPr>
          <p:cNvSpPr/>
          <p:nvPr/>
        </p:nvSpPr>
        <p:spPr>
          <a:xfrm>
            <a:off x="10505966" y="920969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875C6A-B2C9-4143-8480-3CAC76600538}"/>
              </a:ext>
            </a:extLst>
          </p:cNvPr>
          <p:cNvSpPr/>
          <p:nvPr/>
        </p:nvSpPr>
        <p:spPr>
          <a:xfrm>
            <a:off x="2516242" y="4660798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5EDDE1-D6DF-4162-BEEF-754349F3ADB2}"/>
              </a:ext>
            </a:extLst>
          </p:cNvPr>
          <p:cNvSpPr/>
          <p:nvPr/>
        </p:nvSpPr>
        <p:spPr>
          <a:xfrm>
            <a:off x="6703181" y="1936180"/>
            <a:ext cx="2305536" cy="27669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70C0"/>
                </a:solidFill>
              </a:rPr>
              <a:t>void Task2()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flag1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delay(); 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flag1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delay(); </a:t>
            </a:r>
            <a:endParaRPr lang="en-US" altLang="zh-CN" sz="2178" b="1" strike="sngStrike" dirty="0">
              <a:solidFill>
                <a:srgbClr val="0070C0"/>
              </a:solidFill>
            </a:endParaRP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}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}</a:t>
            </a:r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E3E38C-BF89-400D-96AA-F211553DA628}"/>
              </a:ext>
            </a:extLst>
          </p:cNvPr>
          <p:cNvSpPr/>
          <p:nvPr/>
        </p:nvSpPr>
        <p:spPr>
          <a:xfrm>
            <a:off x="7316764" y="4779360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5F5AA7-8DF7-4EAF-A581-8CEA4DFC08F2}"/>
              </a:ext>
            </a:extLst>
          </p:cNvPr>
          <p:cNvSpPr/>
          <p:nvPr/>
        </p:nvSpPr>
        <p:spPr>
          <a:xfrm>
            <a:off x="3981963" y="5488205"/>
            <a:ext cx="3363376" cy="7524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sz="2178" b="1" dirty="0">
              <a:solidFill>
                <a:srgbClr val="FF0000"/>
              </a:solidFill>
            </a:endParaRPr>
          </a:p>
          <a:p>
            <a:pPr algn="ctr"/>
            <a:r>
              <a:rPr lang="en-US" altLang="zh-CN" sz="2178" b="1" dirty="0">
                <a:solidFill>
                  <a:srgbClr val="FF0000"/>
                </a:solidFill>
              </a:rPr>
              <a:t>OS</a:t>
            </a:r>
            <a:endParaRPr lang="zh-CN" altLang="en-US" sz="2178" b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B86B32-13D4-4BFB-B5DD-C9CD73EA7B2A}"/>
              </a:ext>
            </a:extLst>
          </p:cNvPr>
          <p:cNvSpPr/>
          <p:nvPr/>
        </p:nvSpPr>
        <p:spPr>
          <a:xfrm>
            <a:off x="5053415" y="5282725"/>
            <a:ext cx="1023535" cy="434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OSStart</a:t>
            </a:r>
            <a:endParaRPr lang="zh-CN" altLang="en-US" sz="1815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120933-277F-46B2-A1C3-792436DD84C8}"/>
              </a:ext>
            </a:extLst>
          </p:cNvPr>
          <p:cNvSpPr/>
          <p:nvPr/>
        </p:nvSpPr>
        <p:spPr>
          <a:xfrm>
            <a:off x="4076585" y="5271160"/>
            <a:ext cx="881697" cy="434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OSInit</a:t>
            </a:r>
            <a:endParaRPr lang="zh-CN" altLang="en-US" sz="1815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8059EF-72F2-4711-A9B4-553F52A7CADF}"/>
              </a:ext>
            </a:extLst>
          </p:cNvPr>
          <p:cNvSpPr/>
          <p:nvPr/>
        </p:nvSpPr>
        <p:spPr>
          <a:xfrm>
            <a:off x="6143626" y="5271160"/>
            <a:ext cx="1127430" cy="445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rgbClr val="FF0000"/>
                </a:solidFill>
              </a:rPr>
              <a:t>OSSched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1C071D-E63F-4F01-A49C-A11600750309}"/>
              </a:ext>
            </a:extLst>
          </p:cNvPr>
          <p:cNvSpPr/>
          <p:nvPr/>
        </p:nvSpPr>
        <p:spPr>
          <a:xfrm>
            <a:off x="4911713" y="3564796"/>
            <a:ext cx="1463441" cy="16512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rgbClr val="7030A0"/>
                </a:solidFill>
              </a:rPr>
              <a:t>SysTick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7030A0"/>
                </a:solidFill>
              </a:rPr>
              <a:t>时钟中断服务程序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algn="ctr"/>
            <a:r>
              <a:rPr lang="en-US" altLang="zh-CN" sz="2400" b="1" dirty="0" err="1">
                <a:solidFill>
                  <a:srgbClr val="FF0000"/>
                </a:solidFill>
              </a:rPr>
              <a:t>OSSched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5C54F7-4B4F-41BD-9A8D-7F72168E9CCF}"/>
              </a:ext>
            </a:extLst>
          </p:cNvPr>
          <p:cNvSpPr/>
          <p:nvPr/>
        </p:nvSpPr>
        <p:spPr>
          <a:xfrm>
            <a:off x="6348786" y="461748"/>
            <a:ext cx="1517662" cy="7400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rgbClr val="7030A0"/>
                </a:solidFill>
              </a:rPr>
              <a:t>SysTick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7030A0"/>
                </a:solidFill>
              </a:rPr>
              <a:t>时钟中断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80B2297-72F3-439B-BE33-32A5B48B36E1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7866448" y="820163"/>
            <a:ext cx="691430" cy="116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8">
            <a:extLst>
              <a:ext uri="{FF2B5EF4-FFF2-40B4-BE49-F238E27FC236}">
                <a16:creationId xmlns:a16="http://schemas.microsoft.com/office/drawing/2014/main" id="{32681995-42C1-41BA-B3E3-0181D6F10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96374"/>
              </p:ext>
            </p:extLst>
          </p:nvPr>
        </p:nvGraphicFramePr>
        <p:xfrm>
          <a:off x="533400" y="1778421"/>
          <a:ext cx="1846020" cy="1188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57053103"/>
                    </a:ext>
                  </a:extLst>
                </a:gridCol>
                <a:gridCol w="626820">
                  <a:extLst>
                    <a:ext uri="{9D8B030D-6E8A-4147-A177-3AD203B41FA5}">
                      <a16:colId xmlns:a16="http://schemas.microsoft.com/office/drawing/2014/main" val="673715480"/>
                    </a:ext>
                  </a:extLst>
                </a:gridCol>
              </a:tblGrid>
              <a:tr h="281096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中断向量表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223033"/>
                  </a:ext>
                </a:extLst>
              </a:tr>
              <a:tr h="281096"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Systick</a:t>
                      </a:r>
                      <a:endParaRPr lang="zh-CN" alt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650697"/>
                  </a:ext>
                </a:extLst>
              </a:tr>
              <a:tr h="28109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919609"/>
                  </a:ext>
                </a:extLst>
              </a:tr>
            </a:tbl>
          </a:graphicData>
        </a:graphic>
      </p:graphicFrame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42617440-FFC3-47AC-8A46-AE63ECDA390F}"/>
              </a:ext>
            </a:extLst>
          </p:cNvPr>
          <p:cNvSpPr/>
          <p:nvPr/>
        </p:nvSpPr>
        <p:spPr>
          <a:xfrm>
            <a:off x="1991701" y="1755360"/>
            <a:ext cx="3304426" cy="2086426"/>
          </a:xfrm>
          <a:custGeom>
            <a:avLst/>
            <a:gdLst>
              <a:gd name="connsiteX0" fmla="*/ 8549 w 3304426"/>
              <a:gd name="connsiteY0" fmla="*/ 589590 h 2086426"/>
              <a:gd name="connsiteX1" fmla="*/ 427649 w 3304426"/>
              <a:gd name="connsiteY1" fmla="*/ 84765 h 2086426"/>
              <a:gd name="connsiteX2" fmla="*/ 2770799 w 3304426"/>
              <a:gd name="connsiteY2" fmla="*/ 75240 h 2086426"/>
              <a:gd name="connsiteX3" fmla="*/ 3304199 w 3304426"/>
              <a:gd name="connsiteY3" fmla="*/ 827715 h 2086426"/>
              <a:gd name="connsiteX4" fmla="*/ 2837474 w 3304426"/>
              <a:gd name="connsiteY4" fmla="*/ 1789740 h 2086426"/>
              <a:gd name="connsiteX5" fmla="*/ 2837474 w 3304426"/>
              <a:gd name="connsiteY5" fmla="*/ 2065965 h 2086426"/>
              <a:gd name="connsiteX6" fmla="*/ 3142274 w 3304426"/>
              <a:gd name="connsiteY6" fmla="*/ 2065965 h 2086426"/>
              <a:gd name="connsiteX7" fmla="*/ 3142274 w 3304426"/>
              <a:gd name="connsiteY7" fmla="*/ 2065965 h 208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04426" h="2086426">
                <a:moveTo>
                  <a:pt x="8549" y="589590"/>
                </a:moveTo>
                <a:cubicBezTo>
                  <a:pt x="-12089" y="380040"/>
                  <a:pt x="-32726" y="170490"/>
                  <a:pt x="427649" y="84765"/>
                </a:cubicBezTo>
                <a:cubicBezTo>
                  <a:pt x="888024" y="-960"/>
                  <a:pt x="2291374" y="-48585"/>
                  <a:pt x="2770799" y="75240"/>
                </a:cubicBezTo>
                <a:cubicBezTo>
                  <a:pt x="3250224" y="199065"/>
                  <a:pt x="3293087" y="541965"/>
                  <a:pt x="3304199" y="827715"/>
                </a:cubicBezTo>
                <a:cubicBezTo>
                  <a:pt x="3315311" y="1113465"/>
                  <a:pt x="2915262" y="1583365"/>
                  <a:pt x="2837474" y="1789740"/>
                </a:cubicBezTo>
                <a:cubicBezTo>
                  <a:pt x="2759687" y="1996115"/>
                  <a:pt x="2786674" y="2019928"/>
                  <a:pt x="2837474" y="2065965"/>
                </a:cubicBezTo>
                <a:cubicBezTo>
                  <a:pt x="2888274" y="2112003"/>
                  <a:pt x="3142274" y="2065965"/>
                  <a:pt x="3142274" y="2065965"/>
                </a:cubicBezTo>
                <a:lnTo>
                  <a:pt x="3142274" y="2065965"/>
                </a:lnTo>
              </a:path>
            </a:pathLst>
          </a:custGeom>
          <a:noFill/>
          <a:ln w="381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84EF9A-EF09-49E0-A017-BCE7EE96F61E}"/>
              </a:ext>
            </a:extLst>
          </p:cNvPr>
          <p:cNvSpPr/>
          <p:nvPr/>
        </p:nvSpPr>
        <p:spPr>
          <a:xfrm>
            <a:off x="9124951" y="2364805"/>
            <a:ext cx="2619374" cy="22959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/*</a:t>
            </a:r>
            <a:r>
              <a:rPr lang="zh-CN" altLang="en-US" sz="2178" b="1" dirty="0">
                <a:solidFill>
                  <a:schemeClr val="accent2">
                    <a:lumMod val="75000"/>
                  </a:schemeClr>
                </a:solidFill>
              </a:rPr>
              <a:t>空闲任务</a:t>
            </a:r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*/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void  </a:t>
            </a:r>
            <a:r>
              <a:rPr lang="en-US" altLang="zh-CN" sz="2178" b="1" dirty="0" err="1">
                <a:solidFill>
                  <a:schemeClr val="accent2">
                    <a:lumMod val="75000"/>
                  </a:schemeClr>
                </a:solidFill>
              </a:rPr>
              <a:t>OS_IdleTask</a:t>
            </a:r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 ()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{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   for(;;) 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     </a:t>
            </a: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</a:rPr>
              <a:t>OSIdleTaskCtr</a:t>
            </a:r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++;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}</a:t>
            </a:r>
            <a:endParaRPr lang="zh-CN" altLang="en-US" sz="2178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98DFA0B-E7F9-4619-95F8-13A79B7A6B5D}"/>
              </a:ext>
            </a:extLst>
          </p:cNvPr>
          <p:cNvSpPr/>
          <p:nvPr/>
        </p:nvSpPr>
        <p:spPr>
          <a:xfrm>
            <a:off x="9675077" y="4764923"/>
            <a:ext cx="1678723" cy="2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chemeClr val="accent2">
                    <a:lumMod val="75000"/>
                  </a:schemeClr>
                </a:solidFill>
              </a:rPr>
              <a:t>IdleTask</a:t>
            </a:r>
            <a:r>
              <a:rPr lang="zh-CN" altLang="en-US" sz="1815" b="1" dirty="0">
                <a:solidFill>
                  <a:schemeClr val="accent2">
                    <a:lumMod val="75000"/>
                  </a:schemeClr>
                </a:solidFill>
              </a:rPr>
              <a:t>堆栈</a:t>
            </a: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9EF1BFA9-75B2-47A6-A5DF-999F7EF917E2}"/>
              </a:ext>
            </a:extLst>
          </p:cNvPr>
          <p:cNvSpPr/>
          <p:nvPr/>
        </p:nvSpPr>
        <p:spPr>
          <a:xfrm>
            <a:off x="1354239" y="5271161"/>
            <a:ext cx="1967696" cy="696056"/>
          </a:xfrm>
          <a:prstGeom prst="wedgeRoundRectCallout">
            <a:avLst>
              <a:gd name="adj1" fmla="val 113174"/>
              <a:gd name="adj2" fmla="val 1118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</a:rPr>
              <a:t>IdleTaskInit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空闲任务初始化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E39191-8004-4B68-B72D-A20685CD9A80}"/>
              </a:ext>
            </a:extLst>
          </p:cNvPr>
          <p:cNvSpPr/>
          <p:nvPr/>
        </p:nvSpPr>
        <p:spPr>
          <a:xfrm>
            <a:off x="780690" y="3759715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Task1_TCB</a:t>
            </a:r>
            <a:r>
              <a:rPr lang="zh-CN" altLang="en-US" sz="1815" b="1" dirty="0">
                <a:solidFill>
                  <a:srgbClr val="00B050"/>
                </a:solidFill>
              </a:rPr>
              <a:t>任务控制块</a:t>
            </a:r>
            <a:endParaRPr lang="en-US" altLang="zh-CN" sz="1815" b="1" dirty="0">
              <a:solidFill>
                <a:srgbClr val="00B05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BFC56C-4E3F-47EF-A67D-800E904069E0}"/>
              </a:ext>
            </a:extLst>
          </p:cNvPr>
          <p:cNvSpPr/>
          <p:nvPr/>
        </p:nvSpPr>
        <p:spPr>
          <a:xfrm>
            <a:off x="7713513" y="5211723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Task1_TCB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EB40E6-1D46-4B51-88D0-F35290A3BFAB}"/>
              </a:ext>
            </a:extLst>
          </p:cNvPr>
          <p:cNvSpPr/>
          <p:nvPr/>
        </p:nvSpPr>
        <p:spPr>
          <a:xfrm>
            <a:off x="9890358" y="5214996"/>
            <a:ext cx="1463442" cy="7970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chemeClr val="accent2">
                    <a:lumMod val="75000"/>
                  </a:schemeClr>
                </a:solidFill>
              </a:rPr>
              <a:t>Task1_TCB</a:t>
            </a:r>
            <a:r>
              <a:rPr lang="zh-CN" altLang="en-US" sz="1815" b="1" dirty="0">
                <a:solidFill>
                  <a:schemeClr val="accent2">
                    <a:lumMod val="75000"/>
                  </a:schemeClr>
                </a:solidFill>
              </a:rPr>
              <a:t>任务控制块</a:t>
            </a:r>
            <a:endParaRPr lang="en-US" altLang="zh-CN" sz="1815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897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1" animBg="1"/>
      <p:bldP spid="23" grpId="0" animBg="1"/>
      <p:bldP spid="24" grpId="0" animBg="1"/>
      <p:bldP spid="3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8615085" cy="62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添加空闲任务组件</a:t>
            </a:r>
            <a:r>
              <a:rPr lang="en-US" altLang="zh-CN" sz="36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---</a:t>
            </a:r>
            <a:r>
              <a:rPr lang="zh-CN" altLang="en-US" sz="36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代码、堆栈、</a:t>
            </a:r>
            <a:r>
              <a:rPr lang="en-US" altLang="zh-CN" sz="36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TCB</a:t>
            </a:r>
            <a:endParaRPr lang="zh-CN" altLang="zh-CN" sz="36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5" y="1063277"/>
            <a:ext cx="9277052" cy="2554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os.h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OS_EXT    OS_IDLE_CTR    OSIdleTaskCtr;//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空闲任务要操作的变量</a:t>
            </a:r>
            <a:endParaRPr lang="pt-BR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OS_EXT    OS_TCB         OSIdleTaskTCB;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空闲任务控制块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空闲任务堆栈起始地址（栈底指针）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extern CPU_STK      * const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OSCfg_IdleTaskStkBasePtr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空闲任务堆栈大小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extern CPU_STK_SIZE   const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OSCfg_IdleTaskStkSize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id="{17BBED3E-3545-4873-84C8-B31FAEFB9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35" y="3725545"/>
            <a:ext cx="11350940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os_cfg_app.c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CPU_STK  OSCfg_IdleTaskStk   [OS_CFG_IDLE_TASK_STK_SIZE];//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定义空闲任务堆栈</a:t>
            </a:r>
            <a:endParaRPr lang="pt-BR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endParaRPr lang="pt-BR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空闲任务堆栈起始地址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CPU_STK  * const  OSCfg_IdleTaskStkBasePtr = </a:t>
            </a:r>
          </a:p>
          <a:p>
            <a:pPr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(CPU_STK  *)&amp;OSCfg_IdleTaskStk[0];</a:t>
            </a:r>
          </a:p>
          <a:p>
            <a:pPr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空闲任务堆栈大小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CPU_STK_SIZE   const  OSCfg_IdleTaskStkSize =</a:t>
            </a:r>
          </a:p>
          <a:p>
            <a:pPr>
              <a:defRPr/>
            </a:pP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(CPU_STK_SIZE)OS_CFG_IDLE_TASK_STK_SIZE;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6CB904-4514-4B3B-BC9C-DD6B68391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1113" y="2494438"/>
            <a:ext cx="9277052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os_core.c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空闲任务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OS_IdleTask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(void  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空闲任务什么都不做，只对全局变量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OSIdleTaskCtr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++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操作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for(;;)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OSIdleTaskCtr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++;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85855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766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167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创建空闲任务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810" y="831902"/>
            <a:ext cx="10251562" cy="60016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t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os_core.c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 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OS_IdleTaskInit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(OS_ERR  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)//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空闲任务初始化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初始化空闲任务计数器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 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OSIdleTaskCtr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(OS_IDLE_CTR)0; 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创建空闲任务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OSTaskCreate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 (OS_TCB     *)&amp;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OSIdleTaskTCB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     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(OS_TASK_PTR )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OS_IdleTask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			      (void       *)0,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			      (CPU_STK    *)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</a:rPr>
              <a:t>OSCfg_IdleTaskStkBasePtr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			      (CPU_STK_SIZE)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</a:rPr>
              <a:t>OSCfg_IdleTaskStkSize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			      (OS_ERR     *)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OSInit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(OS_ERR 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)//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系统初始化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… …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OS_IdleTaskInit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);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初始化空闲任务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if (*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!= OS_ERR_NONE)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return;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758834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766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167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实现阻塞延时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04777C-832B-44F6-AA8E-F1EE57122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83" y="1055051"/>
            <a:ext cx="6714608" cy="53245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void delay (uint32_t count) /* </a:t>
            </a:r>
            <a:r>
              <a:rPr lang="zh-CN" altLang="en-US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延时函数 *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{	for(; count!=0; count--);}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flag1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flag1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flag2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flag2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8E3DBB-A6D0-4B88-AC84-F99309DB0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926" y="1055051"/>
            <a:ext cx="6714608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flag1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单位为时钟周期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flag1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flag2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>
                <a:latin typeface="Courier New" panose="02070309020205020404" pitchFamily="49" charset="0"/>
              </a:rPr>
              <a:t>flag2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2749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7220913" cy="62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6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实现阻塞延时</a:t>
            </a:r>
            <a:endParaRPr lang="zh-CN" altLang="zh-CN" sz="36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A0E7ED-742D-48AD-9959-0E4797D8950F}"/>
              </a:ext>
            </a:extLst>
          </p:cNvPr>
          <p:cNvSpPr/>
          <p:nvPr/>
        </p:nvSpPr>
        <p:spPr>
          <a:xfrm>
            <a:off x="8557878" y="297348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DB68AB-67B2-498B-A567-82D16D89A44F}"/>
              </a:ext>
            </a:extLst>
          </p:cNvPr>
          <p:cNvSpPr/>
          <p:nvPr/>
        </p:nvSpPr>
        <p:spPr>
          <a:xfrm>
            <a:off x="8813697" y="85831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D087A6-5208-4987-9E59-DF04F823F027}"/>
              </a:ext>
            </a:extLst>
          </p:cNvPr>
          <p:cNvSpPr/>
          <p:nvPr/>
        </p:nvSpPr>
        <p:spPr>
          <a:xfrm>
            <a:off x="476250" y="1734306"/>
            <a:ext cx="11439525" cy="4745011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          内存           内存   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4BB732-981C-4BAF-8F54-9FAE3FDD7B6F}"/>
              </a:ext>
            </a:extLst>
          </p:cNvPr>
          <p:cNvSpPr/>
          <p:nvPr/>
        </p:nvSpPr>
        <p:spPr>
          <a:xfrm>
            <a:off x="2437914" y="1944901"/>
            <a:ext cx="2457908" cy="26419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flag1 =1; 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</a:t>
            </a:r>
            <a:r>
              <a:rPr lang="en-US" altLang="zh-CN" sz="2178" b="1" dirty="0" err="1">
                <a:solidFill>
                  <a:srgbClr val="00B050"/>
                </a:solidFill>
              </a:rPr>
              <a:t>OSTimeDly</a:t>
            </a:r>
            <a:r>
              <a:rPr lang="en-US" altLang="zh-CN" sz="2178" b="1" dirty="0">
                <a:solidFill>
                  <a:srgbClr val="00B050"/>
                </a:solidFill>
              </a:rPr>
              <a:t>(2);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  </a:t>
            </a:r>
            <a:r>
              <a:rPr lang="en-US" altLang="zh-CN" sz="2178" b="1" dirty="0" err="1">
                <a:solidFill>
                  <a:srgbClr val="00B050"/>
                </a:solidFill>
              </a:rPr>
              <a:t>OSTimeDly</a:t>
            </a:r>
            <a:r>
              <a:rPr lang="en-US" altLang="zh-CN" sz="2178" b="1" dirty="0">
                <a:solidFill>
                  <a:srgbClr val="00B050"/>
                </a:solidFill>
              </a:rPr>
              <a:t>(2);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}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}</a:t>
            </a:r>
            <a:endParaRPr lang="zh-CN" altLang="en-US" sz="2178" b="1" dirty="0">
              <a:solidFill>
                <a:srgbClr val="00B050"/>
              </a:solidFill>
            </a:endParaRPr>
          </a:p>
        </p:txBody>
      </p:sp>
      <p:sp>
        <p:nvSpPr>
          <p:cNvPr id="10" name="箭头: 上下 9">
            <a:extLst>
              <a:ext uri="{FF2B5EF4-FFF2-40B4-BE49-F238E27FC236}">
                <a16:creationId xmlns:a16="http://schemas.microsoft.com/office/drawing/2014/main" id="{4D128784-6A17-4BC1-97CE-829418131F4F}"/>
              </a:ext>
            </a:extLst>
          </p:cNvPr>
          <p:cNvSpPr/>
          <p:nvPr/>
        </p:nvSpPr>
        <p:spPr>
          <a:xfrm>
            <a:off x="10505966" y="920969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875C6A-B2C9-4143-8480-3CAC76600538}"/>
              </a:ext>
            </a:extLst>
          </p:cNvPr>
          <p:cNvSpPr/>
          <p:nvPr/>
        </p:nvSpPr>
        <p:spPr>
          <a:xfrm>
            <a:off x="2516242" y="4660798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5EDDE1-D6DF-4162-BEEF-754349F3ADB2}"/>
              </a:ext>
            </a:extLst>
          </p:cNvPr>
          <p:cNvSpPr/>
          <p:nvPr/>
        </p:nvSpPr>
        <p:spPr>
          <a:xfrm>
            <a:off x="6389343" y="1936180"/>
            <a:ext cx="2619374" cy="27669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70C0"/>
                </a:solidFill>
              </a:rPr>
              <a:t>void Task2()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flag2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</a:t>
            </a:r>
            <a:r>
              <a:rPr lang="en-US" altLang="zh-CN" sz="2178" b="1" dirty="0" err="1">
                <a:solidFill>
                  <a:srgbClr val="0070C0"/>
                </a:solidFill>
              </a:rPr>
              <a:t>OSTimeDly</a:t>
            </a:r>
            <a:r>
              <a:rPr lang="en-US" altLang="zh-CN" sz="2178" b="1" dirty="0">
                <a:solidFill>
                  <a:srgbClr val="0070C0"/>
                </a:solidFill>
              </a:rPr>
              <a:t>(2); 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flag2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  </a:t>
            </a:r>
            <a:r>
              <a:rPr lang="en-US" altLang="zh-CN" sz="2178" b="1" dirty="0" err="1">
                <a:solidFill>
                  <a:srgbClr val="0070C0"/>
                </a:solidFill>
              </a:rPr>
              <a:t>OSTimeDly</a:t>
            </a:r>
            <a:r>
              <a:rPr lang="en-US" altLang="zh-CN" sz="2178" b="1" dirty="0">
                <a:solidFill>
                  <a:srgbClr val="0070C0"/>
                </a:solidFill>
              </a:rPr>
              <a:t>(2);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}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}</a:t>
            </a:r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E3E38C-BF89-400D-96AA-F211553DA628}"/>
              </a:ext>
            </a:extLst>
          </p:cNvPr>
          <p:cNvSpPr/>
          <p:nvPr/>
        </p:nvSpPr>
        <p:spPr>
          <a:xfrm>
            <a:off x="7316764" y="4779360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5F5AA7-8DF7-4EAF-A581-8CEA4DFC08F2}"/>
              </a:ext>
            </a:extLst>
          </p:cNvPr>
          <p:cNvSpPr/>
          <p:nvPr/>
        </p:nvSpPr>
        <p:spPr>
          <a:xfrm>
            <a:off x="3981963" y="5488205"/>
            <a:ext cx="3363376" cy="7524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sz="2178" b="1" dirty="0">
              <a:solidFill>
                <a:srgbClr val="FF0000"/>
              </a:solidFill>
            </a:endParaRPr>
          </a:p>
          <a:p>
            <a:pPr algn="ctr"/>
            <a:r>
              <a:rPr lang="en-US" altLang="zh-CN" sz="2178" b="1" dirty="0">
                <a:solidFill>
                  <a:srgbClr val="FF0000"/>
                </a:solidFill>
              </a:rPr>
              <a:t>OS</a:t>
            </a:r>
            <a:endParaRPr lang="zh-CN" altLang="en-US" sz="2178" b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B86B32-13D4-4BFB-B5DD-C9CD73EA7B2A}"/>
              </a:ext>
            </a:extLst>
          </p:cNvPr>
          <p:cNvSpPr/>
          <p:nvPr/>
        </p:nvSpPr>
        <p:spPr>
          <a:xfrm>
            <a:off x="5053415" y="5282725"/>
            <a:ext cx="1023535" cy="434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OSStart</a:t>
            </a:r>
            <a:endParaRPr lang="zh-CN" altLang="en-US" sz="1815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120933-277F-46B2-A1C3-792436DD84C8}"/>
              </a:ext>
            </a:extLst>
          </p:cNvPr>
          <p:cNvSpPr/>
          <p:nvPr/>
        </p:nvSpPr>
        <p:spPr>
          <a:xfrm>
            <a:off x="4076585" y="5271160"/>
            <a:ext cx="881697" cy="434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OSInit</a:t>
            </a:r>
            <a:endParaRPr lang="zh-CN" altLang="en-US" sz="1815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8059EF-72F2-4711-A9B4-553F52A7CADF}"/>
              </a:ext>
            </a:extLst>
          </p:cNvPr>
          <p:cNvSpPr/>
          <p:nvPr/>
        </p:nvSpPr>
        <p:spPr>
          <a:xfrm>
            <a:off x="6143626" y="5271160"/>
            <a:ext cx="1127430" cy="445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</a:rPr>
              <a:t>OSSched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1C071D-E63F-4F01-A49C-A11600750309}"/>
              </a:ext>
            </a:extLst>
          </p:cNvPr>
          <p:cNvSpPr/>
          <p:nvPr/>
        </p:nvSpPr>
        <p:spPr>
          <a:xfrm>
            <a:off x="4911713" y="3564796"/>
            <a:ext cx="1463441" cy="16512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rgbClr val="7030A0"/>
                </a:solidFill>
              </a:rPr>
              <a:t>SysTick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7030A0"/>
                </a:solidFill>
              </a:rPr>
              <a:t>时钟中断服务程序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algn="ctr"/>
            <a:r>
              <a:rPr lang="en-US" altLang="zh-CN" sz="2400" b="1" dirty="0" err="1">
                <a:solidFill>
                  <a:schemeClr val="accent3">
                    <a:lumMod val="75000"/>
                  </a:schemeClr>
                </a:solidFill>
              </a:rPr>
              <a:t>OSSched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5C54F7-4B4F-41BD-9A8D-7F72168E9CCF}"/>
              </a:ext>
            </a:extLst>
          </p:cNvPr>
          <p:cNvSpPr/>
          <p:nvPr/>
        </p:nvSpPr>
        <p:spPr>
          <a:xfrm>
            <a:off x="6348786" y="461748"/>
            <a:ext cx="1517662" cy="7400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rgbClr val="7030A0"/>
                </a:solidFill>
              </a:rPr>
              <a:t>SysTick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7030A0"/>
                </a:solidFill>
              </a:rPr>
              <a:t>时钟中断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80B2297-72F3-439B-BE33-32A5B48B36E1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7866448" y="820163"/>
            <a:ext cx="691430" cy="116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8">
            <a:extLst>
              <a:ext uri="{FF2B5EF4-FFF2-40B4-BE49-F238E27FC236}">
                <a16:creationId xmlns:a16="http://schemas.microsoft.com/office/drawing/2014/main" id="{32681995-42C1-41BA-B3E3-0181D6F1037D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778421"/>
          <a:ext cx="1846020" cy="1188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957053103"/>
                    </a:ext>
                  </a:extLst>
                </a:gridCol>
                <a:gridCol w="626820">
                  <a:extLst>
                    <a:ext uri="{9D8B030D-6E8A-4147-A177-3AD203B41FA5}">
                      <a16:colId xmlns:a16="http://schemas.microsoft.com/office/drawing/2014/main" val="673715480"/>
                    </a:ext>
                  </a:extLst>
                </a:gridCol>
              </a:tblGrid>
              <a:tr h="281096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中断向量表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223033"/>
                  </a:ext>
                </a:extLst>
              </a:tr>
              <a:tr h="281096"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Systick</a:t>
                      </a:r>
                      <a:endParaRPr lang="zh-CN" altLang="en-US" sz="2400" b="1" kern="1200" dirty="0">
                        <a:solidFill>
                          <a:srgbClr val="7030A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650697"/>
                  </a:ext>
                </a:extLst>
              </a:tr>
              <a:tr h="28109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919609"/>
                  </a:ext>
                </a:extLst>
              </a:tr>
            </a:tbl>
          </a:graphicData>
        </a:graphic>
      </p:graphicFrame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42617440-FFC3-47AC-8A46-AE63ECDA390F}"/>
              </a:ext>
            </a:extLst>
          </p:cNvPr>
          <p:cNvSpPr/>
          <p:nvPr/>
        </p:nvSpPr>
        <p:spPr>
          <a:xfrm>
            <a:off x="1991701" y="1755360"/>
            <a:ext cx="3304426" cy="2086426"/>
          </a:xfrm>
          <a:custGeom>
            <a:avLst/>
            <a:gdLst>
              <a:gd name="connsiteX0" fmla="*/ 8549 w 3304426"/>
              <a:gd name="connsiteY0" fmla="*/ 589590 h 2086426"/>
              <a:gd name="connsiteX1" fmla="*/ 427649 w 3304426"/>
              <a:gd name="connsiteY1" fmla="*/ 84765 h 2086426"/>
              <a:gd name="connsiteX2" fmla="*/ 2770799 w 3304426"/>
              <a:gd name="connsiteY2" fmla="*/ 75240 h 2086426"/>
              <a:gd name="connsiteX3" fmla="*/ 3304199 w 3304426"/>
              <a:gd name="connsiteY3" fmla="*/ 827715 h 2086426"/>
              <a:gd name="connsiteX4" fmla="*/ 2837474 w 3304426"/>
              <a:gd name="connsiteY4" fmla="*/ 1789740 h 2086426"/>
              <a:gd name="connsiteX5" fmla="*/ 2837474 w 3304426"/>
              <a:gd name="connsiteY5" fmla="*/ 2065965 h 2086426"/>
              <a:gd name="connsiteX6" fmla="*/ 3142274 w 3304426"/>
              <a:gd name="connsiteY6" fmla="*/ 2065965 h 2086426"/>
              <a:gd name="connsiteX7" fmla="*/ 3142274 w 3304426"/>
              <a:gd name="connsiteY7" fmla="*/ 2065965 h 208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04426" h="2086426">
                <a:moveTo>
                  <a:pt x="8549" y="589590"/>
                </a:moveTo>
                <a:cubicBezTo>
                  <a:pt x="-12089" y="380040"/>
                  <a:pt x="-32726" y="170490"/>
                  <a:pt x="427649" y="84765"/>
                </a:cubicBezTo>
                <a:cubicBezTo>
                  <a:pt x="888024" y="-960"/>
                  <a:pt x="2291374" y="-48585"/>
                  <a:pt x="2770799" y="75240"/>
                </a:cubicBezTo>
                <a:cubicBezTo>
                  <a:pt x="3250224" y="199065"/>
                  <a:pt x="3293087" y="541965"/>
                  <a:pt x="3304199" y="827715"/>
                </a:cubicBezTo>
                <a:cubicBezTo>
                  <a:pt x="3315311" y="1113465"/>
                  <a:pt x="2915262" y="1583365"/>
                  <a:pt x="2837474" y="1789740"/>
                </a:cubicBezTo>
                <a:cubicBezTo>
                  <a:pt x="2759687" y="1996115"/>
                  <a:pt x="2786674" y="2019928"/>
                  <a:pt x="2837474" y="2065965"/>
                </a:cubicBezTo>
                <a:cubicBezTo>
                  <a:pt x="2888274" y="2112003"/>
                  <a:pt x="3142274" y="2065965"/>
                  <a:pt x="3142274" y="2065965"/>
                </a:cubicBezTo>
                <a:lnTo>
                  <a:pt x="3142274" y="2065965"/>
                </a:lnTo>
              </a:path>
            </a:pathLst>
          </a:custGeom>
          <a:noFill/>
          <a:ln w="381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84EF9A-EF09-49E0-A017-BCE7EE96F61E}"/>
              </a:ext>
            </a:extLst>
          </p:cNvPr>
          <p:cNvSpPr/>
          <p:nvPr/>
        </p:nvSpPr>
        <p:spPr>
          <a:xfrm>
            <a:off x="9124951" y="2364805"/>
            <a:ext cx="2619374" cy="22959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/*</a:t>
            </a:r>
            <a:r>
              <a:rPr lang="zh-CN" altLang="en-US" sz="2178" b="1" dirty="0">
                <a:solidFill>
                  <a:schemeClr val="accent2">
                    <a:lumMod val="75000"/>
                  </a:schemeClr>
                </a:solidFill>
              </a:rPr>
              <a:t>空闲任务</a:t>
            </a:r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*/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void  </a:t>
            </a:r>
            <a:r>
              <a:rPr lang="en-US" altLang="zh-CN" sz="2178" b="1" dirty="0" err="1">
                <a:solidFill>
                  <a:schemeClr val="accent2">
                    <a:lumMod val="75000"/>
                  </a:schemeClr>
                </a:solidFill>
              </a:rPr>
              <a:t>OS_IdleTask</a:t>
            </a:r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 ()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{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   for(;;) 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     </a:t>
            </a:r>
            <a:r>
              <a:rPr lang="en-US" altLang="zh-CN" b="1" dirty="0" err="1">
                <a:solidFill>
                  <a:schemeClr val="accent2">
                    <a:lumMod val="75000"/>
                  </a:schemeClr>
                </a:solidFill>
              </a:rPr>
              <a:t>OSIdleTaskCtr</a:t>
            </a:r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++;</a:t>
            </a:r>
          </a:p>
          <a:p>
            <a:r>
              <a:rPr lang="en-US" altLang="zh-CN" sz="2178" b="1" dirty="0">
                <a:solidFill>
                  <a:schemeClr val="accent2">
                    <a:lumMod val="75000"/>
                  </a:schemeClr>
                </a:solidFill>
              </a:rPr>
              <a:t>}</a:t>
            </a:r>
            <a:endParaRPr lang="zh-CN" altLang="en-US" sz="2178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98DFA0B-E7F9-4619-95F8-13A79B7A6B5D}"/>
              </a:ext>
            </a:extLst>
          </p:cNvPr>
          <p:cNvSpPr/>
          <p:nvPr/>
        </p:nvSpPr>
        <p:spPr>
          <a:xfrm>
            <a:off x="9675077" y="4764923"/>
            <a:ext cx="1678723" cy="2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chemeClr val="accent2">
                    <a:lumMod val="75000"/>
                  </a:schemeClr>
                </a:solidFill>
              </a:rPr>
              <a:t>IdleTask</a:t>
            </a:r>
            <a:r>
              <a:rPr lang="zh-CN" altLang="en-US" sz="1815" b="1" dirty="0">
                <a:solidFill>
                  <a:schemeClr val="accent2">
                    <a:lumMod val="75000"/>
                  </a:schemeClr>
                </a:solidFill>
              </a:rPr>
              <a:t>堆栈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E39191-8004-4B68-B72D-A20685CD9A80}"/>
              </a:ext>
            </a:extLst>
          </p:cNvPr>
          <p:cNvSpPr/>
          <p:nvPr/>
        </p:nvSpPr>
        <p:spPr>
          <a:xfrm>
            <a:off x="780690" y="3759715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Task1_TCB</a:t>
            </a:r>
            <a:r>
              <a:rPr lang="zh-CN" altLang="en-US" sz="1815" b="1" dirty="0">
                <a:solidFill>
                  <a:srgbClr val="00B050"/>
                </a:solidFill>
              </a:rPr>
              <a:t>任务控制块</a:t>
            </a:r>
            <a:endParaRPr lang="en-US" altLang="zh-CN" sz="1815" b="1" dirty="0">
              <a:solidFill>
                <a:srgbClr val="00B05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BFC56C-4E3F-47EF-A67D-800E904069E0}"/>
              </a:ext>
            </a:extLst>
          </p:cNvPr>
          <p:cNvSpPr/>
          <p:nvPr/>
        </p:nvSpPr>
        <p:spPr>
          <a:xfrm>
            <a:off x="7713513" y="5350623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Task2_TCB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EB40E6-1D46-4B51-88D0-F35290A3BFAB}"/>
              </a:ext>
            </a:extLst>
          </p:cNvPr>
          <p:cNvSpPr/>
          <p:nvPr/>
        </p:nvSpPr>
        <p:spPr>
          <a:xfrm>
            <a:off x="9890358" y="5353896"/>
            <a:ext cx="1463442" cy="6457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chemeClr val="accent2">
                    <a:lumMod val="75000"/>
                  </a:schemeClr>
                </a:solidFill>
              </a:rPr>
              <a:t>Idle_TCB</a:t>
            </a:r>
            <a:r>
              <a:rPr lang="zh-CN" altLang="en-US" sz="1815" b="1" dirty="0">
                <a:solidFill>
                  <a:schemeClr val="accent2">
                    <a:lumMod val="75000"/>
                  </a:schemeClr>
                </a:solidFill>
              </a:rPr>
              <a:t>任务控制块</a:t>
            </a:r>
            <a:endParaRPr lang="en-US" altLang="zh-CN" sz="1815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316E8D6D-E0CF-43CE-AF76-46513BB21020}"/>
              </a:ext>
            </a:extLst>
          </p:cNvPr>
          <p:cNvSpPr/>
          <p:nvPr/>
        </p:nvSpPr>
        <p:spPr>
          <a:xfrm>
            <a:off x="2073784" y="5020233"/>
            <a:ext cx="1905899" cy="778683"/>
          </a:xfrm>
          <a:prstGeom prst="wedgeRectCallout">
            <a:avLst>
              <a:gd name="adj1" fmla="val -84366"/>
              <a:gd name="adj2" fmla="val -13310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solidFill>
                  <a:srgbClr val="FF0000"/>
                </a:solidFill>
              </a:rPr>
              <a:t>TaskDelayTicks</a:t>
            </a:r>
            <a:r>
              <a:rPr lang="en-US" altLang="zh-CN" sz="2000" dirty="0">
                <a:solidFill>
                  <a:srgbClr val="FF0000"/>
                </a:solidFill>
              </a:rPr>
              <a:t>; </a:t>
            </a:r>
            <a:br>
              <a:rPr lang="en-US" altLang="zh-CN" sz="2000" dirty="0">
                <a:solidFill>
                  <a:srgbClr val="FF0000"/>
                </a:solidFill>
              </a:rPr>
            </a:br>
            <a:r>
              <a:rPr lang="zh-CN" altLang="en-US" sz="2000" dirty="0">
                <a:solidFill>
                  <a:srgbClr val="FF0000"/>
                </a:solidFill>
              </a:rPr>
              <a:t>延时时间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BC06882-AFDC-4D2A-A44B-393A0B55C2C3}"/>
              </a:ext>
            </a:extLst>
          </p:cNvPr>
          <p:cNvSpPr/>
          <p:nvPr/>
        </p:nvSpPr>
        <p:spPr>
          <a:xfrm>
            <a:off x="3532305" y="5968472"/>
            <a:ext cx="1363517" cy="434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 err="1">
                <a:solidFill>
                  <a:srgbClr val="FF0000"/>
                </a:solidFill>
              </a:rPr>
              <a:t>OSTimeDly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797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8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2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766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167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实现阻塞延时</a:t>
            </a:r>
            <a:r>
              <a:rPr lang="en-US" altLang="zh-CN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系统调用编码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1467" y="3981714"/>
            <a:ext cx="8743521" cy="26216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t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os_time.c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(OS_TICK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dly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设置延时时间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dly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进行任务调度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4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</a:rPr>
              <a:t>();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8F5CBC-1BE6-4E1C-A546-1D034041C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1467" y="1156438"/>
            <a:ext cx="8743521" cy="26216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t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os.h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os_tcb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CPU_STK         *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StkPtr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CPU_STK_SIZE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StkSize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任务延时周期个数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OS_TICK         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47028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766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167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实现阻塞延时</a:t>
            </a:r>
            <a:r>
              <a:rPr lang="en-US" altLang="zh-CN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任务调度重建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8F5CBC-1BE6-4E1C-A546-1D034041C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86" y="1029117"/>
            <a:ext cx="8743521" cy="41605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t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os_core.c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400" b="1" dirty="0">
                <a:latin typeface="Courier New" panose="02070309020205020404" pitchFamily="49" charset="0"/>
              </a:rPr>
              <a:t>/*</a:t>
            </a:r>
            <a:r>
              <a:rPr lang="zh-CN" altLang="en-US" sz="2400" b="1" dirty="0">
                <a:latin typeface="Courier New" panose="02070309020205020404" pitchFamily="49" charset="0"/>
              </a:rPr>
              <a:t>任务调度、切换</a:t>
            </a:r>
            <a:r>
              <a:rPr lang="en-US" altLang="zh-CN" sz="2400" b="1" dirty="0"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旧版</a:t>
            </a:r>
            <a:r>
              <a:rPr lang="en-US" altLang="zh-CN" sz="2400" b="1" dirty="0">
                <a:latin typeface="Courier New" panose="02070309020205020404" pitchFamily="49" charset="0"/>
              </a:rPr>
              <a:t>*/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(void)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if(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else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流程图: 可选过程 1">
            <a:extLst>
              <a:ext uri="{FF2B5EF4-FFF2-40B4-BE49-F238E27FC236}">
                <a16:creationId xmlns:a16="http://schemas.microsoft.com/office/drawing/2014/main" id="{4E857E15-19A0-423D-B20F-2C36BDE2EFDD}"/>
              </a:ext>
            </a:extLst>
          </p:cNvPr>
          <p:cNvSpPr/>
          <p:nvPr/>
        </p:nvSpPr>
        <p:spPr>
          <a:xfrm>
            <a:off x="9713740" y="1173393"/>
            <a:ext cx="1411460" cy="635087"/>
          </a:xfrm>
          <a:prstGeom prst="flowChartAlternate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任务调度（老）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735E0E2-59E0-4745-891A-16AB99BC1772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10419470" y="1808480"/>
            <a:ext cx="1170" cy="6197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A27AA4A5-0197-4633-8015-4BF4D0993B6B}"/>
              </a:ext>
            </a:extLst>
          </p:cNvPr>
          <p:cNvSpPr/>
          <p:nvPr/>
        </p:nvSpPr>
        <p:spPr>
          <a:xfrm>
            <a:off x="9673100" y="2428240"/>
            <a:ext cx="1495080" cy="863600"/>
          </a:xfrm>
          <a:prstGeom prst="flowChart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两个任务间轮流切换</a:t>
            </a:r>
          </a:p>
        </p:txBody>
      </p:sp>
      <p:sp>
        <p:nvSpPr>
          <p:cNvPr id="11" name="流程图: 可选过程 10">
            <a:extLst>
              <a:ext uri="{FF2B5EF4-FFF2-40B4-BE49-F238E27FC236}">
                <a16:creationId xmlns:a16="http://schemas.microsoft.com/office/drawing/2014/main" id="{D4907D7C-7867-48C5-BAF4-89401ABD1495}"/>
              </a:ext>
            </a:extLst>
          </p:cNvPr>
          <p:cNvSpPr/>
          <p:nvPr/>
        </p:nvSpPr>
        <p:spPr>
          <a:xfrm>
            <a:off x="9713740" y="4031435"/>
            <a:ext cx="1411460" cy="538480"/>
          </a:xfrm>
          <a:prstGeom prst="flowChartAlternate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E518551-FF0F-4154-B812-2B362DB630E2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10419470" y="3291840"/>
            <a:ext cx="1170" cy="7395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8990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766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167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实现阻塞延时</a:t>
            </a:r>
            <a:r>
              <a:rPr lang="en-US" altLang="zh-CN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任务调度重建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流程图: 可选过程 1">
            <a:extLst>
              <a:ext uri="{FF2B5EF4-FFF2-40B4-BE49-F238E27FC236}">
                <a16:creationId xmlns:a16="http://schemas.microsoft.com/office/drawing/2014/main" id="{4E857E15-19A0-423D-B20F-2C36BDE2EFDD}"/>
              </a:ext>
            </a:extLst>
          </p:cNvPr>
          <p:cNvSpPr/>
          <p:nvPr/>
        </p:nvSpPr>
        <p:spPr>
          <a:xfrm>
            <a:off x="329049" y="1679308"/>
            <a:ext cx="1411460" cy="635087"/>
          </a:xfrm>
          <a:prstGeom prst="flowChartAlternate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任务调度（新）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735E0E2-59E0-4745-891A-16AB99BC1772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1034779" y="2314395"/>
            <a:ext cx="1170" cy="6197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A27AA4A5-0197-4633-8015-4BF4D0993B6B}"/>
              </a:ext>
            </a:extLst>
          </p:cNvPr>
          <p:cNvSpPr/>
          <p:nvPr/>
        </p:nvSpPr>
        <p:spPr>
          <a:xfrm>
            <a:off x="288409" y="2934155"/>
            <a:ext cx="1495080" cy="863600"/>
          </a:xfrm>
          <a:prstGeom prst="flowChart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空闲任务与两个任务间伺机而动</a:t>
            </a:r>
          </a:p>
        </p:txBody>
      </p:sp>
      <p:sp>
        <p:nvSpPr>
          <p:cNvPr id="11" name="流程图: 可选过程 10">
            <a:extLst>
              <a:ext uri="{FF2B5EF4-FFF2-40B4-BE49-F238E27FC236}">
                <a16:creationId xmlns:a16="http://schemas.microsoft.com/office/drawing/2014/main" id="{D4907D7C-7867-48C5-BAF4-89401ABD1495}"/>
              </a:ext>
            </a:extLst>
          </p:cNvPr>
          <p:cNvSpPr/>
          <p:nvPr/>
        </p:nvSpPr>
        <p:spPr>
          <a:xfrm>
            <a:off x="329049" y="4537350"/>
            <a:ext cx="1411460" cy="538480"/>
          </a:xfrm>
          <a:prstGeom prst="flowChartAlternate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E518551-FF0F-4154-B812-2B362DB630E2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1034779" y="3797755"/>
            <a:ext cx="1170" cy="7395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图: 可选过程 12">
            <a:extLst>
              <a:ext uri="{FF2B5EF4-FFF2-40B4-BE49-F238E27FC236}">
                <a16:creationId xmlns:a16="http://schemas.microsoft.com/office/drawing/2014/main" id="{8412396F-2059-4EBA-8B77-1ADEA8777592}"/>
              </a:ext>
            </a:extLst>
          </p:cNvPr>
          <p:cNvSpPr/>
          <p:nvPr/>
        </p:nvSpPr>
        <p:spPr>
          <a:xfrm>
            <a:off x="2594722" y="1736099"/>
            <a:ext cx="1411460" cy="635087"/>
          </a:xfrm>
          <a:prstGeom prst="flowChartAlternate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任务调度（新）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55A71F1-EEF7-4112-A202-4708A57CAD06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3300452" y="2371186"/>
            <a:ext cx="1170" cy="5629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381438CE-F1B4-4E71-943C-C3A530FD97DA}"/>
              </a:ext>
            </a:extLst>
          </p:cNvPr>
          <p:cNvSpPr/>
          <p:nvPr/>
        </p:nvSpPr>
        <p:spPr>
          <a:xfrm>
            <a:off x="2110552" y="2934155"/>
            <a:ext cx="2382140" cy="977182"/>
          </a:xfrm>
          <a:prstGeom prst="flowChart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若用户任务没有休眠，则择一运行，否则运行空闲任务</a:t>
            </a:r>
          </a:p>
        </p:txBody>
      </p:sp>
      <p:sp>
        <p:nvSpPr>
          <p:cNvPr id="16" name="流程图: 可选过程 15">
            <a:extLst>
              <a:ext uri="{FF2B5EF4-FFF2-40B4-BE49-F238E27FC236}">
                <a16:creationId xmlns:a16="http://schemas.microsoft.com/office/drawing/2014/main" id="{59008052-7F76-4CD3-8A2A-C0A7CEC9D91B}"/>
              </a:ext>
            </a:extLst>
          </p:cNvPr>
          <p:cNvSpPr/>
          <p:nvPr/>
        </p:nvSpPr>
        <p:spPr>
          <a:xfrm>
            <a:off x="2594722" y="4594141"/>
            <a:ext cx="1411460" cy="538480"/>
          </a:xfrm>
          <a:prstGeom prst="flowChartAlternate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0B1FC28-6D32-4BF7-9CAE-E802411CBE73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3300452" y="3911337"/>
            <a:ext cx="1170" cy="6828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流程图: 可选过程 19">
            <a:extLst>
              <a:ext uri="{FF2B5EF4-FFF2-40B4-BE49-F238E27FC236}">
                <a16:creationId xmlns:a16="http://schemas.microsoft.com/office/drawing/2014/main" id="{89BAB7FA-E37C-4508-92B3-C86CEDC88F1B}"/>
              </a:ext>
            </a:extLst>
          </p:cNvPr>
          <p:cNvSpPr/>
          <p:nvPr/>
        </p:nvSpPr>
        <p:spPr>
          <a:xfrm>
            <a:off x="8547070" y="929736"/>
            <a:ext cx="1846610" cy="428883"/>
          </a:xfrm>
          <a:prstGeom prst="flowChartAlternate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任务调度（新）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77AB455-2866-40BD-A3DE-A6A513B5D158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>
            <a:off x="9470375" y="1358619"/>
            <a:ext cx="0" cy="1334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流程图: 过程 21">
            <a:extLst>
              <a:ext uri="{FF2B5EF4-FFF2-40B4-BE49-F238E27FC236}">
                <a16:creationId xmlns:a16="http://schemas.microsoft.com/office/drawing/2014/main" id="{D11E4117-D5A6-45C1-8AFE-A6CC84B2D172}"/>
              </a:ext>
            </a:extLst>
          </p:cNvPr>
          <p:cNvSpPr/>
          <p:nvPr/>
        </p:nvSpPr>
        <p:spPr>
          <a:xfrm>
            <a:off x="8283289" y="3476193"/>
            <a:ext cx="2382140" cy="977182"/>
          </a:xfrm>
          <a:prstGeom prst="flowChart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若另一个用户任务就绪，则切换到该任务</a:t>
            </a:r>
          </a:p>
        </p:txBody>
      </p:sp>
      <p:sp>
        <p:nvSpPr>
          <p:cNvPr id="23" name="流程图: 可选过程 22">
            <a:extLst>
              <a:ext uri="{FF2B5EF4-FFF2-40B4-BE49-F238E27FC236}">
                <a16:creationId xmlns:a16="http://schemas.microsoft.com/office/drawing/2014/main" id="{3549ED8E-CE8A-4CB4-B7EF-F4B07CF34318}"/>
              </a:ext>
            </a:extLst>
          </p:cNvPr>
          <p:cNvSpPr/>
          <p:nvPr/>
        </p:nvSpPr>
        <p:spPr>
          <a:xfrm>
            <a:off x="8765900" y="6153237"/>
            <a:ext cx="1411460" cy="538480"/>
          </a:xfrm>
          <a:prstGeom prst="flowChartAlternate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04E46A7-D928-4C7A-A110-BE49404DA139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9471630" y="4453375"/>
            <a:ext cx="2729" cy="16998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图: 决策 18">
            <a:extLst>
              <a:ext uri="{FF2B5EF4-FFF2-40B4-BE49-F238E27FC236}">
                <a16:creationId xmlns:a16="http://schemas.microsoft.com/office/drawing/2014/main" id="{37184954-826D-4EB8-9DB5-358E0D73998D}"/>
              </a:ext>
            </a:extLst>
          </p:cNvPr>
          <p:cNvSpPr/>
          <p:nvPr/>
        </p:nvSpPr>
        <p:spPr>
          <a:xfrm>
            <a:off x="8084517" y="1492066"/>
            <a:ext cx="2771716" cy="635087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dirty="0"/>
              <a:t>当前是否空闲任务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4A8B7AF-F5B0-497E-AB3E-D820F654227E}"/>
              </a:ext>
            </a:extLst>
          </p:cNvPr>
          <p:cNvCxnSpPr>
            <a:cxnSpLocks/>
            <a:stCxn id="19" idx="2"/>
            <a:endCxn id="64" idx="0"/>
          </p:cNvCxnSpPr>
          <p:nvPr/>
        </p:nvCxnSpPr>
        <p:spPr>
          <a:xfrm>
            <a:off x="9470375" y="2127153"/>
            <a:ext cx="0" cy="355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BCBD41E-D7C1-4B9F-A502-D28ACE7E4742}"/>
              </a:ext>
            </a:extLst>
          </p:cNvPr>
          <p:cNvSpPr txBox="1"/>
          <p:nvPr/>
        </p:nvSpPr>
        <p:spPr>
          <a:xfrm>
            <a:off x="9513580" y="2075934"/>
            <a:ext cx="40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</a:t>
            </a:r>
          </a:p>
        </p:txBody>
      </p:sp>
      <p:sp>
        <p:nvSpPr>
          <p:cNvPr id="38" name="流程图: 过程 37">
            <a:extLst>
              <a:ext uri="{FF2B5EF4-FFF2-40B4-BE49-F238E27FC236}">
                <a16:creationId xmlns:a16="http://schemas.microsoft.com/office/drawing/2014/main" id="{35A812DB-CA83-4D2A-AB9C-435973C4E2D7}"/>
              </a:ext>
            </a:extLst>
          </p:cNvPr>
          <p:cNvSpPr/>
          <p:nvPr/>
        </p:nvSpPr>
        <p:spPr>
          <a:xfrm>
            <a:off x="5147813" y="3365955"/>
            <a:ext cx="2382140" cy="596359"/>
          </a:xfrm>
          <a:prstGeom prst="flowChart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切换到用户任务</a:t>
            </a:r>
          </a:p>
        </p:txBody>
      </p:sp>
      <p:sp>
        <p:nvSpPr>
          <p:cNvPr id="41" name="流程图: 决策 40">
            <a:extLst>
              <a:ext uri="{FF2B5EF4-FFF2-40B4-BE49-F238E27FC236}">
                <a16:creationId xmlns:a16="http://schemas.microsoft.com/office/drawing/2014/main" id="{1FAD1D65-489B-4675-8F3B-D078C79025E8}"/>
              </a:ext>
            </a:extLst>
          </p:cNvPr>
          <p:cNvSpPr/>
          <p:nvPr/>
        </p:nvSpPr>
        <p:spPr>
          <a:xfrm>
            <a:off x="4952012" y="2260600"/>
            <a:ext cx="2771716" cy="635087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dirty="0"/>
              <a:t>是否有用户任务就绪？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ECBB0C4-090A-4604-958C-A60F552BAC27}"/>
              </a:ext>
            </a:extLst>
          </p:cNvPr>
          <p:cNvCxnSpPr>
            <a:cxnSpLocks/>
            <a:stCxn id="41" idx="2"/>
            <a:endCxn id="38" idx="0"/>
          </p:cNvCxnSpPr>
          <p:nvPr/>
        </p:nvCxnSpPr>
        <p:spPr>
          <a:xfrm>
            <a:off x="6337870" y="2895687"/>
            <a:ext cx="1013" cy="4702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F099CF8-E915-4FD7-99F8-D891A8EC7F6C}"/>
              </a:ext>
            </a:extLst>
          </p:cNvPr>
          <p:cNvSpPr txBox="1"/>
          <p:nvPr/>
        </p:nvSpPr>
        <p:spPr>
          <a:xfrm>
            <a:off x="6395005" y="2895687"/>
            <a:ext cx="40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是</a:t>
            </a: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BE5E3D5E-71A9-43C7-8BF9-1B997B2CBDF3}"/>
              </a:ext>
            </a:extLst>
          </p:cNvPr>
          <p:cNvCxnSpPr>
            <a:cxnSpLocks/>
            <a:stCxn id="19" idx="1"/>
            <a:endCxn id="41" idx="0"/>
          </p:cNvCxnSpPr>
          <p:nvPr/>
        </p:nvCxnSpPr>
        <p:spPr>
          <a:xfrm rot="10800000" flipV="1">
            <a:off x="6337871" y="1809610"/>
            <a:ext cx="1746647" cy="45099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F34E7EE6-B7A1-4055-8A74-4AD3ADD0CAFC}"/>
              </a:ext>
            </a:extLst>
          </p:cNvPr>
          <p:cNvSpPr txBox="1"/>
          <p:nvPr/>
        </p:nvSpPr>
        <p:spPr>
          <a:xfrm>
            <a:off x="6961053" y="1440277"/>
            <a:ext cx="40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是</a:t>
            </a: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37A14411-665C-4488-B7CF-556BD209002A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98861" y="3402338"/>
            <a:ext cx="2011539" cy="313149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CDE1C552-F3EE-43B1-A562-20F9ED12CFFD}"/>
              </a:ext>
            </a:extLst>
          </p:cNvPr>
          <p:cNvCxnSpPr>
            <a:cxnSpLocks/>
            <a:stCxn id="41" idx="1"/>
          </p:cNvCxnSpPr>
          <p:nvPr/>
        </p:nvCxnSpPr>
        <p:spPr>
          <a:xfrm rot="10800000" flipH="1" flipV="1">
            <a:off x="4952012" y="2578144"/>
            <a:ext cx="1385860" cy="3395706"/>
          </a:xfrm>
          <a:prstGeom prst="bentConnector4">
            <a:avLst>
              <a:gd name="adj1" fmla="val -9164"/>
              <a:gd name="adj2" fmla="val 99855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125F75C5-F63E-4434-B388-9D72381726C0}"/>
              </a:ext>
            </a:extLst>
          </p:cNvPr>
          <p:cNvSpPr txBox="1"/>
          <p:nvPr/>
        </p:nvSpPr>
        <p:spPr>
          <a:xfrm>
            <a:off x="4765537" y="2652670"/>
            <a:ext cx="40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</a:t>
            </a:r>
          </a:p>
        </p:txBody>
      </p:sp>
      <p:sp>
        <p:nvSpPr>
          <p:cNvPr id="64" name="流程图: 决策 63">
            <a:extLst>
              <a:ext uri="{FF2B5EF4-FFF2-40B4-BE49-F238E27FC236}">
                <a16:creationId xmlns:a16="http://schemas.microsoft.com/office/drawing/2014/main" id="{2FE6527E-76F8-4A34-AC2C-26D6EC31A1CA}"/>
              </a:ext>
            </a:extLst>
          </p:cNvPr>
          <p:cNvSpPr/>
          <p:nvPr/>
        </p:nvSpPr>
        <p:spPr>
          <a:xfrm>
            <a:off x="8084517" y="2482353"/>
            <a:ext cx="2771716" cy="653205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dirty="0"/>
              <a:t>另一个任务是否就绪</a:t>
            </a: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A4A6524-2991-42FC-957A-6C29D69D9D2C}"/>
              </a:ext>
            </a:extLst>
          </p:cNvPr>
          <p:cNvCxnSpPr>
            <a:cxnSpLocks/>
            <a:stCxn id="64" idx="2"/>
            <a:endCxn id="22" idx="0"/>
          </p:cNvCxnSpPr>
          <p:nvPr/>
        </p:nvCxnSpPr>
        <p:spPr>
          <a:xfrm>
            <a:off x="9470375" y="3135558"/>
            <a:ext cx="3984" cy="3406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DC33CB98-7BC9-4940-A95B-40773DFABC67}"/>
              </a:ext>
            </a:extLst>
          </p:cNvPr>
          <p:cNvSpPr txBox="1"/>
          <p:nvPr/>
        </p:nvSpPr>
        <p:spPr>
          <a:xfrm>
            <a:off x="9470376" y="3143878"/>
            <a:ext cx="43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是</a:t>
            </a:r>
          </a:p>
        </p:txBody>
      </p:sp>
      <p:sp>
        <p:nvSpPr>
          <p:cNvPr id="74" name="流程图: 决策 73">
            <a:extLst>
              <a:ext uri="{FF2B5EF4-FFF2-40B4-BE49-F238E27FC236}">
                <a16:creationId xmlns:a16="http://schemas.microsoft.com/office/drawing/2014/main" id="{DDB89415-61FE-441F-B3E4-9D9F4E8576C3}"/>
              </a:ext>
            </a:extLst>
          </p:cNvPr>
          <p:cNvSpPr/>
          <p:nvPr/>
        </p:nvSpPr>
        <p:spPr>
          <a:xfrm>
            <a:off x="6650202" y="4475326"/>
            <a:ext cx="2392198" cy="653205"/>
          </a:xfrm>
          <a:prstGeom prst="flowChartDecision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dirty="0"/>
              <a:t>当前任务是否就绪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81866278-0636-42E4-A4C6-BDF4ACC3ACCF}"/>
              </a:ext>
            </a:extLst>
          </p:cNvPr>
          <p:cNvCxnSpPr>
            <a:cxnSpLocks/>
          </p:cNvCxnSpPr>
          <p:nvPr/>
        </p:nvCxnSpPr>
        <p:spPr>
          <a:xfrm>
            <a:off x="8964636" y="4795653"/>
            <a:ext cx="505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5FBDE5A1-8A20-4C9D-B82A-DA37055D11C0}"/>
              </a:ext>
            </a:extLst>
          </p:cNvPr>
          <p:cNvSpPr txBox="1"/>
          <p:nvPr/>
        </p:nvSpPr>
        <p:spPr>
          <a:xfrm>
            <a:off x="8982005" y="4857809"/>
            <a:ext cx="40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是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E5DA4A33-9F4F-43E1-97FA-BA832613695E}"/>
              </a:ext>
            </a:extLst>
          </p:cNvPr>
          <p:cNvCxnSpPr>
            <a:cxnSpLocks/>
            <a:stCxn id="83" idx="2"/>
          </p:cNvCxnSpPr>
          <p:nvPr/>
        </p:nvCxnSpPr>
        <p:spPr>
          <a:xfrm>
            <a:off x="7853830" y="5806310"/>
            <a:ext cx="0" cy="1675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流程图: 过程 82">
            <a:extLst>
              <a:ext uri="{FF2B5EF4-FFF2-40B4-BE49-F238E27FC236}">
                <a16:creationId xmlns:a16="http://schemas.microsoft.com/office/drawing/2014/main" id="{4357FF2C-6112-4957-B19C-5424E95AE991}"/>
              </a:ext>
            </a:extLst>
          </p:cNvPr>
          <p:cNvSpPr/>
          <p:nvPr/>
        </p:nvSpPr>
        <p:spPr>
          <a:xfrm>
            <a:off x="6662760" y="5409067"/>
            <a:ext cx="2382140" cy="397243"/>
          </a:xfrm>
          <a:prstGeom prst="flowChartProcess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切换到空闲任务</a:t>
            </a:r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4ED48409-6A69-42B6-8548-BECC41ACC75B}"/>
              </a:ext>
            </a:extLst>
          </p:cNvPr>
          <p:cNvCxnSpPr>
            <a:cxnSpLocks/>
            <a:stCxn id="74" idx="2"/>
            <a:endCxn id="83" idx="0"/>
          </p:cNvCxnSpPr>
          <p:nvPr/>
        </p:nvCxnSpPr>
        <p:spPr>
          <a:xfrm>
            <a:off x="7846301" y="5128531"/>
            <a:ext cx="7529" cy="28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FDDE638F-8FC1-43E8-972D-3E3DA05888D0}"/>
              </a:ext>
            </a:extLst>
          </p:cNvPr>
          <p:cNvSpPr txBox="1"/>
          <p:nvPr/>
        </p:nvSpPr>
        <p:spPr>
          <a:xfrm>
            <a:off x="7884357" y="5027636"/>
            <a:ext cx="40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</a:t>
            </a:r>
          </a:p>
        </p:txBody>
      </p: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10B9B89E-586D-4C44-A2FF-B7249268B18B}"/>
              </a:ext>
            </a:extLst>
          </p:cNvPr>
          <p:cNvCxnSpPr>
            <a:cxnSpLocks/>
            <a:stCxn id="64" idx="1"/>
            <a:endCxn id="74" idx="0"/>
          </p:cNvCxnSpPr>
          <p:nvPr/>
        </p:nvCxnSpPr>
        <p:spPr>
          <a:xfrm rot="10800000" flipV="1">
            <a:off x="7846301" y="2808956"/>
            <a:ext cx="238216" cy="166637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9B19F54D-6F9E-4A99-935F-81ADD72C21E6}"/>
              </a:ext>
            </a:extLst>
          </p:cNvPr>
          <p:cNvSpPr txBox="1"/>
          <p:nvPr/>
        </p:nvSpPr>
        <p:spPr>
          <a:xfrm>
            <a:off x="7904630" y="2849997"/>
            <a:ext cx="43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411765612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766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167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实现阻塞延时</a:t>
            </a:r>
            <a:r>
              <a:rPr lang="en-US" altLang="zh-CN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任务调度重建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8F5CBC-1BE6-4E1C-A546-1D034041C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86" y="1029117"/>
            <a:ext cx="8743521" cy="41605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t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os_core.c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400" b="1" dirty="0">
                <a:latin typeface="Courier New" panose="02070309020205020404" pitchFamily="49" charset="0"/>
              </a:rPr>
              <a:t>/*</a:t>
            </a:r>
            <a:r>
              <a:rPr lang="zh-CN" altLang="en-US" sz="2400" b="1" dirty="0">
                <a:latin typeface="Courier New" panose="02070309020205020404" pitchFamily="49" charset="0"/>
              </a:rPr>
              <a:t>任务调度、切换</a:t>
            </a:r>
            <a:r>
              <a:rPr lang="en-US" altLang="zh-CN" sz="2400" b="1" dirty="0"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旧版</a:t>
            </a:r>
            <a:r>
              <a:rPr lang="en-US" altLang="zh-CN" sz="2400" b="1" dirty="0">
                <a:latin typeface="Courier New" panose="02070309020205020404" pitchFamily="49" charset="0"/>
              </a:rPr>
              <a:t>*/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(void)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if(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else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91872E-5FAE-4D67-817D-EA2E63BD8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100" y="1769979"/>
            <a:ext cx="9994525" cy="4960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t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os_core.c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/*</a:t>
            </a:r>
            <a:r>
              <a:rPr lang="zh-CN" altLang="en-US" sz="2000" b="1" dirty="0">
                <a:latin typeface="Courier New" panose="02070309020205020404" pitchFamily="49" charset="0"/>
              </a:rPr>
              <a:t>任务调度、切换</a:t>
            </a:r>
            <a:r>
              <a:rPr lang="en-US" altLang="zh-CN" sz="2000" b="1" dirty="0"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新版</a:t>
            </a:r>
            <a:r>
              <a:rPr lang="en-US" altLang="zh-CN" sz="2000" b="1" dirty="0">
                <a:latin typeface="Courier New" panose="02070309020205020404" pitchFamily="49" charset="0"/>
              </a:rPr>
              <a:t>*/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(void)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if(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&amp;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OSIdleTaskTCB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)//</a:t>
            </a:r>
            <a:r>
              <a:rPr lang="zh-CN" alt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当前任务为空闲任务</a:t>
            </a:r>
            <a:endParaRPr lang="en-US" altLang="zh-CN" sz="200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if(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0){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}else if(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0)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}else{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return;/*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任务延时均未到期则返回，继续执行空闲任务*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}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}else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… …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4289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766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167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实现阻塞延时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8F5CBC-1BE6-4E1C-A546-1D034041C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86" y="1029117"/>
            <a:ext cx="8743521" cy="41605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t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os_core.c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400" b="1" dirty="0">
                <a:latin typeface="Courier New" panose="02070309020205020404" pitchFamily="49" charset="0"/>
              </a:rPr>
              <a:t>/*</a:t>
            </a:r>
            <a:r>
              <a:rPr lang="zh-CN" altLang="en-US" sz="2400" b="1" dirty="0">
                <a:latin typeface="Courier New" panose="02070309020205020404" pitchFamily="49" charset="0"/>
              </a:rPr>
              <a:t>任务调度、切换</a:t>
            </a:r>
            <a:r>
              <a:rPr lang="en-US" altLang="zh-CN" sz="2400" b="1" dirty="0"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旧版</a:t>
            </a:r>
            <a:r>
              <a:rPr lang="en-US" altLang="zh-CN" sz="2400" b="1" dirty="0">
                <a:latin typeface="Courier New" panose="02070309020205020404" pitchFamily="49" charset="0"/>
              </a:rPr>
              <a:t>*/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(void)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if(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else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91872E-5FAE-4D67-817D-EA2E63BD8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630" y="809184"/>
            <a:ext cx="11377964" cy="58841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t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os_core.c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latin typeface="Courier New" panose="02070309020205020404" pitchFamily="49" charset="0"/>
              </a:rPr>
              <a:t>/*</a:t>
            </a:r>
            <a:r>
              <a:rPr lang="zh-CN" altLang="en-US" sz="2000" b="1" dirty="0">
                <a:latin typeface="Courier New" panose="02070309020205020404" pitchFamily="49" charset="0"/>
              </a:rPr>
              <a:t>任务调度、切换</a:t>
            </a:r>
            <a:r>
              <a:rPr lang="en-US" altLang="zh-CN" sz="2000" b="1" dirty="0">
                <a:latin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新版</a:t>
            </a:r>
            <a:r>
              <a:rPr lang="en-US" altLang="zh-CN" sz="2000" b="1" dirty="0">
                <a:latin typeface="Courier New" panose="02070309020205020404" pitchFamily="49" charset="0"/>
              </a:rPr>
              <a:t>*/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(void)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if(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&amp;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OSIdleTaskTCB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)//</a:t>
            </a:r>
            <a:r>
              <a:rPr lang="zh-CN" alt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当前任务为空闲任务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		… …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else{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if(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){//</a:t>
            </a:r>
            <a:r>
              <a:rPr lang="zh-CN" alt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当前任务为任务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if(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0){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else if(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!= 0)	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&amp;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OSIdleTaskTCB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}else 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	return;/*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返回，不进行切换，因为两个任务都处于延时中*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}else if(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 //</a:t>
            </a:r>
            <a:r>
              <a:rPr lang="zh-CN" alt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当前任务为任务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	… …//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似上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651818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阻塞延时</a:t>
            </a:r>
            <a:r>
              <a:rPr lang="en-US" altLang="zh-CN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---</a:t>
            </a:r>
            <a:r>
              <a:rPr lang="en-US" altLang="zh-CN" sz="4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4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SysTick</a:t>
            </a:r>
            <a:r>
              <a:rPr lang="en-US" altLang="zh-CN" sz="4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zh-CN" altLang="en-US" sz="40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中断服务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B7F680-C126-4E0C-8714-034E1382C4F1}"/>
              </a:ext>
            </a:extLst>
          </p:cNvPr>
          <p:cNvSpPr txBox="1"/>
          <p:nvPr/>
        </p:nvSpPr>
        <p:spPr>
          <a:xfrm>
            <a:off x="2581275" y="1513522"/>
            <a:ext cx="2055159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task1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… …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(1);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975ED7-5DBD-48C6-AA88-B11CCB068221}"/>
              </a:ext>
            </a:extLst>
          </p:cNvPr>
          <p:cNvSpPr txBox="1"/>
          <p:nvPr/>
        </p:nvSpPr>
        <p:spPr>
          <a:xfrm>
            <a:off x="5830181" y="2375296"/>
            <a:ext cx="2123194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task2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… …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 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(1);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76AE49-D5EE-4C72-91F2-D29867CF5E50}"/>
              </a:ext>
            </a:extLst>
          </p:cNvPr>
          <p:cNvCxnSpPr>
            <a:cxnSpLocks/>
          </p:cNvCxnSpPr>
          <p:nvPr/>
        </p:nvCxnSpPr>
        <p:spPr>
          <a:xfrm flipV="1">
            <a:off x="4607022" y="2375296"/>
            <a:ext cx="1223159" cy="1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295C44B-69AD-46F5-A6D9-B67E423F0EB5}"/>
              </a:ext>
            </a:extLst>
          </p:cNvPr>
          <p:cNvSpPr txBox="1"/>
          <p:nvPr/>
        </p:nvSpPr>
        <p:spPr>
          <a:xfrm>
            <a:off x="8970683" y="3236082"/>
            <a:ext cx="2034938" cy="233910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800" b="1" dirty="0" err="1">
                <a:solidFill>
                  <a:schemeClr val="accent2">
                    <a:lumMod val="75000"/>
                  </a:schemeClr>
                </a:solidFill>
              </a:rPr>
              <a:t>OS_IdleTask</a:t>
            </a:r>
            <a:endParaRPr lang="en-US" altLang="zh-CN" sz="18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</a:t>
            </a:r>
            <a:r>
              <a:rPr lang="en-US" altLang="zh-CN" sz="1600" b="1" dirty="0" err="1">
                <a:solidFill>
                  <a:srgbClr val="00B050"/>
                </a:solidFill>
              </a:rPr>
              <a:t>OSIdleTaskCtr</a:t>
            </a:r>
            <a:r>
              <a:rPr lang="en-US" altLang="zh-CN" sz="1600" b="1" dirty="0">
                <a:solidFill>
                  <a:srgbClr val="00B050"/>
                </a:solidFill>
              </a:rPr>
              <a:t>++;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</a:t>
            </a:r>
            <a:r>
              <a:rPr lang="en-US" altLang="zh-CN" sz="1600" b="1" dirty="0" err="1">
                <a:solidFill>
                  <a:srgbClr val="00B050"/>
                </a:solidFill>
              </a:rPr>
              <a:t>OSIdleTaskCtr</a:t>
            </a:r>
            <a:r>
              <a:rPr lang="en-US" altLang="zh-CN" sz="1600" b="1" dirty="0">
                <a:solidFill>
                  <a:srgbClr val="00B050"/>
                </a:solidFill>
              </a:rPr>
              <a:t>++;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… …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… …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… …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… …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… …</a:t>
            </a:r>
          </a:p>
          <a:p>
            <a:r>
              <a:rPr lang="en-US" altLang="zh-CN" sz="1600" b="1" dirty="0">
                <a:solidFill>
                  <a:srgbClr val="00B050"/>
                </a:solidFill>
              </a:rPr>
              <a:t>  </a:t>
            </a:r>
            <a:r>
              <a:rPr lang="en-US" altLang="zh-CN" sz="1600" b="1" dirty="0" err="1">
                <a:solidFill>
                  <a:srgbClr val="00B050"/>
                </a:solidFill>
              </a:rPr>
              <a:t>OSIdleTaskCtr</a:t>
            </a:r>
            <a:r>
              <a:rPr lang="en-US" altLang="zh-CN" sz="1600" b="1" dirty="0">
                <a:solidFill>
                  <a:srgbClr val="00B050"/>
                </a:solidFill>
              </a:rPr>
              <a:t>++;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6377258-4DF5-4DAB-9D5E-491DAE679B43}"/>
              </a:ext>
            </a:extLst>
          </p:cNvPr>
          <p:cNvCxnSpPr>
            <a:cxnSpLocks/>
          </p:cNvCxnSpPr>
          <p:nvPr/>
        </p:nvCxnSpPr>
        <p:spPr>
          <a:xfrm flipH="1">
            <a:off x="7864958" y="3237070"/>
            <a:ext cx="1117117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7A51F25-086A-4E45-A929-9FCD6258C3FA}"/>
              </a:ext>
            </a:extLst>
          </p:cNvPr>
          <p:cNvSpPr txBox="1"/>
          <p:nvPr/>
        </p:nvSpPr>
        <p:spPr>
          <a:xfrm>
            <a:off x="727318" y="5560420"/>
            <a:ext cx="1704973" cy="10966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所有休眠任务休眠时间减一</a:t>
            </a:r>
            <a:endParaRPr lang="en-US" altLang="zh-CN" dirty="0"/>
          </a:p>
          <a:p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35ACF90-BE9B-4FE2-B4A4-9A96A7B4F45F}"/>
              </a:ext>
            </a:extLst>
          </p:cNvPr>
          <p:cNvCxnSpPr>
            <a:cxnSpLocks/>
          </p:cNvCxnSpPr>
          <p:nvPr/>
        </p:nvCxnSpPr>
        <p:spPr>
          <a:xfrm>
            <a:off x="2432291" y="5568515"/>
            <a:ext cx="6547917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86684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7220913" cy="63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改写 </a:t>
            </a:r>
            <a:r>
              <a:rPr lang="en-US" altLang="zh-CN" sz="4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SysTick</a:t>
            </a:r>
            <a:r>
              <a:rPr lang="en-US" altLang="zh-CN" sz="4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zh-CN" altLang="en-US" sz="4000" b="1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中断服务函数</a:t>
            </a:r>
            <a:r>
              <a:rPr lang="zh-CN" altLang="en-US" sz="4000" b="1" dirty="0"/>
              <a:t> 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75" y="1098887"/>
            <a:ext cx="10251562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老版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SysTick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中断服务函数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SysTick_Handler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(void) /*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os_cpu_c.c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OSTimeTick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OSTimeTick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(void) /*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os_time.c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任务调度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(void)  /*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os_core.c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if(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OSTCBCurPtr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){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[1].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}else{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OSTCBHighRdyPtr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[0].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OS_TASK_SW();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E5098E-274A-4BB6-850F-960AAF1FA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260" y="1030975"/>
            <a:ext cx="9622912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新版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SysTick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中断服务函数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SysTick_Handler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(void) /*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os_cpu_c.c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OSTimeTick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OSTimeTick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(void) /*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os_time.c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扫描就绪列表中所有任务的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，如果不为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0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，则减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1*/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for(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=0;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&lt;OS_CFG_PRIO_MAX;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{	if(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].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&gt; 0){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		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].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--;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	}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任务调度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(void)  /*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os_core.c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…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…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62052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23EBFA8-7224-47C1-A2F8-41E9D8D19E82}"/>
              </a:ext>
            </a:extLst>
          </p:cNvPr>
          <p:cNvSpPr/>
          <p:nvPr/>
        </p:nvSpPr>
        <p:spPr>
          <a:xfrm>
            <a:off x="6749187" y="4471640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</a:t>
            </a:r>
            <a:r>
              <a:rPr lang="en-US" altLang="zh-CN" sz="1815" b="1" dirty="0">
                <a:solidFill>
                  <a:srgbClr val="FF0000"/>
                </a:solidFill>
              </a:rPr>
              <a:t>1</a:t>
            </a:r>
            <a:r>
              <a:rPr lang="en-US" altLang="zh-CN" sz="1815" b="1" dirty="0">
                <a:solidFill>
                  <a:srgbClr val="0070C0"/>
                </a:solidFill>
              </a:rPr>
              <a:t>_TCB</a:t>
            </a:r>
            <a:r>
              <a:rPr lang="zh-CN" altLang="en-US" sz="1815" b="1" dirty="0">
                <a:solidFill>
                  <a:srgbClr val="0070C0"/>
                </a:solidFill>
              </a:rPr>
              <a:t>任务控制块</a:t>
            </a:r>
            <a:endParaRPr lang="en-US" altLang="zh-CN" sz="1815" b="1" dirty="0">
              <a:solidFill>
                <a:srgbClr val="0070C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BFD547A-7BAD-4975-9362-7C2C954E5505}"/>
              </a:ext>
            </a:extLst>
          </p:cNvPr>
          <p:cNvSpPr/>
          <p:nvPr/>
        </p:nvSpPr>
        <p:spPr>
          <a:xfrm>
            <a:off x="6749187" y="3792308"/>
            <a:ext cx="1485774" cy="6368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chemeClr val="accent1"/>
                </a:solidFill>
              </a:rPr>
              <a:t>Task</a:t>
            </a:r>
            <a:r>
              <a:rPr lang="en-US" altLang="zh-CN" sz="1815" b="1" dirty="0">
                <a:solidFill>
                  <a:srgbClr val="FF0000"/>
                </a:solidFill>
              </a:rPr>
              <a:t>0</a:t>
            </a:r>
            <a:r>
              <a:rPr lang="en-US" altLang="zh-CN" sz="1815" b="1" dirty="0">
                <a:solidFill>
                  <a:schemeClr val="accent1"/>
                </a:solidFill>
              </a:rPr>
              <a:t>_TCB</a:t>
            </a:r>
            <a:r>
              <a:rPr lang="zh-CN" altLang="en-US" sz="1815" b="1" dirty="0">
                <a:solidFill>
                  <a:schemeClr val="accent1"/>
                </a:solidFill>
              </a:rPr>
              <a:t>任务控制块</a:t>
            </a:r>
            <a:endParaRPr lang="en-US" altLang="zh-CN" sz="1815" b="1" dirty="0">
              <a:solidFill>
                <a:schemeClr val="accent1"/>
              </a:solidFill>
            </a:endParaRPr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4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时钟节拍处理函数关键处理步骤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os_time.c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zh-CN" altLang="zh-CN" sz="2800" b="1" dirty="0">
              <a:solidFill>
                <a:srgbClr val="FF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390" y="962422"/>
            <a:ext cx="10091217" cy="28623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void 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OSTimeTick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(void) /*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os_time.c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/* 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扫描就绪列表中所有任务的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，如果不为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0</a:t>
            </a:r>
            <a:r>
              <a:rPr lang="zh-CN" altLang="en-US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，则减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1*/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for(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=0;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&lt;OS_CFG_PRIO_MAX; 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{	if(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].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&gt; 0){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		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OSRdyList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].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HeadPtr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-&gt;</a:t>
            </a:r>
            <a:r>
              <a:rPr lang="en-US" altLang="zh-CN" sz="2000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--;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	}</a:t>
            </a:r>
          </a:p>
          <a:p>
            <a:pPr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任务调度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EAB4CE9-03BE-4DD7-9824-3556133BB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362087"/>
              </p:ext>
            </p:extLst>
          </p:nvPr>
        </p:nvGraphicFramePr>
        <p:xfrm>
          <a:off x="5094514" y="3792308"/>
          <a:ext cx="1291318" cy="2750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18">
                  <a:extLst>
                    <a:ext uri="{9D8B030D-6E8A-4147-A177-3AD203B41FA5}">
                      <a16:colId xmlns:a16="http://schemas.microsoft.com/office/drawing/2014/main" val="71845556"/>
                    </a:ext>
                  </a:extLst>
                </a:gridCol>
              </a:tblGrid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699634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458859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… …   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4437"/>
                  </a:ext>
                </a:extLst>
              </a:tr>
              <a:tr h="687541">
                <a:tc>
                  <a:txBody>
                    <a:bodyPr/>
                    <a:lstStyle/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HeadPtr</a:t>
                      </a:r>
                      <a:endParaRPr lang="en-US" altLang="zh-CN" b="1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altLang="zh-CN" b="1" dirty="0" err="1">
                          <a:solidFill>
                            <a:schemeClr val="tx1"/>
                          </a:solidFill>
                        </a:rPr>
                        <a:t>TailPtr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25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46294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EA44F0-6DB5-45E9-91D3-13BA17F1E18E}"/>
              </a:ext>
            </a:extLst>
          </p:cNvPr>
          <p:cNvCxnSpPr>
            <a:cxnSpLocks/>
          </p:cNvCxnSpPr>
          <p:nvPr/>
        </p:nvCxnSpPr>
        <p:spPr>
          <a:xfrm>
            <a:off x="6283777" y="3987927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5E3C48D-CD9E-462E-B623-B023724139C5}"/>
              </a:ext>
            </a:extLst>
          </p:cNvPr>
          <p:cNvCxnSpPr>
            <a:cxnSpLocks/>
          </p:cNvCxnSpPr>
          <p:nvPr/>
        </p:nvCxnSpPr>
        <p:spPr>
          <a:xfrm>
            <a:off x="6283776" y="429273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80A635F-DAE9-4540-AD0C-7AB20EACC38C}"/>
              </a:ext>
            </a:extLst>
          </p:cNvPr>
          <p:cNvCxnSpPr>
            <a:cxnSpLocks/>
          </p:cNvCxnSpPr>
          <p:nvPr/>
        </p:nvCxnSpPr>
        <p:spPr>
          <a:xfrm>
            <a:off x="6294666" y="4684614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CA387E6-4DA4-4389-A112-88CF247D0FC1}"/>
              </a:ext>
            </a:extLst>
          </p:cNvPr>
          <p:cNvCxnSpPr>
            <a:cxnSpLocks/>
          </p:cNvCxnSpPr>
          <p:nvPr/>
        </p:nvCxnSpPr>
        <p:spPr>
          <a:xfrm>
            <a:off x="6294665" y="4989418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E889661-C4CC-4CE7-A872-F84815647904}"/>
              </a:ext>
            </a:extLst>
          </p:cNvPr>
          <p:cNvCxnSpPr>
            <a:cxnSpLocks/>
          </p:cNvCxnSpPr>
          <p:nvPr/>
        </p:nvCxnSpPr>
        <p:spPr>
          <a:xfrm>
            <a:off x="6262008" y="6077981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01D6455-E0E0-47F2-A9D3-B11116FD06E1}"/>
              </a:ext>
            </a:extLst>
          </p:cNvPr>
          <p:cNvCxnSpPr>
            <a:cxnSpLocks/>
          </p:cNvCxnSpPr>
          <p:nvPr/>
        </p:nvCxnSpPr>
        <p:spPr>
          <a:xfrm>
            <a:off x="6262007" y="6382785"/>
            <a:ext cx="470887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E6896E1-52D8-44FB-8598-FE1FB01BB637}"/>
              </a:ext>
            </a:extLst>
          </p:cNvPr>
          <p:cNvSpPr txBox="1"/>
          <p:nvPr/>
        </p:nvSpPr>
        <p:spPr>
          <a:xfrm>
            <a:off x="6749187" y="5936834"/>
            <a:ext cx="470887" cy="68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</a:p>
          <a:p>
            <a:pPr>
              <a:lnSpc>
                <a:spcPts val="2200"/>
              </a:lnSpc>
            </a:pPr>
            <a:r>
              <a:rPr lang="en-US" altLang="zh-CN" sz="2800" b="1" dirty="0">
                <a:solidFill>
                  <a:schemeClr val="accent1"/>
                </a:solidFill>
              </a:rPr>
              <a:t>0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EAD54C-163D-4A70-A99D-70E419E5790B}"/>
              </a:ext>
            </a:extLst>
          </p:cNvPr>
          <p:cNvSpPr txBox="1"/>
          <p:nvPr/>
        </p:nvSpPr>
        <p:spPr>
          <a:xfrm>
            <a:off x="2910578" y="3907887"/>
            <a:ext cx="2120424" cy="3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800" b="1" dirty="0">
                <a:solidFill>
                  <a:schemeClr val="accent1"/>
                </a:solidFill>
              </a:rPr>
              <a:t>[0]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BC4AE4-D077-4902-AA5D-CEF7ECACB1BD}"/>
              </a:ext>
            </a:extLst>
          </p:cNvPr>
          <p:cNvSpPr txBox="1"/>
          <p:nvPr/>
        </p:nvSpPr>
        <p:spPr>
          <a:xfrm>
            <a:off x="2921462" y="4659001"/>
            <a:ext cx="2120424" cy="3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800" b="1" dirty="0">
                <a:solidFill>
                  <a:schemeClr val="accent1"/>
                </a:solidFill>
              </a:rPr>
              <a:t>[1]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75A6BE-1B12-43FF-96D4-9D2F74BD2CA7}"/>
              </a:ext>
            </a:extLst>
          </p:cNvPr>
          <p:cNvSpPr txBox="1"/>
          <p:nvPr/>
        </p:nvSpPr>
        <p:spPr>
          <a:xfrm>
            <a:off x="2910578" y="6011726"/>
            <a:ext cx="2207747" cy="399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2800" b="1" dirty="0" err="1">
                <a:solidFill>
                  <a:schemeClr val="accent1"/>
                </a:solidFill>
              </a:rPr>
              <a:t>p_rdy_list</a:t>
            </a:r>
            <a:r>
              <a:rPr lang="en-US" altLang="zh-CN" sz="2800" b="1" dirty="0">
                <a:solidFill>
                  <a:schemeClr val="accent1"/>
                </a:solidFill>
              </a:rPr>
              <a:t>[31]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098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0BBFE4C-1036-4182-A3E2-CB4438E5B0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50" y="1970635"/>
            <a:ext cx="11132977" cy="1298604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241846BF-C821-4A02-B385-C10D37ABC67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84597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0A41F01-BB09-4869-891D-ED3849701F0A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62440" y="3556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实验现象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02BA7A8-D986-4408-8426-14A091220277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74723" y="1272188"/>
            <a:ext cx="7220913" cy="615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时钟节拍对任务进行切换（软延时）</a:t>
            </a:r>
            <a:endParaRPr lang="zh-CN" altLang="zh-CN" sz="32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FB5C88-7D2B-4997-AC23-8462A4954A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1406" y="4340551"/>
            <a:ext cx="7473230" cy="2013944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D8BF995E-A34E-4DB1-BE0C-D907BD7F90B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74723" y="3569966"/>
            <a:ext cx="9025804" cy="615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时钟节拍对任务进行切换（阻塞延时）</a:t>
            </a:r>
            <a:endParaRPr lang="zh-CN" altLang="zh-CN" sz="32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463674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1766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167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各任务执行时间比例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8E3DBB-A6D0-4B88-AC84-F99309DB0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676" y="1173393"/>
            <a:ext cx="6714608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flag1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单位为时钟周期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flag1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flag2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>
                <a:latin typeface="Courier New" panose="02070309020205020404" pitchFamily="49" charset="0"/>
              </a:rPr>
              <a:t>flag2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F115015-4691-4E68-B929-B730A146F81E}"/>
              </a:ext>
            </a:extLst>
          </p:cNvPr>
          <p:cNvGrpSpPr/>
          <p:nvPr/>
        </p:nvGrpSpPr>
        <p:grpSpPr>
          <a:xfrm>
            <a:off x="4575895" y="1288183"/>
            <a:ext cx="7473230" cy="2186299"/>
            <a:chOff x="4575895" y="1288183"/>
            <a:chExt cx="7473230" cy="218629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47B192B-AEB0-40F8-B63F-73DADE3F4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75895" y="1288183"/>
              <a:ext cx="7473230" cy="2013944"/>
            </a:xfrm>
            <a:prstGeom prst="rect">
              <a:avLst/>
            </a:prstGeom>
          </p:spPr>
        </p:pic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AA021D35-B637-4911-B5FD-1E4CC1610682}"/>
                </a:ext>
              </a:extLst>
            </p:cNvPr>
            <p:cNvCxnSpPr/>
            <p:nvPr/>
          </p:nvCxnSpPr>
          <p:spPr>
            <a:xfrm>
              <a:off x="6970284" y="1771650"/>
              <a:ext cx="0" cy="7143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553B466-B5DC-4D19-8477-953914375EAC}"/>
                </a:ext>
              </a:extLst>
            </p:cNvPr>
            <p:cNvCxnSpPr/>
            <p:nvPr/>
          </p:nvCxnSpPr>
          <p:spPr>
            <a:xfrm>
              <a:off x="6998859" y="2571750"/>
              <a:ext cx="0" cy="7143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009050A-4383-451F-B6BF-34DA259E7005}"/>
                </a:ext>
              </a:extLst>
            </p:cNvPr>
            <p:cNvSpPr txBox="1"/>
            <p:nvPr/>
          </p:nvSpPr>
          <p:spPr>
            <a:xfrm>
              <a:off x="4591931" y="3051276"/>
              <a:ext cx="1104019" cy="3820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 err="1">
                  <a:solidFill>
                    <a:schemeClr val="accent6">
                      <a:lumMod val="50000"/>
                    </a:schemeClr>
                  </a:solidFill>
                </a:rPr>
                <a:t>IdleTask</a:t>
              </a:r>
              <a:endParaRPr lang="zh-CN" altLang="en-US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F87A806-B245-49AB-8D47-12342B618927}"/>
                </a:ext>
              </a:extLst>
            </p:cNvPr>
            <p:cNvSpPr txBox="1"/>
            <p:nvPr/>
          </p:nvSpPr>
          <p:spPr>
            <a:xfrm>
              <a:off x="7007585" y="3051276"/>
              <a:ext cx="564790" cy="42320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777483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空闲任务的诞生根源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C63FD4-B3D5-4D6A-946F-85CD7F80C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50" y="1698556"/>
            <a:ext cx="9536262" cy="2554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RTOS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的很大优势就是充分挖掘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CPU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的潜能，任务需要等待时，系统做其他工作。</a:t>
            </a:r>
            <a:endParaRPr lang="en-US" altLang="zh-CN" sz="32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3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3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随着效率的提升，任务最终只需占用</a:t>
            </a:r>
            <a:r>
              <a:rPr lang="en-US" altLang="zh-CN" sz="3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CPU</a:t>
            </a:r>
            <a:r>
              <a:rPr lang="zh-CN" altLang="en-US" sz="3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少量时间，</a:t>
            </a:r>
            <a:r>
              <a:rPr lang="en-US" altLang="zh-CN" sz="3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CPU</a:t>
            </a:r>
            <a:r>
              <a:rPr lang="zh-CN" altLang="en-US" sz="32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大部分空闲时间需要有任务来承接，这就是空闲任务。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824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55631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空闲任务的应用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C63FD4-B3D5-4D6A-946F-85CD7F80C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976" y="1622210"/>
            <a:ext cx="9767755" cy="3046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200" dirty="0"/>
              <a:t>在 </a:t>
            </a:r>
            <a:r>
              <a:rPr lang="en-US" altLang="zh-CN" sz="3200" dirty="0" err="1"/>
              <a:t>uC</a:t>
            </a:r>
            <a:r>
              <a:rPr lang="en-US" altLang="zh-CN" sz="3200" dirty="0"/>
              <a:t>/OSIII </a:t>
            </a:r>
            <a:r>
              <a:rPr lang="zh-CN" altLang="en-US" sz="3200" dirty="0"/>
              <a:t>中，空闲任务是系统在初始化的时候创建的优先级最低的任务，空闲任务主体很简单，只是对一个全局变量进行计数。 鉴于空闲任务的这种特性，在实际应用中，当系统进入空闲任务的时候， 可在空闲任务中让单片机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</a:rPr>
              <a:t>进入休眠或者低功耗</a:t>
            </a:r>
            <a:r>
              <a:rPr lang="zh-CN" altLang="en-US" sz="3200" dirty="0"/>
              <a:t>等操作 。</a:t>
            </a:r>
            <a:br>
              <a:rPr lang="zh-CN" altLang="en-US" sz="3200" dirty="0"/>
            </a:b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95141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83068" y="78700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55059" y="120873"/>
            <a:ext cx="7220913" cy="64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阻塞延时</a:t>
            </a:r>
            <a:r>
              <a:rPr lang="en-US" altLang="zh-CN" sz="4000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---</a:t>
            </a:r>
            <a:r>
              <a:rPr lang="en-US" altLang="zh-CN" sz="4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zh-CN" altLang="en-US" sz="4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实验</a:t>
            </a:r>
            <a:r>
              <a:rPr lang="en-US" altLang="zh-CN" sz="4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zh-CN" altLang="en-US" sz="4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解析</a:t>
            </a:r>
            <a:endParaRPr lang="zh-CN" altLang="zh-CN" sz="4000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B7F680-C126-4E0C-8714-034E1382C4F1}"/>
              </a:ext>
            </a:extLst>
          </p:cNvPr>
          <p:cNvSpPr txBox="1"/>
          <p:nvPr/>
        </p:nvSpPr>
        <p:spPr>
          <a:xfrm>
            <a:off x="2532813" y="1130004"/>
            <a:ext cx="2055159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flag1=1;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975ED7-5DBD-48C6-AA88-B11CCB068221}"/>
              </a:ext>
            </a:extLst>
          </p:cNvPr>
          <p:cNvSpPr txBox="1"/>
          <p:nvPr/>
        </p:nvSpPr>
        <p:spPr>
          <a:xfrm>
            <a:off x="5830181" y="1708546"/>
            <a:ext cx="180886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delay(1000); </a:t>
            </a:r>
          </a:p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flag2=1;    </a:t>
            </a:r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976AE49-D5EE-4C72-91F2-D29867CF5E50}"/>
              </a:ext>
            </a:extLst>
          </p:cNvPr>
          <p:cNvCxnSpPr>
            <a:cxnSpLocks/>
          </p:cNvCxnSpPr>
          <p:nvPr/>
        </p:nvCxnSpPr>
        <p:spPr>
          <a:xfrm flipV="1">
            <a:off x="4607022" y="1708546"/>
            <a:ext cx="1223159" cy="1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295C44B-69AD-46F5-A6D9-B67E423F0EB5}"/>
              </a:ext>
            </a:extLst>
          </p:cNvPr>
          <p:cNvSpPr txBox="1"/>
          <p:nvPr/>
        </p:nvSpPr>
        <p:spPr>
          <a:xfrm>
            <a:off x="8756167" y="2433778"/>
            <a:ext cx="203493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2"/>
                </a:solidFill>
              </a:rPr>
              <a:t>OSIdleTaskCtr</a:t>
            </a:r>
            <a:r>
              <a:rPr lang="en-US" altLang="zh-CN" sz="1600" b="1" dirty="0">
                <a:solidFill>
                  <a:schemeClr val="accent2"/>
                </a:solidFill>
              </a:rPr>
              <a:t>++;</a:t>
            </a:r>
          </a:p>
          <a:p>
            <a:r>
              <a:rPr lang="en-US" altLang="zh-CN" sz="1600" b="1" dirty="0">
                <a:solidFill>
                  <a:schemeClr val="accent2"/>
                </a:solidFill>
              </a:rPr>
              <a:t> … …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6377258-4DF5-4DAB-9D5E-491DAE679B43}"/>
              </a:ext>
            </a:extLst>
          </p:cNvPr>
          <p:cNvCxnSpPr>
            <a:cxnSpLocks/>
          </p:cNvCxnSpPr>
          <p:nvPr/>
        </p:nvCxnSpPr>
        <p:spPr>
          <a:xfrm flipH="1">
            <a:off x="7639050" y="2488611"/>
            <a:ext cx="1117117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7A51F25-086A-4E45-A929-9FCD6258C3FA}"/>
              </a:ext>
            </a:extLst>
          </p:cNvPr>
          <p:cNvSpPr txBox="1"/>
          <p:nvPr/>
        </p:nvSpPr>
        <p:spPr>
          <a:xfrm>
            <a:off x="584443" y="3010458"/>
            <a:ext cx="1704973" cy="10966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所有休眠任务休眠时间减一</a:t>
            </a:r>
            <a:endParaRPr lang="en-US" altLang="zh-CN" dirty="0"/>
          </a:p>
          <a:p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35ACF90-BE9B-4FE2-B4A4-9A96A7B4F45F}"/>
              </a:ext>
            </a:extLst>
          </p:cNvPr>
          <p:cNvCxnSpPr>
            <a:cxnSpLocks/>
          </p:cNvCxnSpPr>
          <p:nvPr/>
        </p:nvCxnSpPr>
        <p:spPr>
          <a:xfrm>
            <a:off x="2289416" y="3018553"/>
            <a:ext cx="6547917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50A9B4D-6378-40C0-BA22-AE41FC435332}"/>
              </a:ext>
            </a:extLst>
          </p:cNvPr>
          <p:cNvSpPr txBox="1"/>
          <p:nvPr/>
        </p:nvSpPr>
        <p:spPr>
          <a:xfrm>
            <a:off x="3068449" y="712337"/>
            <a:ext cx="1042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task1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94B1A53-08A3-45E1-A5BA-58614732EFFB}"/>
              </a:ext>
            </a:extLst>
          </p:cNvPr>
          <p:cNvSpPr txBox="1"/>
          <p:nvPr/>
        </p:nvSpPr>
        <p:spPr>
          <a:xfrm>
            <a:off x="6278374" y="1005691"/>
            <a:ext cx="1042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task2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79998F-37C9-46EF-9642-3816AE0F9C52}"/>
              </a:ext>
            </a:extLst>
          </p:cNvPr>
          <p:cNvSpPr txBox="1"/>
          <p:nvPr/>
        </p:nvSpPr>
        <p:spPr>
          <a:xfrm>
            <a:off x="8746642" y="978709"/>
            <a:ext cx="2519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solidFill>
                  <a:schemeClr val="accent2"/>
                </a:solidFill>
              </a:rPr>
              <a:t>OS_IdleTask</a:t>
            </a:r>
            <a:endParaRPr lang="en-US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46D717-E980-4309-A788-0633C8CC10B2}"/>
              </a:ext>
            </a:extLst>
          </p:cNvPr>
          <p:cNvSpPr txBox="1"/>
          <p:nvPr/>
        </p:nvSpPr>
        <p:spPr>
          <a:xfrm>
            <a:off x="2274233" y="1640138"/>
            <a:ext cx="2631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=2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3D0977-330D-4130-9D3D-BAF441B11B1B}"/>
              </a:ext>
            </a:extLst>
          </p:cNvPr>
          <p:cNvSpPr txBox="1"/>
          <p:nvPr/>
        </p:nvSpPr>
        <p:spPr>
          <a:xfrm>
            <a:off x="5419044" y="2500340"/>
            <a:ext cx="2631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=2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FB37E6-CF40-416F-9DC8-A54D13AE32DE}"/>
              </a:ext>
            </a:extLst>
          </p:cNvPr>
          <p:cNvSpPr txBox="1"/>
          <p:nvPr/>
        </p:nvSpPr>
        <p:spPr>
          <a:xfrm>
            <a:off x="8635307" y="3049672"/>
            <a:ext cx="2631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?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94F5A90-4B77-44F4-A41B-816793895643}"/>
              </a:ext>
            </a:extLst>
          </p:cNvPr>
          <p:cNvSpPr txBox="1"/>
          <p:nvPr/>
        </p:nvSpPr>
        <p:spPr>
          <a:xfrm>
            <a:off x="8756167" y="4087027"/>
            <a:ext cx="203493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chemeClr val="accent2"/>
                </a:solidFill>
              </a:rPr>
              <a:t>OSIdleTaskCtr</a:t>
            </a:r>
            <a:r>
              <a:rPr lang="en-US" altLang="zh-CN" sz="1600" b="1" dirty="0">
                <a:solidFill>
                  <a:schemeClr val="accent2"/>
                </a:solidFill>
              </a:rPr>
              <a:t>++;</a:t>
            </a:r>
          </a:p>
          <a:p>
            <a:r>
              <a:rPr lang="en-US" altLang="zh-CN" sz="1600" b="1" dirty="0">
                <a:solidFill>
                  <a:schemeClr val="accent2"/>
                </a:solidFill>
              </a:rPr>
              <a:t> … …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F6FD9B6-A506-449B-97A2-A0562414439A}"/>
              </a:ext>
            </a:extLst>
          </p:cNvPr>
          <p:cNvCxnSpPr>
            <a:cxnSpLocks/>
          </p:cNvCxnSpPr>
          <p:nvPr/>
        </p:nvCxnSpPr>
        <p:spPr>
          <a:xfrm flipH="1">
            <a:off x="2289417" y="4107128"/>
            <a:ext cx="6466750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5A2C4A3-9619-4727-9173-08B885985A76}"/>
              </a:ext>
            </a:extLst>
          </p:cNvPr>
          <p:cNvSpPr txBox="1"/>
          <p:nvPr/>
        </p:nvSpPr>
        <p:spPr>
          <a:xfrm>
            <a:off x="2389414" y="3130248"/>
            <a:ext cx="2631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3BB4486-3AC2-4EB3-AB2C-48814B400E71}"/>
              </a:ext>
            </a:extLst>
          </p:cNvPr>
          <p:cNvSpPr txBox="1"/>
          <p:nvPr/>
        </p:nvSpPr>
        <p:spPr>
          <a:xfrm>
            <a:off x="5605447" y="3138395"/>
            <a:ext cx="2631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=1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CE27F6-9413-4CD6-860B-85B42315AAD0}"/>
              </a:ext>
            </a:extLst>
          </p:cNvPr>
          <p:cNvSpPr txBox="1"/>
          <p:nvPr/>
        </p:nvSpPr>
        <p:spPr>
          <a:xfrm>
            <a:off x="584442" y="4566747"/>
            <a:ext cx="1704973" cy="10966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zh-CN" altLang="en-US" dirty="0"/>
              <a:t>所有休眠任务休眠时间减一</a:t>
            </a:r>
            <a:endParaRPr lang="en-US" altLang="zh-CN" dirty="0"/>
          </a:p>
          <a:p>
            <a:r>
              <a:rPr lang="en-US" altLang="zh-CN" sz="1800" b="1" dirty="0" err="1">
                <a:solidFill>
                  <a:srgbClr val="FF0000"/>
                </a:solidFill>
              </a:rPr>
              <a:t>OSSched</a:t>
            </a:r>
            <a:endParaRPr lang="en-US" altLang="zh-CN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037A6ED-82F5-446D-9461-D84699C35211}"/>
              </a:ext>
            </a:extLst>
          </p:cNvPr>
          <p:cNvCxnSpPr>
            <a:cxnSpLocks/>
          </p:cNvCxnSpPr>
          <p:nvPr/>
        </p:nvCxnSpPr>
        <p:spPr>
          <a:xfrm>
            <a:off x="2241791" y="4623305"/>
            <a:ext cx="6547917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BFF9D151-5EC3-4809-A3EE-51F2CD0761FA}"/>
              </a:ext>
            </a:extLst>
          </p:cNvPr>
          <p:cNvSpPr txBox="1"/>
          <p:nvPr/>
        </p:nvSpPr>
        <p:spPr>
          <a:xfrm>
            <a:off x="2389414" y="4822974"/>
            <a:ext cx="2631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=0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C05B5EB-05F5-4777-ADB2-A529C15561B7}"/>
              </a:ext>
            </a:extLst>
          </p:cNvPr>
          <p:cNvSpPr txBox="1"/>
          <p:nvPr/>
        </p:nvSpPr>
        <p:spPr>
          <a:xfrm>
            <a:off x="5605447" y="4831121"/>
            <a:ext cx="2631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TaskDelayTicks</a:t>
            </a:r>
            <a:r>
              <a:rPr lang="en-US" altLang="zh-CN" b="1" dirty="0">
                <a:solidFill>
                  <a:schemeClr val="accent1"/>
                </a:solidFill>
                <a:latin typeface="Courier New" panose="02070309020205020404" pitchFamily="49" charset="0"/>
              </a:rPr>
              <a:t>=0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13443D6-0F9E-41F1-A0BF-E9A439F38650}"/>
              </a:ext>
            </a:extLst>
          </p:cNvPr>
          <p:cNvSpPr txBox="1"/>
          <p:nvPr/>
        </p:nvSpPr>
        <p:spPr>
          <a:xfrm>
            <a:off x="2562224" y="5663647"/>
            <a:ext cx="2055159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flag1=0;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endParaRPr lang="en-US" altLang="zh-CN" sz="1600" b="1" dirty="0">
              <a:solidFill>
                <a:srgbClr val="00B05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6F01300-D31C-46B0-A736-40129EDDDF76}"/>
              </a:ext>
            </a:extLst>
          </p:cNvPr>
          <p:cNvSpPr txBox="1"/>
          <p:nvPr/>
        </p:nvSpPr>
        <p:spPr>
          <a:xfrm>
            <a:off x="5830181" y="6197023"/>
            <a:ext cx="1808869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</a:rPr>
              <a:t>flag2=0;</a:t>
            </a:r>
          </a:p>
          <a:p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OSTimeDly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(2);</a:t>
            </a:r>
            <a:endParaRPr lang="en-US" altLang="zh-CN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32A69C5-1E6D-435F-B878-3B5C533BCA8A}"/>
              </a:ext>
            </a:extLst>
          </p:cNvPr>
          <p:cNvCxnSpPr>
            <a:cxnSpLocks/>
          </p:cNvCxnSpPr>
          <p:nvPr/>
        </p:nvCxnSpPr>
        <p:spPr>
          <a:xfrm flipV="1">
            <a:off x="4587972" y="6248422"/>
            <a:ext cx="1223159" cy="1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7622AA0-4670-43E3-85D0-7CA3AB9CF9CA}"/>
              </a:ext>
            </a:extLst>
          </p:cNvPr>
          <p:cNvCxnSpPr>
            <a:cxnSpLocks/>
          </p:cNvCxnSpPr>
          <p:nvPr/>
        </p:nvCxnSpPr>
        <p:spPr>
          <a:xfrm flipV="1">
            <a:off x="2270365" y="5644367"/>
            <a:ext cx="310072" cy="10118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2600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8801</TotalTime>
  <Words>3158</Words>
  <Application>Microsoft Office PowerPoint</Application>
  <PresentationFormat>宽屏</PresentationFormat>
  <Paragraphs>625</Paragraphs>
  <Slides>25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Noto Sans CJK JP Black</vt:lpstr>
      <vt:lpstr>PJMWDW+STZhongsong,Bold</vt:lpstr>
      <vt:lpstr>等线</vt:lpstr>
      <vt:lpstr>等线 Light</vt:lpstr>
      <vt:lpstr>黑体</vt:lpstr>
      <vt:lpstr>宋体</vt:lpstr>
      <vt:lpstr>Arial</vt:lpstr>
      <vt:lpstr>Calibri</vt:lpstr>
      <vt:lpstr>Courier New</vt:lpstr>
      <vt:lpstr>Times New Roman</vt:lpstr>
      <vt:lpstr>Wingdings</vt:lpstr>
      <vt:lpstr>Office 主题​​</vt:lpstr>
      <vt:lpstr>PowerPoint 演示文稿</vt:lpstr>
      <vt:lpstr>PowerPoint 演示文稿</vt:lpstr>
      <vt:lpstr>时钟中断</vt:lpstr>
      <vt:lpstr>问题的提出-----软件延时耗费CPU资源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200</cp:revision>
  <dcterms:created xsi:type="dcterms:W3CDTF">2020-11-10T10:12:45Z</dcterms:created>
  <dcterms:modified xsi:type="dcterms:W3CDTF">2021-10-08T01:53:31Z</dcterms:modified>
</cp:coreProperties>
</file>