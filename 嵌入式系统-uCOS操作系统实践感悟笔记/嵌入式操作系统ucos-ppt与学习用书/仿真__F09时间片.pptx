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484" r:id="rId3"/>
    <p:sldId id="516" r:id="rId4"/>
    <p:sldId id="474" r:id="rId5"/>
    <p:sldId id="517" r:id="rId6"/>
    <p:sldId id="518" r:id="rId7"/>
    <p:sldId id="519" r:id="rId8"/>
    <p:sldId id="520" r:id="rId9"/>
    <p:sldId id="521" r:id="rId10"/>
    <p:sldId id="52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3826" autoAdjust="0"/>
  </p:normalViewPr>
  <p:slideViewPr>
    <p:cSldViewPr snapToGrid="0">
      <p:cViewPr varScale="1">
        <p:scale>
          <a:sx n="67" d="100"/>
          <a:sy n="67" d="100"/>
        </p:scale>
        <p:origin x="4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11/16/2021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44584" y="3559704"/>
            <a:ext cx="7142416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7215"/>
              </a:lnSpc>
            </a:pP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时间片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5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时间片概念</a:t>
            </a:r>
            <a:endParaRPr lang="zh-CN" altLang="zh-CN" sz="44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850" y="1086247"/>
            <a:ext cx="3857625" cy="3416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600" b="0" i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从就绪列表了解时间片：</a:t>
            </a:r>
            <a:endParaRPr lang="en-US" altLang="zh-CN" sz="3600" b="0" i="0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36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在相同优先级任务间，同时就绪时，轮流执行的一种机制。</a:t>
            </a:r>
            <a:endParaRPr lang="en-US" altLang="zh-CN" sz="3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DAB35B-79A8-48CA-8784-3DE6475792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733" y="971155"/>
            <a:ext cx="7767117" cy="584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983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5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操作时间片的主体</a:t>
            </a:r>
            <a:endParaRPr lang="zh-CN" altLang="zh-CN" sz="44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850" y="1086247"/>
            <a:ext cx="385762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800" b="0" i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谁来管理操作时间片？</a:t>
            </a:r>
            <a:endParaRPr lang="en-US" altLang="zh-CN" sz="2800" b="0" i="0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DAB35B-79A8-48CA-8784-3DE6475792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34" y="980680"/>
            <a:ext cx="7595558" cy="5715395"/>
          </a:xfrm>
          <a:prstGeom prst="rect">
            <a:avLst/>
          </a:prstGeom>
        </p:spPr>
      </p:pic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98296CEB-C8CA-4210-9679-253DEB856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078726"/>
              </p:ext>
            </p:extLst>
          </p:nvPr>
        </p:nvGraphicFramePr>
        <p:xfrm>
          <a:off x="7439026" y="2143124"/>
          <a:ext cx="4633392" cy="3171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628">
                  <a:extLst>
                    <a:ext uri="{9D8B030D-6E8A-4147-A177-3AD203B41FA5}">
                      <a16:colId xmlns:a16="http://schemas.microsoft.com/office/drawing/2014/main" val="1185831690"/>
                    </a:ext>
                  </a:extLst>
                </a:gridCol>
                <a:gridCol w="2898764">
                  <a:extLst>
                    <a:ext uri="{9D8B030D-6E8A-4147-A177-3AD203B41FA5}">
                      <a16:colId xmlns:a16="http://schemas.microsoft.com/office/drawing/2014/main" val="3962060625"/>
                    </a:ext>
                  </a:extLst>
                </a:gridCol>
              </a:tblGrid>
              <a:tr h="2877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功能模块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492808"/>
                  </a:ext>
                </a:extLst>
              </a:tr>
              <a:tr h="2877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数据结构基础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任务控制块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TCB</a:t>
                      </a:r>
                      <a:endParaRPr lang="zh-CN" altLang="en-US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173198"/>
                  </a:ext>
                </a:extLst>
              </a:tr>
              <a:tr h="575473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任务创建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OSTaskCreate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zh-CN" altLang="en-US" sz="20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628565"/>
                  </a:ext>
                </a:extLst>
              </a:tr>
              <a:tr h="575473">
                <a:tc>
                  <a:txBody>
                    <a:bodyPr/>
                    <a:lstStyle/>
                    <a:p>
                      <a:r>
                        <a:rPr lang="zh-CN" altLang="en-US" sz="2000" dirty="0"/>
                        <a:t>管理主体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时钟中断服务程序</a:t>
                      </a:r>
                      <a:endParaRPr lang="en-US" altLang="zh-CN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OSTimeTick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705084"/>
                  </a:ext>
                </a:extLst>
              </a:tr>
              <a:tr h="702455">
                <a:tc>
                  <a:txBody>
                    <a:bodyPr/>
                    <a:lstStyle/>
                    <a:p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具体实施</a:t>
                      </a:r>
                      <a:r>
                        <a:rPr lang="zh-CN" altLang="en-US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时间片调度函数</a:t>
                      </a:r>
                      <a:r>
                        <a:rPr lang="zh-CN" altLang="en-US" sz="2000" dirty="0"/>
                        <a:t> </a:t>
                      </a:r>
                      <a:br>
                        <a:rPr lang="zh-CN" altLang="en-US" sz="2000" dirty="0"/>
                      </a:br>
                      <a:r>
                        <a:rPr lang="en-US" altLang="zh-C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OS_SchedRoundRobin</a:t>
                      </a: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2000" dirty="0"/>
                        <a:t> )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622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6875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40489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修改任务控制块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TCB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1552558" y="832187"/>
            <a:ext cx="8477267" cy="59400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struct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os_tcb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/*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堆栈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相关字段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 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CPU_STK     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StkPtr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栈顶指针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CPU_STK_SIZE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StkSize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堆栈大小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TaskDelayTicks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延时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周期个数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OS_PRIO     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Prio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      //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任务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优先级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就绪列表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双向链表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字段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OS_TCB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NextPtr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下一个指针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OS_TCB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PrevPtr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前一个指针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时基列表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相关字段*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    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OS_TCB        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TickNextPtr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OS_TCB        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TickPrevPtr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OS_TICK_SPOKE 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TickSpokePtr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TickRemain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时间片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相关字段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时间片</a:t>
            </a:r>
            <a:r>
              <a:rPr lang="zh-CN" altLang="en-US" sz="2000" b="1" dirty="0">
                <a:solidFill>
                  <a:srgbClr val="EE7B12"/>
                </a:solidFill>
                <a:latin typeface="Courier New" panose="02070309020205020404" pitchFamily="49" charset="0"/>
              </a:rPr>
              <a:t>需求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大小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OS_TICK       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时间片</a:t>
            </a:r>
            <a:r>
              <a:rPr lang="zh-CN" altLang="en-US" sz="2000" b="1" dirty="0">
                <a:solidFill>
                  <a:srgbClr val="EE7B12"/>
                </a:solidFill>
                <a:latin typeface="Courier New" panose="02070309020205020404" pitchFamily="49" charset="0"/>
              </a:rPr>
              <a:t>剩余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时间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};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56E713-5C15-4944-B10E-86D56139D13C}"/>
              </a:ext>
            </a:extLst>
          </p:cNvPr>
          <p:cNvSpPr txBox="1"/>
          <p:nvPr/>
        </p:nvSpPr>
        <p:spPr>
          <a:xfrm>
            <a:off x="2013297" y="5472440"/>
            <a:ext cx="7616478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91778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190501" y="23415"/>
            <a:ext cx="11925282" cy="69865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OSTaskCreate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(OS_TCB 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OS_TASK_PTR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p_task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void   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p_arg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OS_PRIO   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prio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CPU_STK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p_stk_base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CPU_STK_SIZE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stk_size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OS_TICK       </a:t>
            </a:r>
            <a:r>
              <a:rPr lang="en-US" altLang="zh-CN" sz="16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time_quanta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       OS_ERR 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	CPU_STK    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p_sp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  CPU_SR_ALLOC();		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初始化</a:t>
            </a:r>
            <a:r>
              <a:rPr lang="en-US" altLang="zh-CN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TCB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为默认值 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OS_TaskInitTCB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初始化堆栈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p_sp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OSTaskStkInit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 </a:t>
            </a:r>
            <a:r>
              <a:rPr lang="en-US" altLang="zh-CN" sz="16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p_task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p_arg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p_stk_base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stk_size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);		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StkPtr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p_sp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StkSize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stk_size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Prio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prio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//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赋予优先级</a:t>
            </a:r>
            <a:endParaRPr lang="en-US" altLang="zh-CN" sz="16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时间片相关初始化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	</a:t>
            </a:r>
          </a:p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TimeQuanta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   =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time_quanta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OS_CFG_SCHED_ROUND_ROBIN_EN &gt; 0u</a:t>
            </a:r>
          </a:p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TimeQuantaCtr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time_quanta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#endif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OS_CRITICAL_ENTER(); /*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进入临界段，</a:t>
            </a:r>
            <a:r>
              <a:rPr lang="zh-CN" altLang="en-US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将任务添加到就绪位表、列表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	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OS_PrioInsert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Prio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);	/*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就绪位表*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	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OS_RdyListInsertTail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);	/*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就绪列表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*/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OS_CRITICAL_EXIT(); /*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退出临界段 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	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OS_ERR_NONE;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16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24700" y="61515"/>
            <a:ext cx="499108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修改 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OSTaskCreate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函数 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1260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6865" y="283136"/>
            <a:ext cx="7220913" cy="63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管理主体：</a:t>
            </a: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时钟中断服务程序</a:t>
            </a:r>
            <a:endParaRPr lang="en-US" altLang="zh-CN" sz="3267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942958" y="1441787"/>
            <a:ext cx="9639317" cy="40934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OSTimeTick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(void)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更新时基列表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OS_TickListUpdate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();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OS_CFG_SCHED_ROUND_ROBIN_EN &gt; 0u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时间片调度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OS_SchedRoundRobin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(&amp;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OSPrioCur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]);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#endif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任务调度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OSSched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();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922206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923926" y="13890"/>
            <a:ext cx="7311197" cy="6838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 lIns="72000" tIns="36000" bIns="0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OS_SchedRoundRobin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(OS_RDY_LIST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p_rdy_list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 OS_TCB  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CPU_SR_ALLOC();	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CPU_CRITICAL_ENTER(); /* 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进入临界段 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p_rdy_list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;//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获取当前任务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TCB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== (OS_TCB *)0) {//TCB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节点为空则退出</a:t>
            </a:r>
            <a:endParaRPr lang="en-US" altLang="zh-CN" sz="16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CPU_CRITICAL_EXIT(); </a:t>
            </a:r>
            <a:r>
              <a:rPr lang="en-US" altLang="zh-CN" sz="1600" b="1" i="0" dirty="0">
                <a:solidFill>
                  <a:srgbClr val="EE7B12"/>
                </a:solidFill>
                <a:effectLst/>
                <a:latin typeface="Courier New" panose="02070309020205020404" pitchFamily="49" charset="0"/>
              </a:rPr>
              <a:t>return;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== &amp;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OSIdleTaskTCB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){//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空闲任务则退出</a:t>
            </a:r>
            <a:endParaRPr lang="en-US" altLang="zh-CN" sz="16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CPU_CRITICAL_EXIT(); </a:t>
            </a:r>
            <a:r>
              <a:rPr lang="en-US" altLang="zh-CN" sz="1600" b="1" i="0" dirty="0">
                <a:solidFill>
                  <a:srgbClr val="EE7B12"/>
                </a:solidFill>
                <a:effectLst/>
                <a:latin typeface="Courier New" panose="02070309020205020404" pitchFamily="49" charset="0"/>
              </a:rPr>
              <a:t>return;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TimeQuantaCtr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&gt; (OS_TICK)0){//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时间片自减</a:t>
            </a:r>
            <a:endParaRPr lang="en-US" altLang="zh-CN" sz="16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TimeQuantaCtr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--;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TimeQuantaCtr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&gt; (OS_TICK)0){//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时间片没完则退出</a:t>
            </a:r>
            <a:endParaRPr lang="en-US" altLang="zh-CN" sz="16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CPU_CRITICAL_EXIT(); </a:t>
            </a:r>
            <a:r>
              <a:rPr lang="en-US" altLang="zh-CN" sz="1600" b="1" i="0" dirty="0">
                <a:solidFill>
                  <a:srgbClr val="EE7B12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altLang="zh-CN" sz="1400" b="1" i="0" dirty="0">
                <a:solidFill>
                  <a:srgbClr val="EE7B12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CN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    </a:t>
            </a:r>
          </a:p>
          <a:p>
            <a:r>
              <a:rPr lang="en-US" altLang="zh-CN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}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如果当前优先级只有一个任务，则退出 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p_rdy_list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NbrEntries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&lt; (OS_OBJ_QTY)2){       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CPU_CRITICAL_EXIT(); </a:t>
            </a:r>
            <a:r>
              <a:rPr lang="en-US" altLang="zh-CN" sz="1600" b="1" i="0" dirty="0">
                <a:solidFill>
                  <a:srgbClr val="EE7B12"/>
                </a:solidFill>
                <a:effectLst/>
                <a:latin typeface="Courier New" panose="02070309020205020404" pitchFamily="49" charset="0"/>
              </a:rPr>
              <a:t>return;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14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时间片耗完，将任务放到链表的最后一个节点 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OS_RdyListMoveHeadToTail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p_rdy_list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);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p_rdy_list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/*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重新获取任务节点 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/*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重载默认的时间片计数值 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TimeQuantaCtr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TimeQuanta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    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CPU_CRITICAL_EXIT(); /* 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退出临界段 *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14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96008" y="0"/>
            <a:ext cx="11526" cy="11526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2400" y="42465"/>
            <a:ext cx="507211" cy="3519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时间片调度 数函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446D79-2611-48E2-888A-43FF67E1E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1294" y="11526"/>
            <a:ext cx="3797355" cy="680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3739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5943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76865" y="283136"/>
            <a:ext cx="7220913" cy="62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修改 </a:t>
            </a:r>
            <a:r>
              <a:rPr lang="en-US" altLang="zh-CN" sz="3267" b="1" dirty="0" err="1">
                <a:solidFill>
                  <a:srgbClr val="333399"/>
                </a:solidFill>
                <a:latin typeface="Arial" panose="020B0604020202020204" pitchFamily="34" charset="0"/>
              </a:rPr>
              <a:t>OS_IdleTaskInit</a:t>
            </a:r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()</a:t>
            </a: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函数 </a:t>
            </a:r>
            <a:endParaRPr lang="en-US" altLang="zh-CN" sz="3267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942958" y="1441787"/>
            <a:ext cx="9639317" cy="52014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空闲任务初始化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OS_IdleTaskInit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(OS_ERR  *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初始化空闲任务计数器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OSIdleTaskCtr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(OS_IDLE_CTR)0;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创建空闲任务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OSTaskCreate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 (OS_TCB     *)&amp;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OSIdleTaskTCB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		  (OS_TASK_PTR )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OS_IdleTask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		  (void       *)0,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(OS_PRIO)(OS_CFG_PRIO_MAX - 1u),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		  (CPU_STK    *)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OSCfg_IdleTaskStkBasePtr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		  (CPU_STK_SIZE)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OSCfg_IdleTaskStkSize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(OS_TICK       )</a:t>
            </a:r>
            <a:r>
              <a:rPr lang="en-US" altLang="zh-CN" sz="32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		  (OS_ERR     *)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p_err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);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559708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B16140-B95B-4DDB-B907-B560E1358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122" y="780559"/>
            <a:ext cx="6949860" cy="58107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85727" y="113505"/>
            <a:ext cx="5097395" cy="66843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 lIns="72000" tIns="36000" bIns="0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int main(void){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… …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Task1( void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p_arg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)//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优先级为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1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for( ;; ){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flag1 = 1;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OSTimeDly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(2);        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flag1 = 0;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OSTimeDly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(2);        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Task2( void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p_arg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)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优先级为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endParaRPr lang="en-US" altLang="zh-CN" sz="16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for( ;; ){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flag2 = 1;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delay(0xff);        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flag2 = 0;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delay(0xff);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Task3( void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p_arg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)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//</a:t>
            </a:r>
            <a:r>
              <a:rPr lang="zh-CN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优先级为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endParaRPr lang="en-US" altLang="zh-CN" sz="16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for( ;; ){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flag3 = 1;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delay(0xff);        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flag3 = 0;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delay(0xff);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  <a:endParaRPr lang="zh-CN" altLang="en-US" sz="14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96008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810500" y="118665"/>
            <a:ext cx="3724275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main()</a:t>
            </a: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数函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192409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B16140-B95B-4DDB-B907-B560E1358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122" y="780559"/>
            <a:ext cx="6949860" cy="58107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EC6B94A-D7CE-4C20-9DE8-605452454FF9}"/>
              </a:ext>
            </a:extLst>
          </p:cNvPr>
          <p:cNvSpPr txBox="1"/>
          <p:nvPr/>
        </p:nvSpPr>
        <p:spPr>
          <a:xfrm>
            <a:off x="85727" y="113505"/>
            <a:ext cx="5097395" cy="66843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 lIns="72000" tIns="36000" bIns="0">
            <a:spAutoFit/>
          </a:bodyPr>
          <a:lstStyle/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int main(void){</a:t>
            </a:r>
          </a:p>
          <a:p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… …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Task1( void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p_arg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)//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优先级为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1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for( ;; ){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flag1 = 1;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OSTimeDly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(2);        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flag1 = 0;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OSTimeDly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(2);        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Task2( void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p_arg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)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优先级为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endParaRPr lang="en-US" altLang="zh-CN" sz="16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for( ;; ){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flag2 = 1;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delay(0xff);        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flag2 = 0;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delay(0xff);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Task3( void *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p_arg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)</a:t>
            </a:r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 //</a:t>
            </a:r>
            <a:r>
              <a:rPr lang="zh-CN" altLang="en-US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优先级为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endParaRPr lang="en-US" altLang="zh-CN" sz="16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   for( ;; ){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flag3 = 1;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delay(0xff);        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flag3 = 0;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    delay(0xff);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lvl="1"/>
            <a:r>
              <a:rPr lang="en-US" altLang="zh-CN" sz="16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r>
              <a:rPr lang="en-US" altLang="zh-CN" sz="1600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  <a:endParaRPr lang="zh-CN" altLang="en-US" sz="1400" dirty="0"/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96008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810500" y="118665"/>
            <a:ext cx="3724275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zh-CN" sz="3267" b="1" dirty="0">
                <a:solidFill>
                  <a:srgbClr val="333399"/>
                </a:solidFill>
                <a:latin typeface="Arial" panose="020B0604020202020204" pitchFamily="34" charset="0"/>
              </a:rPr>
              <a:t>main()</a:t>
            </a: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</a:rPr>
              <a:t>数函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EFA8BA-435E-4C44-9DCB-272EBE367E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1505" y="113505"/>
            <a:ext cx="8134768" cy="210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9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29449</TotalTime>
  <Words>1320</Words>
  <Application>Microsoft Office PowerPoint</Application>
  <PresentationFormat>宽屏</PresentationFormat>
  <Paragraphs>186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PJMWDW+STZhongsong,Bold</vt:lpstr>
      <vt:lpstr>等线</vt:lpstr>
      <vt:lpstr>等线 Light</vt:lpstr>
      <vt:lpstr>宋体</vt:lpstr>
      <vt:lpstr>Arial</vt:lpstr>
      <vt:lpstr>Calibri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387</cp:revision>
  <dcterms:created xsi:type="dcterms:W3CDTF">2020-11-10T10:12:45Z</dcterms:created>
  <dcterms:modified xsi:type="dcterms:W3CDTF">2021-11-17T07:23:58Z</dcterms:modified>
</cp:coreProperties>
</file>