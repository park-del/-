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7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9" r:id="rId3"/>
    <p:sldId id="490" r:id="rId4"/>
    <p:sldId id="472" r:id="rId5"/>
    <p:sldId id="491" r:id="rId6"/>
    <p:sldId id="474" r:id="rId7"/>
    <p:sldId id="477" r:id="rId8"/>
    <p:sldId id="478" r:id="rId9"/>
    <p:sldId id="479" r:id="rId10"/>
    <p:sldId id="480" r:id="rId11"/>
    <p:sldId id="481" r:id="rId12"/>
    <p:sldId id="485" r:id="rId13"/>
    <p:sldId id="486" r:id="rId14"/>
    <p:sldId id="487" r:id="rId15"/>
    <p:sldId id="488" r:id="rId16"/>
    <p:sldId id="483" r:id="rId17"/>
    <p:sldId id="484" r:id="rId18"/>
    <p:sldId id="492" r:id="rId19"/>
    <p:sldId id="49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08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以大小的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头，表示这是一个外部函数，可以由用户调用，以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OS_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开头的函数表示内部函数，只能由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uC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/OS-III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内部使用。紧接着是文件名，表示该函数放在哪个文件，最后是函数功能名称。</a:t>
            </a:r>
            <a:r>
              <a:rPr lang="zh-CN" alt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0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4B4B4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PendSV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是可悬起异常，如果我们把它配置最低优先级，那么如果同时有多个异常被触发，它会在其他异常执行完毕后再执行，而且任何异常都可以中断它。从而实现系统的实时性。</a:t>
            </a:r>
            <a:endParaRPr lang="en-US" altLang="zh-CN" b="0" i="0" dirty="0">
              <a:solidFill>
                <a:srgbClr val="4B4B4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LDR     R1, = NVIC_PENDSV_PRI   ;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将一常量值加载到寄存器</a:t>
            </a:r>
            <a:endParaRPr lang="en-US" altLang="zh-CN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MSR     PSP, R0    ;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将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寄存器值传送到 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PSP(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任务堆栈指针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24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CBZ   R0, </a:t>
            </a:r>
            <a:r>
              <a:rPr lang="en-US" altLang="zh-CN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OS_CPU_PendSVHandler_nosave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;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判断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，如果值为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则跳转</a:t>
            </a:r>
            <a:endParaRPr lang="en-US" altLang="zh-CN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              ; 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进行第一次任务切换的时候，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肯定为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在进入</a:t>
            </a:r>
            <a:r>
              <a:rPr lang="en-US" altLang="zh-CN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PendSV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异常的时候，当前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的</a:t>
            </a:r>
            <a:r>
              <a:rPr lang="en-US" altLang="zh-CN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xPSR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PC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（任务入口地址），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R14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R12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R3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R2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会自动存储到当前任务堆栈，同时递减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的值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MSR     PSP, R0      ; 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更新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的值，这个时候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指向下一个要执行的任务的堆栈的栈底（这个栈底已经加上刚刚手动加载到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R4-R11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的偏移）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BX      LR         ; 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异常返回，这个时候任务堆栈中的剩下内容将会自动加载到</a:t>
            </a:r>
            <a:r>
              <a:rPr lang="en-US" altLang="zh-CN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xPSR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PC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（任务入口地址），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R14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R12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R3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R2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R1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（任务的形参）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; 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同时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的值也将更新，即指向任务堆栈的栈顶。在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</a:rPr>
              <a:t>STM32</a:t>
            </a:r>
            <a:r>
              <a:rPr lang="zh-CN" alt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中，堆栈是由高地址向低地址生长的。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139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7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0172AF-2797-4AC5-BC52-C6EAF0479E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60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9/23/2021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2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2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2.jpe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2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2.jpe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2.jpe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2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77984" y="3559704"/>
            <a:ext cx="5398244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任务</a:t>
            </a: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和任务切换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本章目标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751" y="1442389"/>
            <a:ext cx="895286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本章是我们真正从从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到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写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RTOS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的第一章， 属于基础中的基础</a:t>
            </a: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怎样创建任务</a:t>
            </a: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重点掌握任务是如何切换的</a:t>
            </a:r>
            <a:r>
              <a:rPr lang="zh-CN" altLang="en-US" sz="3200" dirty="0"/>
              <a:t> </a:t>
            </a:r>
            <a:br>
              <a:rPr lang="zh-CN" altLang="en-US" sz="3200" dirty="0"/>
            </a:b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工作目标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56" y="1346692"/>
            <a:ext cx="10668010" cy="20621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创建两个任务，并让这两个任务不断地切换，任务的主体都是让一个变量按照一定的频率翻转，通过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KEIL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的软件仿真功能，在逻辑分析仪中观察变量的波形变化，最终的波形图具体见图</a:t>
            </a:r>
            <a:r>
              <a:rPr lang="zh-CN" altLang="en-US" sz="3200" dirty="0"/>
              <a:t> 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DF0557-8117-4516-93B6-669E0D0D60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399" y="3472665"/>
            <a:ext cx="10399664" cy="31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41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多任务应用程序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610" y="21168"/>
            <a:ext cx="8952860" cy="6882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OS_ERR err;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Task1,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Task2,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 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void delay (uint32_t count) /* </a:t>
            </a:r>
            <a:r>
              <a:rPr lang="zh-CN" altLang="en-US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延时函数 *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{	for(; count!=0; count--);}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742057" y="153379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003464" y="20947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912207" y="2842201"/>
            <a:ext cx="5195299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6200289" y="3363650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571908" y="22526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278617" y="572492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8866860" y="3352692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 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AFD27-9C45-4E1F-8A84-35EF4678409E}"/>
              </a:ext>
            </a:extLst>
          </p:cNvPr>
          <p:cNvSpPr/>
          <p:nvPr/>
        </p:nvSpPr>
        <p:spPr>
          <a:xfrm>
            <a:off x="9317014" y="573958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6274456" y="6255104"/>
            <a:ext cx="4591636" cy="335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</p:spTree>
    <p:extLst>
      <p:ext uri="{BB962C8B-B14F-4D97-AF65-F5344CB8AC3E}">
        <p14:creationId xmlns:p14="http://schemas.microsoft.com/office/powerpoint/2010/main" val="3233535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5" grpId="0" animBg="1"/>
      <p:bldP spid="7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7299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184231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什么是任务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867" y="1633504"/>
            <a:ext cx="895286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Task( void *</a:t>
            </a:r>
            <a:r>
              <a:rPr lang="en-US" altLang="zh-CN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任务主体，无限循环且不能返回*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{	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任务主体代码*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73218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4868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任务构成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0B5875-E5FE-4FD0-9B72-EA130F00848F}"/>
              </a:ext>
            </a:extLst>
          </p:cNvPr>
          <p:cNvGrpSpPr/>
          <p:nvPr/>
        </p:nvGrpSpPr>
        <p:grpSpPr>
          <a:xfrm>
            <a:off x="6814870" y="161410"/>
            <a:ext cx="3725053" cy="1045629"/>
            <a:chOff x="6282804" y="177850"/>
            <a:chExt cx="3024336" cy="11521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5FA3C1D-58B8-4E25-9B07-6D9C7E2F076D}"/>
                </a:ext>
              </a:extLst>
            </p:cNvPr>
            <p:cNvSpPr/>
            <p:nvPr/>
          </p:nvSpPr>
          <p:spPr>
            <a:xfrm>
              <a:off x="6282804" y="177850"/>
              <a:ext cx="3024336" cy="1152128"/>
            </a:xfrm>
            <a:prstGeom prst="rect">
              <a:avLst/>
            </a:prstGeom>
            <a:solidFill>
              <a:srgbClr val="FA2812">
                <a:alpha val="5294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904" dirty="0"/>
                <a:t>cpu</a:t>
              </a:r>
            </a:p>
            <a:p>
              <a:pPr algn="ctr"/>
              <a:endParaRPr lang="en-US" altLang="zh-CN" sz="2904" dirty="0"/>
            </a:p>
            <a:p>
              <a:pPr algn="ctr"/>
              <a:endParaRPr lang="zh-CN" altLang="en-US" sz="1634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A23C78-E721-44BB-B776-EDB7EA16BB0A}"/>
                </a:ext>
              </a:extLst>
            </p:cNvPr>
            <p:cNvSpPr/>
            <p:nvPr/>
          </p:nvSpPr>
          <p:spPr>
            <a:xfrm>
              <a:off x="6498828" y="681906"/>
              <a:ext cx="2592288" cy="4320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78" b="1" dirty="0">
                  <a:solidFill>
                    <a:schemeClr val="tx1"/>
                  </a:solidFill>
                </a:rPr>
                <a:t>寄存器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1586726" y="1393466"/>
            <a:ext cx="9018547" cy="519690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2567003" y="234249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FF000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</a:t>
            </a:r>
            <a:r>
              <a:rPr lang="en-US" altLang="zh-CN" sz="2178" b="1" dirty="0" err="1">
                <a:solidFill>
                  <a:srgbClr val="FF0000"/>
                </a:solidFill>
              </a:rPr>
              <a:t>OSSched</a:t>
            </a:r>
            <a:r>
              <a:rPr lang="en-US" altLang="zh-CN" sz="2178" b="1" dirty="0">
                <a:solidFill>
                  <a:srgbClr val="FF000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}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624997" y="806809"/>
            <a:ext cx="588166" cy="1249803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2893763" y="1528676"/>
            <a:ext cx="1437740" cy="723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  <a:r>
              <a:rPr lang="zh-CN" altLang="en-US" sz="1815" b="1" dirty="0">
                <a:solidFill>
                  <a:srgbClr val="FF000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7043280" y="1606029"/>
            <a:ext cx="1887360" cy="103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78" b="1" dirty="0">
                <a:solidFill>
                  <a:srgbClr val="0070C0"/>
                </a:solidFill>
              </a:rPr>
              <a:t>任务就绪位表</a:t>
            </a:r>
            <a:endParaRPr lang="en-US" altLang="zh-CN" sz="2178" b="1" dirty="0">
              <a:solidFill>
                <a:srgbClr val="0070C0"/>
              </a:solidFill>
            </a:endParaRPr>
          </a:p>
          <a:p>
            <a:endParaRPr lang="en-US" altLang="zh-CN" sz="2178" b="1" dirty="0">
              <a:solidFill>
                <a:srgbClr val="0070C0"/>
              </a:solidFill>
            </a:endParaRPr>
          </a:p>
          <a:p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2007307" y="5881447"/>
            <a:ext cx="8266541" cy="457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0E97D1-6D2D-4AB8-BB45-0E3D2C2A6CE2}"/>
              </a:ext>
            </a:extLst>
          </p:cNvPr>
          <p:cNvSpPr/>
          <p:nvPr/>
        </p:nvSpPr>
        <p:spPr>
          <a:xfrm>
            <a:off x="4775626" y="2364174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表格 14">
            <a:extLst>
              <a:ext uri="{FF2B5EF4-FFF2-40B4-BE49-F238E27FC236}">
                <a16:creationId xmlns:a16="http://schemas.microsoft.com/office/drawing/2014/main" id="{961598D0-276A-4F9E-A51E-1A990FAF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61189"/>
              </p:ext>
            </p:extLst>
          </p:nvPr>
        </p:nvGraphicFramePr>
        <p:xfrm>
          <a:off x="2076577" y="4786514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78">
                  <a:extLst>
                    <a:ext uri="{9D8B030D-6E8A-4147-A177-3AD203B41FA5}">
                      <a16:colId xmlns:a16="http://schemas.microsoft.com/office/drawing/2014/main" val="2110415963"/>
                    </a:ext>
                  </a:extLst>
                </a:gridCol>
                <a:gridCol w="1184622">
                  <a:extLst>
                    <a:ext uri="{9D8B030D-6E8A-4147-A177-3AD203B41FA5}">
                      <a16:colId xmlns:a16="http://schemas.microsoft.com/office/drawing/2014/main" val="1566843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27724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253211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1451586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系统调用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1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创建任务</a:t>
                      </a:r>
                      <a:r>
                        <a:rPr lang="en-US" altLang="zh-CN" sz="1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OSTaskCreate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del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wakeup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sleep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39410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528E0EAC-8632-447C-A563-4D982179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844912"/>
              </p:ext>
            </p:extLst>
          </p:nvPr>
        </p:nvGraphicFramePr>
        <p:xfrm>
          <a:off x="7080945" y="2747118"/>
          <a:ext cx="1767840" cy="187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361914019"/>
                    </a:ext>
                  </a:extLst>
                </a:gridCol>
              </a:tblGrid>
              <a:tr h="309332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任务就绪列表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24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41042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57176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20569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7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定义任务堆栈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8952860" cy="1488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#define  TASK1_STK_SIZE       128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#define  TASK2_STK_SIZE       128</a:t>
            </a:r>
          </a:p>
          <a:p>
            <a:pPr>
              <a:defRPr/>
            </a:pPr>
            <a:endParaRPr lang="en-US" altLang="zh-CN" sz="1815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static   CPU_STK   Task1Stk[TASK1_STK_SIZE];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static   CPU_STK   Task2Stk[TASK2_STK_SIZE];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206980" y="172985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7468388" y="22526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303520" y="2916389"/>
            <a:ext cx="531165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036831" y="241056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488111" y="630447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8666AC-6B7D-456B-BC6B-593451621CD1}"/>
              </a:ext>
            </a:extLst>
          </p:cNvPr>
          <p:cNvSpPr/>
          <p:nvPr/>
        </p:nvSpPr>
        <p:spPr>
          <a:xfrm>
            <a:off x="5780777" y="564364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953604-F8AD-484E-952E-78A460FD8D85}"/>
              </a:ext>
            </a:extLst>
          </p:cNvPr>
          <p:cNvSpPr/>
          <p:nvPr/>
        </p:nvSpPr>
        <p:spPr>
          <a:xfrm>
            <a:off x="8819174" y="565830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</p:spTree>
    <p:extLst>
      <p:ext uri="{BB962C8B-B14F-4D97-AF65-F5344CB8AC3E}">
        <p14:creationId xmlns:p14="http://schemas.microsoft.com/office/powerpoint/2010/main" val="1241897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定义任务函数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56" y="640913"/>
            <a:ext cx="8952860" cy="62170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uint32_t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flag1; 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8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uint32_t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flag2;</a:t>
            </a:r>
            <a:r>
              <a:rPr lang="en-US" altLang="zh-CN" sz="2000" dirty="0"/>
              <a:t> </a:t>
            </a:r>
            <a:endParaRPr lang="en-US" altLang="zh-CN" sz="2000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8426180" y="164857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687588" y="217138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6522720" y="2835109"/>
            <a:ext cx="531165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10256031" y="232928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7707311" y="622319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8666AC-6B7D-456B-BC6B-593451621CD1}"/>
              </a:ext>
            </a:extLst>
          </p:cNvPr>
          <p:cNvSpPr/>
          <p:nvPr/>
        </p:nvSpPr>
        <p:spPr>
          <a:xfrm>
            <a:off x="6999977" y="556236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953604-F8AD-484E-952E-78A460FD8D85}"/>
              </a:ext>
            </a:extLst>
          </p:cNvPr>
          <p:cNvSpPr/>
          <p:nvPr/>
        </p:nvSpPr>
        <p:spPr>
          <a:xfrm>
            <a:off x="10038374" y="557702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88E7B7-5699-40F6-9C28-3BB6831724D5}"/>
              </a:ext>
            </a:extLst>
          </p:cNvPr>
          <p:cNvSpPr/>
          <p:nvPr/>
        </p:nvSpPr>
        <p:spPr>
          <a:xfrm>
            <a:off x="6821813" y="330956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34C60B-0030-4CE3-AF3A-AC7F67A59941}"/>
              </a:ext>
            </a:extLst>
          </p:cNvPr>
          <p:cNvSpPr/>
          <p:nvPr/>
        </p:nvSpPr>
        <p:spPr>
          <a:xfrm>
            <a:off x="9811219" y="3330738"/>
            <a:ext cx="1829850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369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5">
            <a:extLst>
              <a:ext uri="{FF2B5EF4-FFF2-40B4-BE49-F238E27FC236}">
                <a16:creationId xmlns:a16="http://schemas.microsoft.com/office/drawing/2014/main" id="{4F744912-B074-4D12-B9AB-EEAB0DCC8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710" y="4021120"/>
            <a:ext cx="558641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typedef  struct  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os_tcb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OS_TCB;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struct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os_tcb</a:t>
            </a:r>
            <a:endParaRPr lang="en-US" altLang="zh-CN" sz="24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CPU_STK         *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StkPtr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CPU_STK_SIZE   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StkSize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77941" y="315526"/>
            <a:ext cx="8460231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66277" y="360248"/>
            <a:ext cx="9626613" cy="12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</a:rPr>
              <a:t>控制块 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</a:rPr>
              <a:t>TCB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os.h,app.c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br>
              <a:rPr lang="en-US" altLang="zh-CN" sz="4000" dirty="0"/>
            </a:b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10238132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在多任务系统中，任务的执行是由系统调度的。系统为了顺利的调度任务，为每个任务都额外定义了一个任务控制块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Task Control Block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），这个任务控制块就相当于任务的身份证，里面存有任务的所有信息，比如任务的堆栈，任务名称，任务的形参等。有了这个任务控制块之后，以后系统对任务的全部操作都可以通过这个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来实现。 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4ACB92-152C-4F5D-9DEF-3321FC96A4E3}"/>
              </a:ext>
            </a:extLst>
          </p:cNvPr>
          <p:cNvSpPr/>
          <p:nvPr/>
        </p:nvSpPr>
        <p:spPr>
          <a:xfrm>
            <a:off x="8426180" y="164857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3137B-56E9-4858-AFC7-143AD6680769}"/>
              </a:ext>
            </a:extLst>
          </p:cNvPr>
          <p:cNvSpPr/>
          <p:nvPr/>
        </p:nvSpPr>
        <p:spPr>
          <a:xfrm>
            <a:off x="8687588" y="217138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CC8699-A68D-4116-98E4-458BF3EDA571}"/>
              </a:ext>
            </a:extLst>
          </p:cNvPr>
          <p:cNvSpPr/>
          <p:nvPr/>
        </p:nvSpPr>
        <p:spPr>
          <a:xfrm>
            <a:off x="5863590" y="2835109"/>
            <a:ext cx="597078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8" name="箭头: 上下 17">
            <a:extLst>
              <a:ext uri="{FF2B5EF4-FFF2-40B4-BE49-F238E27FC236}">
                <a16:creationId xmlns:a16="http://schemas.microsoft.com/office/drawing/2014/main" id="{F2E2834F-A30E-46A1-9D9A-06C7989BF939}"/>
              </a:ext>
            </a:extLst>
          </p:cNvPr>
          <p:cNvSpPr/>
          <p:nvPr/>
        </p:nvSpPr>
        <p:spPr>
          <a:xfrm>
            <a:off x="10256031" y="232928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6AC0A6-D9F0-4043-ACE8-6CA2E8898C7E}"/>
              </a:ext>
            </a:extLst>
          </p:cNvPr>
          <p:cNvSpPr/>
          <p:nvPr/>
        </p:nvSpPr>
        <p:spPr>
          <a:xfrm>
            <a:off x="7707311" y="622319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4EC552-2CA7-49D0-9870-DEE1FE81AB29}"/>
              </a:ext>
            </a:extLst>
          </p:cNvPr>
          <p:cNvSpPr/>
          <p:nvPr/>
        </p:nvSpPr>
        <p:spPr>
          <a:xfrm>
            <a:off x="6337037" y="556236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00C2E0-36FB-46B6-B27A-A4268FD8CBA8}"/>
              </a:ext>
            </a:extLst>
          </p:cNvPr>
          <p:cNvSpPr/>
          <p:nvPr/>
        </p:nvSpPr>
        <p:spPr>
          <a:xfrm>
            <a:off x="10038374" y="557702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500467-C125-47D2-8D75-18AAC94EE79B}"/>
              </a:ext>
            </a:extLst>
          </p:cNvPr>
          <p:cNvSpPr/>
          <p:nvPr/>
        </p:nvSpPr>
        <p:spPr>
          <a:xfrm>
            <a:off x="6021713" y="330956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CF69A7-097F-4093-92D1-B5E5A54F178F}"/>
              </a:ext>
            </a:extLst>
          </p:cNvPr>
          <p:cNvSpPr/>
          <p:nvPr/>
        </p:nvSpPr>
        <p:spPr>
          <a:xfrm>
            <a:off x="9925519" y="3330738"/>
            <a:ext cx="1829850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CA3858-D3E2-474C-9055-AA0D288DD937}"/>
              </a:ext>
            </a:extLst>
          </p:cNvPr>
          <p:cNvSpPr/>
          <p:nvPr/>
        </p:nvSpPr>
        <p:spPr>
          <a:xfrm>
            <a:off x="8236031" y="3409443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CD85F6-D70F-41D6-8977-879BAC20278A}"/>
              </a:ext>
            </a:extLst>
          </p:cNvPr>
          <p:cNvSpPr/>
          <p:nvPr/>
        </p:nvSpPr>
        <p:spPr>
          <a:xfrm>
            <a:off x="8236031" y="4622826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Task2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473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6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06573" y="1143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32222" y="27905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10065" y="360113"/>
            <a:ext cx="7220913" cy="12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</a:t>
            </a:r>
            <a:r>
              <a:rPr lang="zh-CN" altLang="en-US" sz="3600" b="1" i="0" dirty="0"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实现任务创建函数</a:t>
            </a:r>
            <a:r>
              <a:rPr lang="zh-CN" altLang="en-US" sz="3600" b="1" dirty="0">
                <a:solidFill>
                  <a:srgbClr val="0070C0"/>
                </a:solidFill>
              </a:rPr>
              <a:t> </a:t>
            </a:r>
            <a:br>
              <a:rPr lang="zh-CN" altLang="en-US" sz="3600" b="1" dirty="0">
                <a:solidFill>
                  <a:srgbClr val="0070C0"/>
                </a:solidFill>
              </a:rPr>
            </a:b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0B5875-E5FE-4FD0-9B72-EA130F00848F}"/>
              </a:ext>
            </a:extLst>
          </p:cNvPr>
          <p:cNvGrpSpPr/>
          <p:nvPr/>
        </p:nvGrpSpPr>
        <p:grpSpPr>
          <a:xfrm>
            <a:off x="8277910" y="47110"/>
            <a:ext cx="3725053" cy="1045629"/>
            <a:chOff x="6282804" y="177850"/>
            <a:chExt cx="3024336" cy="11521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5FA3C1D-58B8-4E25-9B07-6D9C7E2F076D}"/>
                </a:ext>
              </a:extLst>
            </p:cNvPr>
            <p:cNvSpPr/>
            <p:nvPr/>
          </p:nvSpPr>
          <p:spPr>
            <a:xfrm>
              <a:off x="6282804" y="177850"/>
              <a:ext cx="3024336" cy="1152128"/>
            </a:xfrm>
            <a:prstGeom prst="rect">
              <a:avLst/>
            </a:prstGeom>
            <a:solidFill>
              <a:srgbClr val="FA2812">
                <a:alpha val="5294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904" dirty="0"/>
                <a:t>cpu</a:t>
              </a:r>
            </a:p>
            <a:p>
              <a:pPr algn="ctr"/>
              <a:endParaRPr lang="en-US" altLang="zh-CN" sz="2904" dirty="0"/>
            </a:p>
            <a:p>
              <a:pPr algn="ctr"/>
              <a:endParaRPr lang="zh-CN" altLang="en-US" sz="1634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A23C78-E721-44BB-B776-EDB7EA16BB0A}"/>
                </a:ext>
              </a:extLst>
            </p:cNvPr>
            <p:cNvSpPr/>
            <p:nvPr/>
          </p:nvSpPr>
          <p:spPr>
            <a:xfrm>
              <a:off x="6498828" y="681906"/>
              <a:ext cx="2592288" cy="4320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78" b="1" dirty="0">
                  <a:solidFill>
                    <a:schemeClr val="tx1"/>
                  </a:solidFill>
                </a:rPr>
                <a:t>寄存器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589270" y="1404896"/>
            <a:ext cx="6479043" cy="519690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5813123" y="235392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FF000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</a:t>
            </a:r>
            <a:r>
              <a:rPr lang="en-US" altLang="zh-CN" sz="2178" b="1" dirty="0" err="1">
                <a:solidFill>
                  <a:srgbClr val="FF0000"/>
                </a:solidFill>
              </a:rPr>
              <a:t>OSSched</a:t>
            </a:r>
            <a:r>
              <a:rPr lang="en-US" altLang="zh-CN" sz="2178" b="1" dirty="0">
                <a:solidFill>
                  <a:srgbClr val="FF000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}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11088037" y="818239"/>
            <a:ext cx="588166" cy="1249803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139883" y="1540106"/>
            <a:ext cx="1437740" cy="723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  <a:r>
              <a:rPr lang="zh-CN" altLang="en-US" sz="1815" b="1" dirty="0">
                <a:solidFill>
                  <a:srgbClr val="FF000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9672180" y="1617459"/>
            <a:ext cx="1887360" cy="103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78" b="1" dirty="0">
                <a:solidFill>
                  <a:srgbClr val="0070C0"/>
                </a:solidFill>
              </a:rPr>
              <a:t>任务就绪位表</a:t>
            </a:r>
            <a:endParaRPr lang="en-US" altLang="zh-CN" sz="2178" b="1" dirty="0">
              <a:solidFill>
                <a:srgbClr val="0070C0"/>
              </a:solidFill>
            </a:endParaRPr>
          </a:p>
          <a:p>
            <a:endParaRPr lang="en-US" altLang="zh-CN" sz="2178" b="1" dirty="0">
              <a:solidFill>
                <a:srgbClr val="0070C0"/>
              </a:solidFill>
            </a:endParaRPr>
          </a:p>
          <a:p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5682809" y="5892877"/>
            <a:ext cx="6054079" cy="457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0E97D1-6D2D-4AB8-BB45-0E3D2C2A6CE2}"/>
              </a:ext>
            </a:extLst>
          </p:cNvPr>
          <p:cNvSpPr/>
          <p:nvPr/>
        </p:nvSpPr>
        <p:spPr>
          <a:xfrm>
            <a:off x="8021746" y="2375603"/>
            <a:ext cx="1437740" cy="1447037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 TCB</a:t>
            </a:r>
          </a:p>
          <a:p>
            <a:pPr algn="ctr"/>
            <a:endParaRPr lang="en-US" altLang="zh-CN" sz="1815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1800" dirty="0" err="1">
                <a:latin typeface="Courier New" panose="02070309020205020404" pitchFamily="49" charset="0"/>
              </a:rPr>
              <a:t>StkPtr</a:t>
            </a:r>
            <a:endParaRPr lang="en-US" altLang="zh-CN" sz="1815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1800" dirty="0" err="1">
                <a:latin typeface="Courier New" panose="02070309020205020404" pitchFamily="49" charset="0"/>
              </a:rPr>
              <a:t>StkSize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表格 14">
            <a:extLst>
              <a:ext uri="{FF2B5EF4-FFF2-40B4-BE49-F238E27FC236}">
                <a16:creationId xmlns:a16="http://schemas.microsoft.com/office/drawing/2014/main" id="{961598D0-276A-4F9E-A51E-1A990FAF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8962"/>
              </p:ext>
            </p:extLst>
          </p:nvPr>
        </p:nvGraphicFramePr>
        <p:xfrm>
          <a:off x="5714999" y="4797944"/>
          <a:ext cx="595261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1">
                  <a:extLst>
                    <a:ext uri="{9D8B030D-6E8A-4147-A177-3AD203B41FA5}">
                      <a16:colId xmlns:a16="http://schemas.microsoft.com/office/drawing/2014/main" val="211041596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156684374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78277248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925321111"/>
                    </a:ext>
                  </a:extLst>
                </a:gridCol>
                <a:gridCol w="843405">
                  <a:extLst>
                    <a:ext uri="{9D8B030D-6E8A-4147-A177-3AD203B41FA5}">
                      <a16:colId xmlns:a16="http://schemas.microsoft.com/office/drawing/2014/main" val="1001451586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系统调用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1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创建任务</a:t>
                      </a:r>
                      <a:r>
                        <a:rPr lang="en-US" altLang="zh-CN" sz="1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OSTaskCreate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39410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528E0EAC-8632-447C-A563-4D982179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82179"/>
              </p:ext>
            </p:extLst>
          </p:nvPr>
        </p:nvGraphicFramePr>
        <p:xfrm>
          <a:off x="9709845" y="2758548"/>
          <a:ext cx="1767840" cy="187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361914019"/>
                    </a:ext>
                  </a:extLst>
                </a:gridCol>
              </a:tblGrid>
              <a:tr h="309332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任务就绪列表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24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41042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57176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20569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7659"/>
                  </a:ext>
                </a:extLst>
              </a:tr>
            </a:tbl>
          </a:graphicData>
        </a:graphic>
      </p:graphicFrame>
      <p:sp>
        <p:nvSpPr>
          <p:cNvPr id="17" name="文本框 5">
            <a:extLst>
              <a:ext uri="{FF2B5EF4-FFF2-40B4-BE49-F238E27FC236}">
                <a16:creationId xmlns:a16="http://schemas.microsoft.com/office/drawing/2014/main" id="{4D65C408-DBA2-473C-BD71-D0B19263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46" y="1168820"/>
            <a:ext cx="6479043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latin typeface="Courier New" panose="02070309020205020404" pitchFamily="49" charset="0"/>
              </a:rPr>
              <a:t>OSTaskCreate</a:t>
            </a:r>
            <a:r>
              <a:rPr lang="en-US" altLang="zh-CN" sz="2000" dirty="0">
                <a:latin typeface="Courier New" panose="02070309020205020404" pitchFamily="49" charset="0"/>
              </a:rPr>
              <a:t> (OS_TCB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OS_TASK_PTR   </a:t>
            </a:r>
            <a:r>
              <a:rPr lang="en-US" altLang="zh-CN" sz="2000" dirty="0" err="1">
                <a:latin typeface="Courier New" panose="02070309020205020404" pitchFamily="49" charset="0"/>
              </a:rPr>
              <a:t>p_task</a:t>
            </a:r>
            <a:r>
              <a:rPr lang="en-US" altLang="zh-CN" sz="2000" dirty="0"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void  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CPU_STK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p_stk_base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CPU_STK_SIZE 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OS_ERR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CPU_STK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OSTaskStkInit</a:t>
            </a:r>
            <a:r>
              <a:rPr lang="en-US" altLang="zh-CN" sz="2000" dirty="0">
                <a:latin typeface="Courier New" panose="02070309020205020404" pitchFamily="49" charset="0"/>
              </a:rPr>
              <a:t> (</a:t>
            </a:r>
            <a:r>
              <a:rPr lang="en-US" altLang="zh-CN" sz="2000" dirty="0" err="1">
                <a:latin typeface="Courier New" panose="02070309020205020404" pitchFamily="49" charset="0"/>
              </a:rPr>
              <a:t>p_task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p_stk_base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latin typeface="Courier New" panose="02070309020205020404" pitchFamily="49" charset="0"/>
              </a:rPr>
              <a:t>StkPtr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latin typeface="Courier New" panose="02070309020205020404" pitchFamily="49" charset="0"/>
              </a:rPr>
              <a:t>StkSize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*</a:t>
            </a:r>
            <a:r>
              <a:rPr lang="en-US" altLang="zh-CN" sz="2000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latin typeface="Courier New" panose="02070309020205020404" pitchFamily="49" charset="0"/>
              </a:rPr>
              <a:t> = OS_ERR_NONE;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06738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堆栈初始化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527" y="11526"/>
            <a:ext cx="10640946" cy="67403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CPU_STK 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OSTaskStkInit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(OS_TASK_PTR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p_task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 void 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p_arg,CPU_STK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p_stk_base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    CPU_STK_SIZE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stk_size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{	CPU_STK  *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p_stk_base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stk_size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];										/* 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异常发生时自动保存的寄存器      *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(CPU_STK)0x01000000u;      /*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</a:rPr>
              <a:t>xPSR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的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bit24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必须置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1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p_task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        /*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任务的入口地址        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(CPU_STK)0x14141414u;    /* R14 (LR)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(CPU_STK)0x12121212u;    /* R12   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(CPU_STK)0x03030303u;    /* R3     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(CPU_STK)0x02020202u;      /* R2  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(CPU_STK)0x01010101u;      /* R1   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;      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/* R0 : 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任务形参 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*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/						/* 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异常发生时需手动保存的寄存器    *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(CPU_STK)0x11111111u;     /* R11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(CPU_STK)0x10101010u;     /* R10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(CPU_STK)0x09090909u;     /* R9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(CPU_STK)0x08080808u;     /* R8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(CPU_STK)0x07070707u;     /* R7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(CPU_STK)0x06060606u;     /* R6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(CPU_STK)0x05050505u;     /* R5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*--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 = (CPU_STK)0x04040404u;     /* R4  */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	return (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</a:rPr>
              <a:t>p_stk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0654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系统启动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42" y="2269297"/>
            <a:ext cx="9569150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OS_ERR err;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创建任务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(… …);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(… …);			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将任务加入到就绪列表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[0].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 = &amp;Task1TCB;</a:t>
            </a:r>
          </a:p>
          <a:p>
            <a:pPr>
              <a:defRPr/>
            </a:pP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[1].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 = &amp;Task2TCB;	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(&amp;err);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启动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，将不再返回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32" y="1274453"/>
            <a:ext cx="1006296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dirty="0"/>
              <a:t>系统初始化好，任务创建完毕之后，就可以启动系统了。 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001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7220913" cy="66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系统启动</a:t>
            </a:r>
            <a:r>
              <a:rPr lang="en-US" altLang="zh-CN" sz="3993" b="1" dirty="0" err="1">
                <a:solidFill>
                  <a:srgbClr val="333399"/>
                </a:solidFill>
                <a:latin typeface="Arial" panose="020B0604020202020204" pitchFamily="34" charset="0"/>
              </a:rPr>
              <a:t>OSStart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os_core.c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90" y="1057672"/>
            <a:ext cx="10091217" cy="56938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(OS_ERR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OSRunning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OS_STATE_OS_STOPPED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手动配置任务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先运行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启动任务切换，不会返回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OSStartHighRdy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不会运行到这里，运行到这里表示发生了致命的错误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OS_ERR_FATAL_RETURN;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else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OS_STATE_OS_RUNNING;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9039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8411057" cy="66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系统启动</a:t>
            </a:r>
            <a:r>
              <a:rPr lang="en-US" altLang="zh-CN" sz="3993" b="1" dirty="0" err="1">
                <a:solidFill>
                  <a:srgbClr val="333399"/>
                </a:solidFill>
                <a:latin typeface="Arial" panose="020B0604020202020204" pitchFamily="34" charset="0"/>
              </a:rPr>
              <a:t>OSStartHighRdy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os_cpu_a.s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90" y="1057672"/>
            <a:ext cx="10627260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OSStartHighRdy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LDR	  R0, = NVIC_SYSPRI14       ;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设置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PendSV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异常优先级为最低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  R1, = NVIC_PENDSV_PRI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STRB    R1, [R0]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MOVS    R0, #0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设置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的值为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，开始第一次上下文切换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MSR     PSP, R0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LDR     R0, =NVIC_INT_CTRL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触发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PendSV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异常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  R1, =NVIC_PENDSVSET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STR     R1, [R0]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CPSIE   I                 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开中断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OSStartHang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B   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OSStartHang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程序应永远不会运行到这里	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22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8411057" cy="66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系统启动</a:t>
            </a:r>
            <a:r>
              <a:rPr lang="en-US" altLang="zh-CN" sz="3993" b="1" dirty="0" err="1">
                <a:solidFill>
                  <a:srgbClr val="333399"/>
                </a:solidFill>
                <a:latin typeface="Arial" panose="020B0604020202020204" pitchFamily="34" charset="0"/>
              </a:rPr>
              <a:t>PendSV_Handler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os_cpu_a.s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99" y="170068"/>
            <a:ext cx="11653771" cy="6305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22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PendSV_Handler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任务的保存，即把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寄存器的值存储到任务的堆栈中	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CPSID   I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关中断，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NMI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和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HardFault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除外，防止上下文切换被中断	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MRS   R0, PSP           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将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的值加载到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CBZ   R0,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OS_CPU_PendSVHandler_nosave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;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判断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，如果值为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则跳转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STMDB   R0!, {R4-R11}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手动存储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R4-R11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的值到当前任务的堆栈	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R1,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加载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指针的地址到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R1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，这里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属于伪指令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R1, [R1]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加载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指针到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R1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，这里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属于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ARM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指令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STR     R0, [R1]          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存储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的值到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OSTCBStkPtr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，这个时候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存的是任务空闲栈的栈顶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OS_CPU_PendSVHandler_nosave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即把下一个要运行的任务的堆栈内容加载到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寄存器中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;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LDR     R0,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endParaRPr lang="zh-CN" alt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  R1,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endParaRPr lang="zh-CN" alt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LDR     R2, [R1]</a:t>
            </a:r>
            <a:endParaRPr lang="zh-CN" alt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STR     R2, [R0]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存储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到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LDR     R0, [R2]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加载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到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LDMIA   R0!, {R4-R11};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加载需要手动保存的信息到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R4-R11	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MSR     PSP, R0                           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ORR     LR, LR, #0x04;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确保异常返回使用的堆栈指针是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PSP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，即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LR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寄存器的位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要为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</a:p>
          <a:p>
            <a:pPr>
              <a:lnSpc>
                <a:spcPts val="2200"/>
              </a:lnSpc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CPSIE   I                 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开中断</a:t>
            </a:r>
          </a:p>
          <a:p>
            <a:pPr>
              <a:lnSpc>
                <a:spcPts val="2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BX      LR                ;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异常返回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3644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7689" y="392018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系统初始化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570" y="2716972"/>
            <a:ext cx="9569150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OS_ERR err;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OSInit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(&amp;err);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创建任务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(… …);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(… …);			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将任务加入到就绪列表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[0].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 = &amp;Task1TCB;</a:t>
            </a:r>
          </a:p>
          <a:p>
            <a:pPr>
              <a:defRPr/>
            </a:pP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[1].</a:t>
            </a:r>
            <a:r>
              <a:rPr lang="en-US" altLang="zh-CN" sz="2000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i="0" dirty="0">
                <a:effectLst/>
                <a:latin typeface="Courier New" panose="02070309020205020404" pitchFamily="49" charset="0"/>
              </a:rPr>
              <a:t> = &amp;Task2TCB;	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OSStart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(&amp;err);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启动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，将不再返回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C1C00-011E-41EB-878C-B06EEAA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32" y="1255403"/>
            <a:ext cx="10062960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dirty="0"/>
              <a:t>OS </a:t>
            </a:r>
            <a:r>
              <a:rPr lang="zh-CN" altLang="en-US" sz="3200" dirty="0"/>
              <a:t>系统初始化一般是在硬件初始化完成之后来做的，主要做的工作就是初始化</a:t>
            </a:r>
            <a:r>
              <a:rPr lang="en-US" altLang="zh-CN" sz="3200" dirty="0" err="1"/>
              <a:t>uC</a:t>
            </a:r>
            <a:r>
              <a:rPr lang="en-US" altLang="zh-CN" sz="3200" dirty="0"/>
              <a:t>/OS-III </a:t>
            </a:r>
            <a:r>
              <a:rPr lang="zh-CN" altLang="en-US" sz="3200" dirty="0"/>
              <a:t>中定义的全局变量。 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54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7220913" cy="654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系统初始化</a:t>
            </a:r>
            <a:r>
              <a:rPr lang="en-US" altLang="zh-CN" sz="3993" b="1" dirty="0" err="1">
                <a:solidFill>
                  <a:srgbClr val="333399"/>
                </a:solidFill>
                <a:latin typeface="Arial" panose="020B0604020202020204" pitchFamily="34" charset="0"/>
              </a:rPr>
              <a:t>OSInit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os_core.c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90" y="1057672"/>
            <a:ext cx="10091217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(OS_ERR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OSRunning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 OS_STATE_OS_STOPPED; 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系统初始状态为停止运行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(OS_TCB *)0;//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当前任务为空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(OS_TCB *)0;//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已就绪最高优先级任务为空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OS_RdyListInit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();//</a:t>
            </a:r>
            <a:r>
              <a:rPr lang="zh-CN" altLang="en-US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初始化就绪列表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OS_ERR_NONE;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C08DBC-00E7-48BB-8C31-1417B8A07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138" y="3657962"/>
            <a:ext cx="7255411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da-DK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OS_RdyListInit</a:t>
            </a: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OS_PRIO i;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OS_RDY_LIST *p_rdy_list;	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for( i=0u; i&lt;OS_CFG_PRIO_MAX; i++ )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p_rdy_list = &amp;OSRdyList[i];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p_rdy_list-&gt;HeadPtr = (OS_TCB *)0;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p_rdy_list-&gt;TailPtr = (OS_TCB *)0;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da-DK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AB4CE9-03BE-4DD7-9824-3556133BB658}"/>
              </a:ext>
            </a:extLst>
          </p:cNvPr>
          <p:cNvGraphicFramePr>
            <a:graphicFrameLocks noGrp="1"/>
          </p:cNvGraphicFramePr>
          <p:nvPr/>
        </p:nvGraphicFramePr>
        <p:xfrm>
          <a:off x="9818914" y="3792308"/>
          <a:ext cx="1291318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EA44F0-6DB5-45E9-91D3-13BA17F1E18E}"/>
              </a:ext>
            </a:extLst>
          </p:cNvPr>
          <p:cNvCxnSpPr>
            <a:cxnSpLocks/>
          </p:cNvCxnSpPr>
          <p:nvPr/>
        </p:nvCxnSpPr>
        <p:spPr>
          <a:xfrm>
            <a:off x="11008177" y="398792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5E3C48D-CD9E-462E-B623-B023724139C5}"/>
              </a:ext>
            </a:extLst>
          </p:cNvPr>
          <p:cNvCxnSpPr>
            <a:cxnSpLocks/>
          </p:cNvCxnSpPr>
          <p:nvPr/>
        </p:nvCxnSpPr>
        <p:spPr>
          <a:xfrm>
            <a:off x="11008176" y="429273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BC591DB-8A4F-48FC-B80A-F1BDD5CDE1C4}"/>
              </a:ext>
            </a:extLst>
          </p:cNvPr>
          <p:cNvSpPr txBox="1"/>
          <p:nvPr/>
        </p:nvSpPr>
        <p:spPr>
          <a:xfrm>
            <a:off x="11495356" y="3846780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0A635F-DAE9-4540-AD0C-7AB20EACC38C}"/>
              </a:ext>
            </a:extLst>
          </p:cNvPr>
          <p:cNvCxnSpPr>
            <a:cxnSpLocks/>
          </p:cNvCxnSpPr>
          <p:nvPr/>
        </p:nvCxnSpPr>
        <p:spPr>
          <a:xfrm>
            <a:off x="11019066" y="468461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CA387E6-4DA4-4389-A112-88CF247D0FC1}"/>
              </a:ext>
            </a:extLst>
          </p:cNvPr>
          <p:cNvCxnSpPr>
            <a:cxnSpLocks/>
          </p:cNvCxnSpPr>
          <p:nvPr/>
        </p:nvCxnSpPr>
        <p:spPr>
          <a:xfrm>
            <a:off x="11019065" y="4989418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BEEED00-FC2D-432D-B414-A24DB0844E21}"/>
              </a:ext>
            </a:extLst>
          </p:cNvPr>
          <p:cNvSpPr txBox="1"/>
          <p:nvPr/>
        </p:nvSpPr>
        <p:spPr>
          <a:xfrm>
            <a:off x="11506245" y="4543467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E889661-C4CC-4CE7-A872-F84815647904}"/>
              </a:ext>
            </a:extLst>
          </p:cNvPr>
          <p:cNvCxnSpPr>
            <a:cxnSpLocks/>
          </p:cNvCxnSpPr>
          <p:nvPr/>
        </p:nvCxnSpPr>
        <p:spPr>
          <a:xfrm>
            <a:off x="10986408" y="607798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01D6455-E0E0-47F2-A9D3-B11116FD06E1}"/>
              </a:ext>
            </a:extLst>
          </p:cNvPr>
          <p:cNvCxnSpPr>
            <a:cxnSpLocks/>
          </p:cNvCxnSpPr>
          <p:nvPr/>
        </p:nvCxnSpPr>
        <p:spPr>
          <a:xfrm>
            <a:off x="10986407" y="638278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6896E1-52D8-44FB-8598-FE1FB01BB637}"/>
              </a:ext>
            </a:extLst>
          </p:cNvPr>
          <p:cNvSpPr txBox="1"/>
          <p:nvPr/>
        </p:nvSpPr>
        <p:spPr>
          <a:xfrm>
            <a:off x="11473587" y="5936834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EAD54C-163D-4A70-A99D-70E419E5790B}"/>
              </a:ext>
            </a:extLst>
          </p:cNvPr>
          <p:cNvSpPr txBox="1"/>
          <p:nvPr/>
        </p:nvSpPr>
        <p:spPr>
          <a:xfrm>
            <a:off x="7634978" y="3907887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[0]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BC4AE4-D077-4902-AA5D-CEF7ECACB1BD}"/>
              </a:ext>
            </a:extLst>
          </p:cNvPr>
          <p:cNvSpPr txBox="1"/>
          <p:nvPr/>
        </p:nvSpPr>
        <p:spPr>
          <a:xfrm>
            <a:off x="7645862" y="4659001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75A6BE-1B12-43FF-96D4-9D2F74BD2CA7}"/>
              </a:ext>
            </a:extLst>
          </p:cNvPr>
          <p:cNvSpPr txBox="1"/>
          <p:nvPr/>
        </p:nvSpPr>
        <p:spPr>
          <a:xfrm>
            <a:off x="7634978" y="6011726"/>
            <a:ext cx="2207747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[31]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21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alibri" panose="020F0502020204030204" pitchFamily="34" charset="0"/>
              <a:buNone/>
              <a:tabLst/>
              <a:defRPr/>
            </a:pPr>
            <a:endParaRPr kumimoji="0" lang="zh-CN" altLang="zh-CN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alibri" panose="020F0502020204030204" pitchFamily="34" charset="0"/>
              <a:buNone/>
              <a:tabLst/>
              <a:defRPr/>
            </a:pPr>
            <a:endParaRPr kumimoji="0" lang="zh-CN" altLang="zh-CN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52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993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多任务应用程序</a:t>
            </a:r>
            <a:endParaRPr kumimoji="0" lang="zh-CN" altLang="zh-CN" sz="3267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131" y="160598"/>
            <a:ext cx="8952860" cy="66146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OS_ERR err;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OSInit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(&amp;err);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初始化相关的全局变量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OSTaskCreate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(…, Task1, 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1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(…, Task2,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2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/ 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OSRdyList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[0].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HeadPtr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= &amp;Task1TCB;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OSRdyList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[1].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HeadPtr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= &amp;Task2TCB;	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OSStart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(&amp;err);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void Task1( void *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p_arg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) /* </a:t>
            </a:r>
            <a:r>
              <a:rPr kumimoji="0" lang="zh-CN" altLang="en-US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1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for( ;;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{	flag1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flag1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OSSched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任务切换，这里是手动切换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void Task2( void *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p_arg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) /* </a:t>
            </a:r>
            <a:r>
              <a:rPr kumimoji="0" lang="zh-CN" altLang="en-US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2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for( ;;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{	flag2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flag2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OSSched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任务切换，这里是手动切换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742057" y="153379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904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cpu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003464" y="20947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912207" y="2842201"/>
            <a:ext cx="5195299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904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内存</a:t>
            </a: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6200289" y="3363650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void Task1()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{  for(;;){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flag1 =1;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delay();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178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OSSched</a:t>
            </a: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();}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0" lang="zh-CN" altLang="en-US" sz="2178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571908" y="22526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278617" y="572492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15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Task1</a:t>
            </a: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8866860" y="3352692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void Task2()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{  for(;;){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flag1 =1;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delay();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178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OSSched</a:t>
            </a: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();}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0" lang="zh-CN" altLang="en-US" sz="2178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AFD27-9C45-4E1F-8A84-35EF4678409E}"/>
              </a:ext>
            </a:extLst>
          </p:cNvPr>
          <p:cNvSpPr/>
          <p:nvPr/>
        </p:nvSpPr>
        <p:spPr>
          <a:xfrm>
            <a:off x="9317014" y="573958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1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Task2</a:t>
            </a: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6274456" y="6255104"/>
            <a:ext cx="4591636" cy="335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系统栈空间</a:t>
            </a:r>
          </a:p>
        </p:txBody>
      </p:sp>
    </p:spTree>
    <p:extLst>
      <p:ext uri="{BB962C8B-B14F-4D97-AF65-F5344CB8AC3E}">
        <p14:creationId xmlns:p14="http://schemas.microsoft.com/office/powerpoint/2010/main" val="1924142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5" grpId="0" animBg="1"/>
      <p:bldP spid="7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作业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8952860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章 任务创建切换实验</a:t>
            </a:r>
            <a:endParaRPr lang="en-US" altLang="zh-CN" sz="3200" b="0" i="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19799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8989</TotalTime>
  <Words>3057</Words>
  <Application>Microsoft Office PowerPoint</Application>
  <PresentationFormat>宽屏</PresentationFormat>
  <Paragraphs>460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PJMWDW+STZhongsong,Bold</vt:lpstr>
      <vt:lpstr>等线</vt:lpstr>
      <vt:lpstr>等线 Light</vt:lpstr>
      <vt:lpstr>黑体</vt:lpstr>
      <vt:lpstr>宋体</vt:lpstr>
      <vt:lpstr>微软雅黑</vt:lpstr>
      <vt:lpstr>Arial</vt:lpstr>
      <vt:lpstr>Calibri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78</cp:revision>
  <dcterms:created xsi:type="dcterms:W3CDTF">2020-11-10T10:12:45Z</dcterms:created>
  <dcterms:modified xsi:type="dcterms:W3CDTF">2021-09-23T01:52:19Z</dcterms:modified>
</cp:coreProperties>
</file>