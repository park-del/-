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5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484" r:id="rId3"/>
    <p:sldId id="474" r:id="rId4"/>
    <p:sldId id="485" r:id="rId5"/>
    <p:sldId id="486" r:id="rId6"/>
    <p:sldId id="487" r:id="rId7"/>
    <p:sldId id="488" r:id="rId8"/>
    <p:sldId id="490" r:id="rId9"/>
    <p:sldId id="491" r:id="rId10"/>
    <p:sldId id="492" r:id="rId11"/>
    <p:sldId id="493" r:id="rId12"/>
    <p:sldId id="49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26" autoAdjust="0"/>
  </p:normalViewPr>
  <p:slideViewPr>
    <p:cSldViewPr snapToGrid="0">
      <p:cViewPr varScale="1">
        <p:scale>
          <a:sx n="67" d="100"/>
          <a:sy n="67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300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40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381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28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050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648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10/18/2021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3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4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2.xml"/><Relationship Id="rId7" Type="http://schemas.openxmlformats.org/officeDocument/2006/relationships/image" Target="../media/image2.jpe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2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2.jpe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2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2.jpe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44584" y="3559704"/>
            <a:ext cx="7142416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   就绪表</a:t>
            </a:r>
            <a:r>
              <a:rPr lang="en-US" altLang="zh-CN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	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23EBFA8-7224-47C1-A2F8-41E9D8D19E82}"/>
              </a:ext>
            </a:extLst>
          </p:cNvPr>
          <p:cNvSpPr/>
          <p:nvPr/>
        </p:nvSpPr>
        <p:spPr>
          <a:xfrm>
            <a:off x="10492512" y="4471640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</a:t>
            </a:r>
            <a:r>
              <a:rPr lang="en-US" altLang="zh-CN" sz="1815" b="1" dirty="0">
                <a:solidFill>
                  <a:srgbClr val="FF0000"/>
                </a:solidFill>
              </a:rPr>
              <a:t>1</a:t>
            </a:r>
            <a:r>
              <a:rPr lang="en-US" altLang="zh-CN" sz="1815" b="1" dirty="0">
                <a:solidFill>
                  <a:srgbClr val="0070C0"/>
                </a:solidFill>
              </a:rPr>
              <a:t>_TCB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BFD547A-7BAD-4975-9362-7C2C954E5505}"/>
              </a:ext>
            </a:extLst>
          </p:cNvPr>
          <p:cNvSpPr/>
          <p:nvPr/>
        </p:nvSpPr>
        <p:spPr>
          <a:xfrm>
            <a:off x="10492512" y="3792308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chemeClr val="accent1"/>
                </a:solidFill>
              </a:rPr>
              <a:t>Task</a:t>
            </a:r>
            <a:r>
              <a:rPr lang="en-US" altLang="zh-CN" sz="1815" b="1" dirty="0">
                <a:solidFill>
                  <a:srgbClr val="FF0000"/>
                </a:solidFill>
              </a:rPr>
              <a:t>0</a:t>
            </a:r>
            <a:r>
              <a:rPr lang="en-US" altLang="zh-CN" sz="1815" b="1" dirty="0">
                <a:solidFill>
                  <a:schemeClr val="accent1"/>
                </a:solidFill>
              </a:rPr>
              <a:t>_TCB</a:t>
            </a:r>
            <a:r>
              <a:rPr lang="zh-CN" altLang="en-US" sz="1815" b="1" dirty="0">
                <a:solidFill>
                  <a:schemeClr val="accent1"/>
                </a:solidFill>
              </a:rPr>
              <a:t>任务控制块</a:t>
            </a:r>
            <a:endParaRPr lang="en-US" altLang="zh-CN" sz="1815" b="1" dirty="0">
              <a:solidFill>
                <a:schemeClr val="accent1"/>
              </a:solidFill>
            </a:endParaRPr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4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任务就绪列表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165" y="962422"/>
            <a:ext cx="7093485" cy="34778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int main(void)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OS_ERR err;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</a:rPr>
              <a:t>OSInit</a:t>
            </a:r>
            <a:r>
              <a:rPr lang="en-US" altLang="zh-CN" sz="2000" dirty="0">
                <a:latin typeface="Courier New" panose="02070309020205020404" pitchFamily="49" charset="0"/>
              </a:rPr>
              <a:t>(&amp;err); /* </a:t>
            </a:r>
            <a:r>
              <a:rPr lang="zh-CN" altLang="en-US" sz="2000" dirty="0">
                <a:latin typeface="Courier New" panose="02070309020205020404" pitchFamily="49" charset="0"/>
              </a:rPr>
              <a:t>初始化相关的全局变量 *</a:t>
            </a:r>
            <a:r>
              <a:rPr lang="en-US" altLang="zh-CN" sz="2000" dirty="0">
                <a:latin typeface="Courier New" panose="02070309020205020404" pitchFamily="49" charset="0"/>
              </a:rPr>
              <a:t>/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创建任务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(… …);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(… …);			  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将任务加入到就绪列表 *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= &amp;Task1TCB;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= &amp;Task2TCB;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启动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EAB4CE9-03BE-4DD7-9824-3556133BB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400320"/>
              </p:ext>
            </p:extLst>
          </p:nvPr>
        </p:nvGraphicFramePr>
        <p:xfrm>
          <a:off x="8837839" y="3792308"/>
          <a:ext cx="1291318" cy="2750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EA44F0-6DB5-45E9-91D3-13BA17F1E18E}"/>
              </a:ext>
            </a:extLst>
          </p:cNvPr>
          <p:cNvCxnSpPr>
            <a:cxnSpLocks/>
          </p:cNvCxnSpPr>
          <p:nvPr/>
        </p:nvCxnSpPr>
        <p:spPr>
          <a:xfrm>
            <a:off x="10027102" y="398792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5E3C48D-CD9E-462E-B623-B023724139C5}"/>
              </a:ext>
            </a:extLst>
          </p:cNvPr>
          <p:cNvCxnSpPr>
            <a:cxnSpLocks/>
          </p:cNvCxnSpPr>
          <p:nvPr/>
        </p:nvCxnSpPr>
        <p:spPr>
          <a:xfrm>
            <a:off x="10027101" y="429273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0A635F-DAE9-4540-AD0C-7AB20EACC38C}"/>
              </a:ext>
            </a:extLst>
          </p:cNvPr>
          <p:cNvCxnSpPr>
            <a:cxnSpLocks/>
          </p:cNvCxnSpPr>
          <p:nvPr/>
        </p:nvCxnSpPr>
        <p:spPr>
          <a:xfrm>
            <a:off x="10037991" y="468461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CA387E6-4DA4-4389-A112-88CF247D0FC1}"/>
              </a:ext>
            </a:extLst>
          </p:cNvPr>
          <p:cNvCxnSpPr>
            <a:cxnSpLocks/>
          </p:cNvCxnSpPr>
          <p:nvPr/>
        </p:nvCxnSpPr>
        <p:spPr>
          <a:xfrm>
            <a:off x="10037990" y="4989418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E889661-C4CC-4CE7-A872-F84815647904}"/>
              </a:ext>
            </a:extLst>
          </p:cNvPr>
          <p:cNvCxnSpPr>
            <a:cxnSpLocks/>
          </p:cNvCxnSpPr>
          <p:nvPr/>
        </p:nvCxnSpPr>
        <p:spPr>
          <a:xfrm>
            <a:off x="10005333" y="607798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01D6455-E0E0-47F2-A9D3-B11116FD06E1}"/>
              </a:ext>
            </a:extLst>
          </p:cNvPr>
          <p:cNvCxnSpPr>
            <a:cxnSpLocks/>
          </p:cNvCxnSpPr>
          <p:nvPr/>
        </p:nvCxnSpPr>
        <p:spPr>
          <a:xfrm>
            <a:off x="10005332" y="6382785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6896E1-52D8-44FB-8598-FE1FB01BB637}"/>
              </a:ext>
            </a:extLst>
          </p:cNvPr>
          <p:cNvSpPr txBox="1"/>
          <p:nvPr/>
        </p:nvSpPr>
        <p:spPr>
          <a:xfrm>
            <a:off x="10492512" y="5936834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EAD54C-163D-4A70-A99D-70E419E5790B}"/>
              </a:ext>
            </a:extLst>
          </p:cNvPr>
          <p:cNvSpPr txBox="1"/>
          <p:nvPr/>
        </p:nvSpPr>
        <p:spPr>
          <a:xfrm>
            <a:off x="6653903" y="3907887"/>
            <a:ext cx="2120424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[0]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BC4AE4-D077-4902-AA5D-CEF7ECACB1BD}"/>
              </a:ext>
            </a:extLst>
          </p:cNvPr>
          <p:cNvSpPr txBox="1"/>
          <p:nvPr/>
        </p:nvSpPr>
        <p:spPr>
          <a:xfrm>
            <a:off x="6664787" y="4659001"/>
            <a:ext cx="2120424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[1]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75A6BE-1B12-43FF-96D4-9D2F74BD2CA7}"/>
              </a:ext>
            </a:extLst>
          </p:cNvPr>
          <p:cNvSpPr txBox="1"/>
          <p:nvPr/>
        </p:nvSpPr>
        <p:spPr>
          <a:xfrm>
            <a:off x="6653903" y="6011726"/>
            <a:ext cx="2207747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[31]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0983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48683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任务就绪列表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0B5875-E5FE-4FD0-9B72-EA130F00848F}"/>
              </a:ext>
            </a:extLst>
          </p:cNvPr>
          <p:cNvGrpSpPr/>
          <p:nvPr/>
        </p:nvGrpSpPr>
        <p:grpSpPr>
          <a:xfrm>
            <a:off x="6814870" y="161410"/>
            <a:ext cx="3725053" cy="1045629"/>
            <a:chOff x="6282804" y="177850"/>
            <a:chExt cx="3024336" cy="115212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5FA3C1D-58B8-4E25-9B07-6D9C7E2F076D}"/>
                </a:ext>
              </a:extLst>
            </p:cNvPr>
            <p:cNvSpPr/>
            <p:nvPr/>
          </p:nvSpPr>
          <p:spPr>
            <a:xfrm>
              <a:off x="6282804" y="177850"/>
              <a:ext cx="3024336" cy="1152128"/>
            </a:xfrm>
            <a:prstGeom prst="rect">
              <a:avLst/>
            </a:prstGeom>
            <a:solidFill>
              <a:srgbClr val="FA2812">
                <a:alpha val="5294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904" dirty="0"/>
                <a:t>cpu</a:t>
              </a:r>
            </a:p>
            <a:p>
              <a:pPr algn="ctr"/>
              <a:endParaRPr lang="en-US" altLang="zh-CN" sz="2904" dirty="0"/>
            </a:p>
            <a:p>
              <a:pPr algn="ctr"/>
              <a:endParaRPr lang="zh-CN" altLang="en-US" sz="1634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A23C78-E721-44BB-B776-EDB7EA16BB0A}"/>
                </a:ext>
              </a:extLst>
            </p:cNvPr>
            <p:cNvSpPr/>
            <p:nvPr/>
          </p:nvSpPr>
          <p:spPr>
            <a:xfrm>
              <a:off x="6498828" y="681906"/>
              <a:ext cx="2592288" cy="4320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78" b="1" dirty="0">
                  <a:solidFill>
                    <a:schemeClr val="tx1"/>
                  </a:solidFill>
                </a:rPr>
                <a:t>寄存器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1586726" y="1393466"/>
            <a:ext cx="9018547" cy="519690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2567003" y="205674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dirty="0">
                <a:solidFill>
                  <a:schemeClr val="tx1"/>
                </a:solidFill>
              </a:rPr>
              <a:t>void Task1()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{  for(;;){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    flag1 =1;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    delay();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    </a:t>
            </a:r>
            <a:r>
              <a:rPr lang="en-US" altLang="zh-CN" sz="2178" dirty="0" err="1">
                <a:solidFill>
                  <a:schemeClr val="tx1"/>
                </a:solidFill>
              </a:rPr>
              <a:t>OSSched</a:t>
            </a:r>
            <a:r>
              <a:rPr lang="en-US" altLang="zh-CN" sz="2178" dirty="0">
                <a:solidFill>
                  <a:schemeClr val="tx1"/>
                </a:solidFill>
              </a:rPr>
              <a:t>();}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}</a:t>
            </a:r>
            <a:endParaRPr lang="zh-CN" altLang="en-US" sz="2178" dirty="0">
              <a:solidFill>
                <a:schemeClr val="tx1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624997" y="806809"/>
            <a:ext cx="588166" cy="1249803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2893763" y="1528676"/>
            <a:ext cx="1437740" cy="4512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dirty="0">
                <a:solidFill>
                  <a:schemeClr val="tx1"/>
                </a:solidFill>
              </a:rPr>
              <a:t>Task1</a:t>
            </a:r>
            <a:r>
              <a:rPr lang="zh-CN" altLang="en-US" sz="1815" dirty="0">
                <a:solidFill>
                  <a:schemeClr val="tx1"/>
                </a:solidFill>
              </a:rPr>
              <a:t>堆栈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0E97D1-6D2D-4AB8-BB45-0E3D2C2A6CE2}"/>
              </a:ext>
            </a:extLst>
          </p:cNvPr>
          <p:cNvSpPr/>
          <p:nvPr/>
        </p:nvSpPr>
        <p:spPr>
          <a:xfrm>
            <a:off x="2847748" y="4416182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dirty="0">
                <a:solidFill>
                  <a:schemeClr val="tx1"/>
                </a:solidFill>
              </a:rPr>
              <a:t>Task1  TCB</a:t>
            </a:r>
          </a:p>
          <a:p>
            <a:pPr algn="ctr"/>
            <a:r>
              <a:rPr lang="en-US" altLang="zh-CN" sz="1815" dirty="0">
                <a:solidFill>
                  <a:srgbClr val="FF0000"/>
                </a:solidFill>
              </a:rPr>
              <a:t>tick</a:t>
            </a:r>
            <a:endParaRPr lang="zh-CN" altLang="en-US" sz="1815" dirty="0">
              <a:solidFill>
                <a:srgbClr val="FF0000"/>
              </a:solidFill>
            </a:endParaRPr>
          </a:p>
        </p:txBody>
      </p: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528E0EAC-8632-447C-A563-4D982179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11825"/>
              </p:ext>
            </p:extLst>
          </p:nvPr>
        </p:nvGraphicFramePr>
        <p:xfrm>
          <a:off x="5178182" y="3552103"/>
          <a:ext cx="1767840" cy="187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361914019"/>
                    </a:ext>
                  </a:extLst>
                </a:gridCol>
              </a:tblGrid>
              <a:tr h="122221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bg1"/>
                          </a:solidFill>
                        </a:rPr>
                        <a:t>任务就绪列表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40824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41042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57176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20569"/>
                  </a:ext>
                </a:extLst>
              </a:tr>
              <a:tr h="40718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87659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D7941A2F-15C9-4857-B31F-E210D77FB7BD}"/>
              </a:ext>
            </a:extLst>
          </p:cNvPr>
          <p:cNvSpPr/>
          <p:nvPr/>
        </p:nvSpPr>
        <p:spPr>
          <a:xfrm>
            <a:off x="7711123" y="205674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dirty="0">
                <a:solidFill>
                  <a:schemeClr val="tx1"/>
                </a:solidFill>
              </a:rPr>
              <a:t>void Task2()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{  for(;;){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    flag2 =1;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    delay();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    </a:t>
            </a:r>
            <a:r>
              <a:rPr lang="en-US" altLang="zh-CN" sz="2178" dirty="0" err="1">
                <a:solidFill>
                  <a:schemeClr val="tx1"/>
                </a:solidFill>
              </a:rPr>
              <a:t>OSSched</a:t>
            </a:r>
            <a:r>
              <a:rPr lang="en-US" altLang="zh-CN" sz="2178" dirty="0">
                <a:solidFill>
                  <a:schemeClr val="tx1"/>
                </a:solidFill>
              </a:rPr>
              <a:t>();}</a:t>
            </a:r>
          </a:p>
          <a:p>
            <a:r>
              <a:rPr lang="en-US" altLang="zh-CN" sz="2178" dirty="0">
                <a:solidFill>
                  <a:schemeClr val="tx1"/>
                </a:solidFill>
              </a:rPr>
              <a:t>}</a:t>
            </a:r>
            <a:endParaRPr lang="zh-CN" altLang="en-US" sz="2178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531919-40BC-452F-9BB3-46C5C1BE5E9E}"/>
              </a:ext>
            </a:extLst>
          </p:cNvPr>
          <p:cNvSpPr/>
          <p:nvPr/>
        </p:nvSpPr>
        <p:spPr>
          <a:xfrm>
            <a:off x="7711123" y="1528676"/>
            <a:ext cx="1437740" cy="4512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dirty="0">
                <a:solidFill>
                  <a:schemeClr val="tx1"/>
                </a:solidFill>
              </a:rPr>
              <a:t>Task2</a:t>
            </a:r>
            <a:r>
              <a:rPr lang="zh-CN" altLang="en-US" sz="1815" dirty="0">
                <a:solidFill>
                  <a:schemeClr val="tx1"/>
                </a:solidFill>
              </a:rPr>
              <a:t>堆栈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A298F0-15CE-4A4E-B395-3863A09EED5D}"/>
              </a:ext>
            </a:extLst>
          </p:cNvPr>
          <p:cNvSpPr/>
          <p:nvPr/>
        </p:nvSpPr>
        <p:spPr>
          <a:xfrm>
            <a:off x="7711123" y="4306877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dirty="0">
                <a:solidFill>
                  <a:schemeClr val="tx1"/>
                </a:solidFill>
              </a:rPr>
              <a:t>Task2  TCB</a:t>
            </a:r>
          </a:p>
          <a:p>
            <a:pPr algn="ctr"/>
            <a:r>
              <a:rPr lang="en-US" altLang="zh-CN" sz="1815" dirty="0">
                <a:solidFill>
                  <a:srgbClr val="FF0000"/>
                </a:solidFill>
              </a:rPr>
              <a:t>tick</a:t>
            </a:r>
            <a:endParaRPr lang="zh-CN" altLang="en-US" sz="1815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7DB3F12-C3E0-48BD-B6F7-BD015B6BB917}"/>
              </a:ext>
            </a:extLst>
          </p:cNvPr>
          <p:cNvCxnSpPr>
            <a:endCxn id="20" idx="3"/>
          </p:cNvCxnSpPr>
          <p:nvPr/>
        </p:nvCxnSpPr>
        <p:spPr>
          <a:xfrm flipH="1">
            <a:off x="4285488" y="4095750"/>
            <a:ext cx="1261022" cy="68242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960D773-EB9C-48E7-A3E9-A034C053FDB8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6267450" y="4426031"/>
            <a:ext cx="1443673" cy="24284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文本框 5">
            <a:extLst>
              <a:ext uri="{FF2B5EF4-FFF2-40B4-BE49-F238E27FC236}">
                <a16:creationId xmlns:a16="http://schemas.microsoft.com/office/drawing/2014/main" id="{1AF4941B-6CCC-477A-83FB-FA7355D5E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45" y="5819543"/>
            <a:ext cx="9922703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原型系统只有任务就绪列表，调度器实际上只起到任务切换作用，没有实施真正的任务调度，也不具备相关的数据结构支持。</a:t>
            </a:r>
            <a:endParaRPr lang="en-US" altLang="zh-CN" sz="240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B809DE-9446-4050-B2CB-B377C8144790}"/>
              </a:ext>
            </a:extLst>
          </p:cNvPr>
          <p:cNvSpPr/>
          <p:nvPr/>
        </p:nvSpPr>
        <p:spPr>
          <a:xfrm>
            <a:off x="7949248" y="5135552"/>
            <a:ext cx="1437740" cy="617316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dirty="0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en-US" altLang="zh-CN" sz="1815" dirty="0">
                <a:solidFill>
                  <a:schemeClr val="tx1"/>
                </a:solidFill>
              </a:rPr>
              <a:t>TCB</a:t>
            </a:r>
            <a:endParaRPr lang="zh-CN" altLang="en-US" sz="1815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3E489E0-1E82-4D16-8342-3E045F2057D7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549736" y="5114971"/>
            <a:ext cx="1399512" cy="32923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7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23EBFA8-7224-47C1-A2F8-41E9D8D19E82}"/>
              </a:ext>
            </a:extLst>
          </p:cNvPr>
          <p:cNvSpPr/>
          <p:nvPr/>
        </p:nvSpPr>
        <p:spPr>
          <a:xfrm>
            <a:off x="10492512" y="4471640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</a:t>
            </a:r>
            <a:r>
              <a:rPr lang="en-US" altLang="zh-CN" sz="1815" b="1" dirty="0">
                <a:solidFill>
                  <a:srgbClr val="FF0000"/>
                </a:solidFill>
              </a:rPr>
              <a:t>1</a:t>
            </a:r>
            <a:r>
              <a:rPr lang="en-US" altLang="zh-CN" sz="1815" b="1" dirty="0">
                <a:solidFill>
                  <a:srgbClr val="0070C0"/>
                </a:solidFill>
              </a:rPr>
              <a:t>_TCB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BFD547A-7BAD-4975-9362-7C2C954E5505}"/>
              </a:ext>
            </a:extLst>
          </p:cNvPr>
          <p:cNvSpPr/>
          <p:nvPr/>
        </p:nvSpPr>
        <p:spPr>
          <a:xfrm>
            <a:off x="10492512" y="3792308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chemeClr val="accent1"/>
                </a:solidFill>
              </a:rPr>
              <a:t>Task</a:t>
            </a:r>
            <a:r>
              <a:rPr lang="en-US" altLang="zh-CN" sz="1815" b="1" dirty="0">
                <a:solidFill>
                  <a:srgbClr val="FF0000"/>
                </a:solidFill>
              </a:rPr>
              <a:t>0</a:t>
            </a:r>
            <a:r>
              <a:rPr lang="en-US" altLang="zh-CN" sz="1815" b="1" dirty="0">
                <a:solidFill>
                  <a:schemeClr val="accent1"/>
                </a:solidFill>
              </a:rPr>
              <a:t>_TCB</a:t>
            </a:r>
            <a:r>
              <a:rPr lang="zh-CN" altLang="en-US" sz="1815" b="1" dirty="0">
                <a:solidFill>
                  <a:schemeClr val="accent1"/>
                </a:solidFill>
              </a:rPr>
              <a:t>任务控制块</a:t>
            </a:r>
            <a:endParaRPr lang="en-US" altLang="zh-CN" sz="1815" b="1" dirty="0">
              <a:solidFill>
                <a:schemeClr val="accent1"/>
              </a:solidFill>
            </a:endParaRPr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4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任务就绪位表（优先级表）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165" y="962422"/>
            <a:ext cx="11408310" cy="13849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uC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/OS-III 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中，任务被创建后，任务的 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TCB 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会被放入就绪列表中，表示任务在就绪，随时可能被运行。就绪列表包含一个表示任务优先级的优先级表，一个存储任务 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TCB 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TCB 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双向链表。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EAB4CE9-03BE-4DD7-9824-3556133BB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736261"/>
              </p:ext>
            </p:extLst>
          </p:nvPr>
        </p:nvGraphicFramePr>
        <p:xfrm>
          <a:off x="9023103" y="3792308"/>
          <a:ext cx="1106054" cy="2750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054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EA44F0-6DB5-45E9-91D3-13BA17F1E18E}"/>
              </a:ext>
            </a:extLst>
          </p:cNvPr>
          <p:cNvCxnSpPr>
            <a:cxnSpLocks/>
          </p:cNvCxnSpPr>
          <p:nvPr/>
        </p:nvCxnSpPr>
        <p:spPr>
          <a:xfrm>
            <a:off x="10027102" y="398792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5E3C48D-CD9E-462E-B623-B023724139C5}"/>
              </a:ext>
            </a:extLst>
          </p:cNvPr>
          <p:cNvCxnSpPr>
            <a:cxnSpLocks/>
          </p:cNvCxnSpPr>
          <p:nvPr/>
        </p:nvCxnSpPr>
        <p:spPr>
          <a:xfrm>
            <a:off x="10027101" y="429273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0A635F-DAE9-4540-AD0C-7AB20EACC38C}"/>
              </a:ext>
            </a:extLst>
          </p:cNvPr>
          <p:cNvCxnSpPr>
            <a:cxnSpLocks/>
          </p:cNvCxnSpPr>
          <p:nvPr/>
        </p:nvCxnSpPr>
        <p:spPr>
          <a:xfrm>
            <a:off x="10037991" y="468461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CA387E6-4DA4-4389-A112-88CF247D0FC1}"/>
              </a:ext>
            </a:extLst>
          </p:cNvPr>
          <p:cNvCxnSpPr>
            <a:cxnSpLocks/>
          </p:cNvCxnSpPr>
          <p:nvPr/>
        </p:nvCxnSpPr>
        <p:spPr>
          <a:xfrm>
            <a:off x="10037990" y="4989418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E889661-C4CC-4CE7-A872-F84815647904}"/>
              </a:ext>
            </a:extLst>
          </p:cNvPr>
          <p:cNvCxnSpPr>
            <a:cxnSpLocks/>
          </p:cNvCxnSpPr>
          <p:nvPr/>
        </p:nvCxnSpPr>
        <p:spPr>
          <a:xfrm>
            <a:off x="10005333" y="607798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01D6455-E0E0-47F2-A9D3-B11116FD06E1}"/>
              </a:ext>
            </a:extLst>
          </p:cNvPr>
          <p:cNvCxnSpPr>
            <a:cxnSpLocks/>
          </p:cNvCxnSpPr>
          <p:nvPr/>
        </p:nvCxnSpPr>
        <p:spPr>
          <a:xfrm>
            <a:off x="10005332" y="6382785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6896E1-52D8-44FB-8598-FE1FB01BB637}"/>
              </a:ext>
            </a:extLst>
          </p:cNvPr>
          <p:cNvSpPr txBox="1"/>
          <p:nvPr/>
        </p:nvSpPr>
        <p:spPr>
          <a:xfrm>
            <a:off x="10492512" y="5936834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EAD54C-163D-4A70-A99D-70E419E5790B}"/>
              </a:ext>
            </a:extLst>
          </p:cNvPr>
          <p:cNvSpPr txBox="1"/>
          <p:nvPr/>
        </p:nvSpPr>
        <p:spPr>
          <a:xfrm>
            <a:off x="7425428" y="3907887"/>
            <a:ext cx="2120424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[0]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BC4AE4-D077-4902-AA5D-CEF7ECACB1BD}"/>
              </a:ext>
            </a:extLst>
          </p:cNvPr>
          <p:cNvSpPr txBox="1"/>
          <p:nvPr/>
        </p:nvSpPr>
        <p:spPr>
          <a:xfrm>
            <a:off x="7436312" y="4659001"/>
            <a:ext cx="2120424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75A6BE-1B12-43FF-96D4-9D2F74BD2CA7}"/>
              </a:ext>
            </a:extLst>
          </p:cNvPr>
          <p:cNvSpPr txBox="1"/>
          <p:nvPr/>
        </p:nvSpPr>
        <p:spPr>
          <a:xfrm>
            <a:off x="7425428" y="6011726"/>
            <a:ext cx="2207747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000" b="1" dirty="0">
                <a:solidFill>
                  <a:schemeClr val="accent1"/>
                </a:solidFill>
              </a:rPr>
              <a:t>[31]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08B2D1-A2BF-42F9-A52E-2E79B57AC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959953"/>
            <a:ext cx="7409136" cy="311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328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4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任务就绪位表（优先级表）定义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165" y="962422"/>
            <a:ext cx="11408310" cy="1692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#define  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+mn-ea"/>
              </a:rPr>
              <a:t>OS_PRIO_TBL_SIZE      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+mn-ea"/>
              </a:rPr>
              <a:t>((OS_CFG_PRIO_MAX - 1u) / (DEF_INT_CPU_NBR_BITS) + 1u)</a:t>
            </a:r>
          </a:p>
          <a:p>
            <a:pPr>
              <a:defRPr/>
            </a:pPr>
            <a:endParaRPr lang="en-US" altLang="zh-CN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/*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定义优先级表，在</a:t>
            </a:r>
            <a:r>
              <a:rPr lang="en-US" altLang="zh-CN" sz="28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os.h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中用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extern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声明*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>
              <a:defRPr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extern  CPU_DATA   </a:t>
            </a:r>
            <a:r>
              <a:rPr lang="en-US" altLang="zh-CN" sz="2800" b="1" i="0" dirty="0" err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OSPrioTbl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800" b="1" i="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OS_PRIO_TBL_SIZE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08B2D1-A2BF-42F9-A52E-2E79B57AC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49" y="2959953"/>
            <a:ext cx="11840431" cy="325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2409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4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优先级表函数讲解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273335C-E218-4D36-95F8-5F4A88D9B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73434"/>
              </p:ext>
            </p:extLst>
          </p:nvPr>
        </p:nvGraphicFramePr>
        <p:xfrm>
          <a:off x="1733551" y="1099979"/>
          <a:ext cx="7410449" cy="2286000"/>
        </p:xfrm>
        <a:graphic>
          <a:graphicData uri="http://schemas.openxmlformats.org/drawingml/2006/table">
            <a:tbl>
              <a:tblPr/>
              <a:tblGrid>
                <a:gridCol w="2892262">
                  <a:extLst>
                    <a:ext uri="{9D8B030D-6E8A-4147-A177-3AD203B41FA5}">
                      <a16:colId xmlns:a16="http://schemas.microsoft.com/office/drawing/2014/main" val="2587729443"/>
                    </a:ext>
                  </a:extLst>
                </a:gridCol>
                <a:gridCol w="4518187">
                  <a:extLst>
                    <a:ext uri="{9D8B030D-6E8A-4147-A177-3AD203B41FA5}">
                      <a16:colId xmlns:a16="http://schemas.microsoft.com/office/drawing/2014/main" val="2717201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2400" b="0" i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函数名称 </a:t>
                      </a:r>
                      <a:endParaRPr lang="zh-CN" alt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函数作用</a:t>
                      </a:r>
                      <a:endParaRPr lang="zh-CN" alt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51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OS_PrioInit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初始化优先级表</a:t>
                      </a:r>
                      <a:endParaRPr lang="zh-CN" alt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492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OS_PrioInsert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设置优先级表中相应的位</a:t>
                      </a:r>
                      <a:endParaRPr lang="zh-CN" alt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54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OS_PrioRemove 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清除优先级表中相应的位</a:t>
                      </a:r>
                      <a:endParaRPr lang="zh-CN" alt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58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OS_PrioGetHighest 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查找最高的优先级</a:t>
                      </a:r>
                      <a:endParaRPr lang="zh-CN" alt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598924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925212C-55E9-4259-8498-6DC4248006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856" y="3523907"/>
            <a:ext cx="10826050" cy="223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3173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7220913" cy="641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36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OS_PrioInit</a:t>
            </a:r>
            <a:r>
              <a:rPr lang="en-US" altLang="zh-CN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函数（</a:t>
            </a:r>
            <a:r>
              <a:rPr lang="en-US" altLang="zh-CN" sz="3600" b="1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r>
              <a:rPr lang="en-US" altLang="zh-CN" sz="36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_prio.c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b="1" dirty="0"/>
              <a:t> </a:t>
            </a:r>
            <a:endParaRPr lang="zh-CN" altLang="zh-CN" sz="36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42" y="1764472"/>
            <a:ext cx="9569150" cy="2554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初始化优先级表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OS_PrioInit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 void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CPU_DATA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默认全部初始化为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0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for(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=0u;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&lt;OS_PRIO_TBL_SIZE;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++ ){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] = (CPU_DATA)0;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C1C00-011E-41EB-878C-B06EEAA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32" y="1179203"/>
            <a:ext cx="1006296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800" dirty="0" err="1"/>
              <a:t>OS_PrioInit</a:t>
            </a:r>
            <a:r>
              <a:rPr lang="en-US" altLang="zh-CN" sz="2800" dirty="0"/>
              <a:t>()</a:t>
            </a:r>
            <a:r>
              <a:rPr lang="zh-CN" altLang="en-US" sz="2800" dirty="0"/>
              <a:t>函数用于初始化优先级表， 在 </a:t>
            </a:r>
            <a:r>
              <a:rPr lang="en-US" altLang="zh-CN" sz="2800" dirty="0" err="1"/>
              <a:t>OSInit</a:t>
            </a:r>
            <a:r>
              <a:rPr lang="en-US" altLang="zh-CN" sz="2800" dirty="0"/>
              <a:t>()</a:t>
            </a:r>
            <a:r>
              <a:rPr lang="zh-CN" altLang="en-US" sz="2800" dirty="0"/>
              <a:t>函数中被调用 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E9DAA6-1746-436C-953D-08DA94588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95" y="4302693"/>
            <a:ext cx="12192000" cy="250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0114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7220913" cy="622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36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OS_PrioInsert</a:t>
            </a:r>
            <a:r>
              <a:rPr lang="en-US" altLang="zh-CN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()</a:t>
            </a:r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 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1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r>
              <a:rPr lang="en-US" altLang="zh-CN" sz="36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_prio.c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b="1" dirty="0"/>
              <a:t> </a:t>
            </a:r>
            <a:endParaRPr lang="zh-CN" altLang="zh-CN" sz="36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C1C00-011E-41EB-878C-B06EEAA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224" y="1179203"/>
            <a:ext cx="11759026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800" dirty="0" err="1"/>
              <a:t>OS_PrioInsert</a:t>
            </a:r>
            <a:r>
              <a:rPr lang="en-US" altLang="zh-CN" sz="2800" dirty="0"/>
              <a:t>()</a:t>
            </a:r>
            <a:r>
              <a:rPr lang="zh-CN" altLang="en-US" sz="2800" dirty="0"/>
              <a:t>用于置位优先级表中相应的位，会被 </a:t>
            </a:r>
            <a:r>
              <a:rPr lang="en-US" altLang="zh-CN" sz="2800" dirty="0" err="1"/>
              <a:t>OS_RdyListInsert</a:t>
            </a:r>
            <a:r>
              <a:rPr lang="en-US" altLang="zh-CN" sz="2800" dirty="0"/>
              <a:t> ()</a:t>
            </a:r>
            <a:r>
              <a:rPr lang="zh-CN" altLang="en-US" sz="2800" dirty="0"/>
              <a:t>函数调用 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935" y="1714082"/>
            <a:ext cx="10960416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OS_PrioInsert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(OS_PRIO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   CPU_DATA  bit;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CPU_DATA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bit_nbr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OS_PRIO   ix;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求模操作，获取优先级表数组的下标索引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ix            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/ DEF_INT_CPU_NBR_BITS;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求余操作，将优先级限制在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DEF_INT_CPU_NBR_BITS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之内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bit_nbr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= (CPU_DATA)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&amp; (DEF_INT_CPU_NBR_BITS - 1u);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获取优先级在优先级表中对应的位的位置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bit            = 1u;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bit          &lt;&lt;= (DEF_INT_CPU_NBR_BITS - 1u) -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bit_nbr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将优先级在优先级表中对应的位置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[ix] |= bit;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239019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8321761" cy="622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36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OS_PrioRemove</a:t>
            </a:r>
            <a:r>
              <a:rPr lang="en-US" altLang="zh-CN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() </a:t>
            </a:r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 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1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r>
              <a:rPr lang="en-US" altLang="zh-CN" sz="36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_prio.c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b="1" dirty="0"/>
              <a:t> </a:t>
            </a:r>
            <a:endParaRPr lang="zh-CN" altLang="zh-CN" sz="36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C1C00-011E-41EB-878C-B06EEAA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224" y="1179203"/>
            <a:ext cx="11759026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800" dirty="0" err="1"/>
              <a:t>OS_PrioRemove</a:t>
            </a:r>
            <a:r>
              <a:rPr lang="en-US" altLang="zh-CN" sz="2800" dirty="0"/>
              <a:t>()</a:t>
            </a:r>
            <a:r>
              <a:rPr lang="zh-CN" altLang="en-US" sz="2800" dirty="0"/>
              <a:t>用于清除优先级表中相应的位 ，会被 </a:t>
            </a:r>
            <a:r>
              <a:rPr lang="en-US" altLang="zh-CN" sz="2800" dirty="0" err="1"/>
              <a:t>OS_RdyListRemove</a:t>
            </a:r>
            <a:r>
              <a:rPr lang="en-US" altLang="zh-CN" sz="2800" dirty="0"/>
              <a:t> ()</a:t>
            </a:r>
            <a:r>
              <a:rPr lang="zh-CN" altLang="en-US" sz="2800" dirty="0"/>
              <a:t>函数调用 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935" y="1714082"/>
            <a:ext cx="10960416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OS_PrioRemove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(OS_PRIO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   CPU_DATA  bit;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CPU_DATA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bit_nbr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OS_PRIO   ix;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求模操作，获取优先级表数组的下标索引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ix            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/ DEF_INT_CPU_NBR_BITS;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求余操作，将优先级限制在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DEF_INT_CPU_NBR_BITS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之内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bit_nbr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= (CPU_DATA)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&amp; (DEF_INT_CPU_NBR_BITS - 1u);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获取优先级在优先级表中对应的位的位置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bit            = 1u;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bit          &lt;&lt;= (DEF_INT_CPU_NBR_BITS - 1u) -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bit_nbr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将优先级在优先级表中对应的位清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0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[ix] &amp;= ~bit;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977859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8321761" cy="622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en-US" altLang="zh-CN" sz="36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OS_PrioGetHighest</a:t>
            </a:r>
            <a:r>
              <a:rPr lang="en-US" altLang="zh-CN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() </a:t>
            </a:r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600" b="1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</a:t>
            </a:r>
            <a:r>
              <a:rPr lang="en-US" altLang="zh-CN" sz="36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_prio.c</a:t>
            </a:r>
            <a:r>
              <a:rPr lang="zh-CN" altLang="en-US" sz="36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3600" b="1" dirty="0"/>
              <a:t> </a:t>
            </a:r>
            <a:endParaRPr lang="zh-CN" altLang="zh-CN" sz="36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C1C00-011E-41EB-878C-B06EEAA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4" y="1179203"/>
            <a:ext cx="1122997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dirty="0" err="1"/>
              <a:t>OS_PrioGetHighest</a:t>
            </a:r>
            <a:r>
              <a:rPr lang="en-US" altLang="zh-CN" sz="2400" dirty="0"/>
              <a:t>()</a:t>
            </a:r>
            <a:r>
              <a:rPr lang="zh-CN" altLang="en-US" sz="2400" dirty="0"/>
              <a:t>函数用于从优先级表中查找最高的优先级 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935" y="1714082"/>
            <a:ext cx="10960416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OS_PRIO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OS_PrioGetHighest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(void)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   CPU_DATA 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OS_PRIO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= (OS_PRIO)0;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获取优先级表首地址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&amp;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OSPrioTbl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找到数值不为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的数组成员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while (*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(CPU_DATA)0)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+= DEF_INT_CPU_NBR_BITS;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++;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} 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找到优先级表中置位的最高的优先级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+= (OS_PRIO)</a:t>
            </a:r>
            <a:r>
              <a:rPr lang="en-US" altLang="zh-CN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CPU_CntLeadZeros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p_tbl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return 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B7C91435-F261-418D-8AC2-6A501D0C3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686" y="3206798"/>
            <a:ext cx="4459190" cy="13234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计算前导零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CPU_CntLeadZeros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CLZ     R0, R0 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BX      LR</a:t>
            </a:r>
          </a:p>
        </p:txBody>
      </p:sp>
    </p:spTree>
    <p:extLst>
      <p:ext uri="{BB962C8B-B14F-4D97-AF65-F5344CB8AC3E}">
        <p14:creationId xmlns:p14="http://schemas.microsoft.com/office/powerpoint/2010/main" val="2218886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8321761" cy="63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就绪列表</a:t>
            </a:r>
            <a:r>
              <a:rPr lang="zh-CN" altLang="en-US" sz="4000" b="1" dirty="0"/>
              <a:t> 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436" y="1622075"/>
            <a:ext cx="7126190" cy="4708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os_tcb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CPU_STK        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StkPtr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CPU_STK_SIZE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StkSize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任务延时周期个数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OS_TICK     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任务优先级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OS_PRIO         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Prio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就绪列表双向链表的下一个指针 *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	OS_TCB          *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NextPtr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就绪列表双向链表的前一个指针 *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  OS_TCB          *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PrevPtr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  <a:p>
            <a:pPr>
              <a:defRPr/>
            </a:pPr>
            <a:r>
              <a:rPr lang="pt-BR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OS_EXT    OS_TCB         *OSTCBCurPtr;</a:t>
            </a:r>
          </a:p>
          <a:p>
            <a:pPr>
              <a:defRPr/>
            </a:pPr>
            <a:r>
              <a:rPr lang="pt-BR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OS_EXT    OS_TCB         *OSTCBHighRdyPtr;</a:t>
            </a:r>
            <a:endParaRPr lang="en-US" altLang="zh-CN" sz="2000" b="1" dirty="0">
              <a:solidFill>
                <a:srgbClr val="00B05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05184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8321761" cy="63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就绪列表函数讲解（详见</a:t>
            </a:r>
            <a:r>
              <a:rPr lang="en-US" altLang="zh-CN" sz="4000" b="1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os_core.c</a:t>
            </a:r>
            <a:r>
              <a:rPr lang="en-US" altLang="zh-CN" sz="40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E318C2C-F3BC-427C-9574-DD7751E5B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023011"/>
              </p:ext>
            </p:extLst>
          </p:nvPr>
        </p:nvGraphicFramePr>
        <p:xfrm>
          <a:off x="1733551" y="1214279"/>
          <a:ext cx="9105899" cy="3200400"/>
        </p:xfrm>
        <a:graphic>
          <a:graphicData uri="http://schemas.openxmlformats.org/drawingml/2006/table">
            <a:tbl>
              <a:tblPr/>
              <a:tblGrid>
                <a:gridCol w="4122330">
                  <a:extLst>
                    <a:ext uri="{9D8B030D-6E8A-4147-A177-3AD203B41FA5}">
                      <a16:colId xmlns:a16="http://schemas.microsoft.com/office/drawing/2014/main" val="2587729443"/>
                    </a:ext>
                  </a:extLst>
                </a:gridCol>
                <a:gridCol w="4983569">
                  <a:extLst>
                    <a:ext uri="{9D8B030D-6E8A-4147-A177-3AD203B41FA5}">
                      <a16:colId xmlns:a16="http://schemas.microsoft.com/office/drawing/2014/main" val="2717201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2400" b="0" i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函数名称 </a:t>
                      </a:r>
                      <a:endParaRPr lang="zh-CN" altLang="en-US" sz="24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函数作用</a:t>
                      </a:r>
                      <a:endParaRPr lang="zh-CN" alt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51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OS_RdyListInit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altLang="zh-CN" sz="2400" dirty="0"/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将就绪列表 </a:t>
                      </a:r>
                      <a:r>
                        <a:rPr lang="en-US" altLang="zh-CN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OSRdyList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[]</a:t>
                      </a:r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初始化为空</a:t>
                      </a:r>
                      <a:r>
                        <a:rPr lang="zh-CN" altLang="en-US" sz="2400" dirty="0"/>
                        <a:t> </a:t>
                      </a:r>
                      <a:endParaRPr lang="zh-CN" alt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492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OS_RdyListInsertHead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在链表头部插入一个 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TCB </a:t>
                      </a:r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节点</a:t>
                      </a:r>
                      <a:r>
                        <a:rPr lang="zh-CN" altLang="en-US" sz="2400" dirty="0"/>
                        <a:t> </a:t>
                      </a:r>
                      <a:endParaRPr lang="zh-CN" alt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54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OS_RdyListInsertTail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altLang="zh-CN" sz="2400" dirty="0"/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在链表尾部插入一个 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TCB </a:t>
                      </a:r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节点</a:t>
                      </a:r>
                      <a:r>
                        <a:rPr lang="zh-CN" altLang="en-US" sz="2400" dirty="0"/>
                        <a:t> </a:t>
                      </a:r>
                      <a:endParaRPr lang="zh-CN" alt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58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OS_RdyListInsert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altLang="zh-CN" sz="2400" dirty="0"/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将任务的 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TCB </a:t>
                      </a:r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插入到就绪列表</a:t>
                      </a:r>
                      <a:r>
                        <a:rPr lang="zh-CN" altLang="en-US" sz="2400" dirty="0"/>
                        <a:t> </a:t>
                      </a:r>
                      <a:endParaRPr lang="en-US" altLang="zh-CN" sz="2400" b="0" i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59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OS_RdyListMoveHeadToTail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altLang="zh-CN" sz="2400" dirty="0"/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将节点从链表头部移动到尾部</a:t>
                      </a:r>
                      <a:r>
                        <a:rPr lang="zh-CN" altLang="en-US" sz="2400" dirty="0"/>
                        <a:t> </a:t>
                      </a:r>
                      <a:endParaRPr lang="en-US" altLang="zh-CN" sz="2400" b="0" i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24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OS_RdyListRemove</a:t>
                      </a:r>
                      <a:r>
                        <a:rPr lang="en-US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altLang="zh-CN" sz="2400" dirty="0"/>
                        <a:t> 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从链表中移除一个节点</a:t>
                      </a:r>
                      <a:r>
                        <a:rPr lang="zh-CN" altLang="en-US" sz="2400" dirty="0"/>
                        <a:t> </a:t>
                      </a:r>
                      <a:endParaRPr lang="en-US" altLang="zh-CN" sz="2400" b="0" i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7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38869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25250</TotalTime>
  <Words>1320</Words>
  <Application>Microsoft Office PowerPoint</Application>
  <PresentationFormat>宽屏</PresentationFormat>
  <Paragraphs>201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PJMWDW+STZhongsong,Bold</vt:lpstr>
      <vt:lpstr>等线</vt:lpstr>
      <vt:lpstr>等线 Light</vt:lpstr>
      <vt:lpstr>黑体</vt:lpstr>
      <vt:lpstr>宋体</vt:lpstr>
      <vt:lpstr>Arial</vt:lpstr>
      <vt:lpstr>Calibri</vt:lpstr>
      <vt:lpstr>Courier New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257</cp:revision>
  <dcterms:created xsi:type="dcterms:W3CDTF">2020-11-10T10:12:45Z</dcterms:created>
  <dcterms:modified xsi:type="dcterms:W3CDTF">2021-10-21T01:43:48Z</dcterms:modified>
</cp:coreProperties>
</file>