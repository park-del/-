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484" r:id="rId3"/>
    <p:sldId id="523" r:id="rId4"/>
    <p:sldId id="516" r:id="rId5"/>
    <p:sldId id="474" r:id="rId6"/>
    <p:sldId id="518" r:id="rId7"/>
    <p:sldId id="517" r:id="rId8"/>
    <p:sldId id="524" r:id="rId9"/>
    <p:sldId id="525" r:id="rId10"/>
    <p:sldId id="526" r:id="rId11"/>
    <p:sldId id="527" r:id="rId12"/>
    <p:sldId id="528" r:id="rId13"/>
    <p:sldId id="529" r:id="rId14"/>
    <p:sldId id="530" r:id="rId15"/>
    <p:sldId id="53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3826" autoAdjust="0"/>
  </p:normalViewPr>
  <p:slideViewPr>
    <p:cSldViewPr snapToGrid="0">
      <p:cViewPr varScale="1">
        <p:scale>
          <a:sx n="66" d="100"/>
          <a:sy n="66" d="100"/>
        </p:scale>
        <p:origin x="4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11/23/2021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.jpe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44584" y="3559704"/>
            <a:ext cx="7142416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7215"/>
              </a:lnSpc>
            </a:pP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挂起与恢复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BCB1FBC1-2A4C-4D32-A57E-18180287EF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9481" y="1057778"/>
            <a:ext cx="5569819" cy="2718257"/>
          </a:xfrm>
          <a:prstGeom prst="rect">
            <a:avLst/>
          </a:prstGeom>
        </p:spPr>
      </p:pic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5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任务状态的变化</a:t>
            </a:r>
            <a:endParaRPr lang="zh-CN" altLang="zh-CN" sz="44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FA671B6-1192-4468-935A-8C5EF0F53252}"/>
              </a:ext>
            </a:extLst>
          </p:cNvPr>
          <p:cNvSpPr/>
          <p:nvPr/>
        </p:nvSpPr>
        <p:spPr>
          <a:xfrm>
            <a:off x="336883" y="1799923"/>
            <a:ext cx="1015991" cy="77583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run</a:t>
            </a:r>
            <a:endParaRPr lang="zh-CN" altLang="en-US" sz="2400" b="1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8CE81D-A332-4C8F-9E4F-69B3CA6F1CD0}"/>
              </a:ext>
            </a:extLst>
          </p:cNvPr>
          <p:cNvSpPr/>
          <p:nvPr/>
        </p:nvSpPr>
        <p:spPr>
          <a:xfrm>
            <a:off x="4352294" y="1259875"/>
            <a:ext cx="1356013" cy="775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delay</a:t>
            </a:r>
            <a:endParaRPr lang="zh-CN" altLang="en-US" sz="2400" b="1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A60BC5E-0794-4DBA-9AA6-CE2F6BD73CE1}"/>
              </a:ext>
            </a:extLst>
          </p:cNvPr>
          <p:cNvSpPr/>
          <p:nvPr/>
        </p:nvSpPr>
        <p:spPr>
          <a:xfrm>
            <a:off x="1868803" y="2506373"/>
            <a:ext cx="1538541" cy="77583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Ready</a:t>
            </a:r>
            <a:endParaRPr lang="zh-CN" altLang="en-US" sz="2400" b="1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B165F51-15D6-4BF9-A3A3-A93C244C34AE}"/>
              </a:ext>
            </a:extLst>
          </p:cNvPr>
          <p:cNvCxnSpPr>
            <a:cxnSpLocks/>
            <a:stCxn id="3" idx="5"/>
            <a:endCxn id="9" idx="1"/>
          </p:cNvCxnSpPr>
          <p:nvPr/>
        </p:nvCxnSpPr>
        <p:spPr>
          <a:xfrm>
            <a:off x="1204086" y="2462142"/>
            <a:ext cx="890031" cy="15785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3BFAFDD-CF5A-401B-B2FD-44E61C508669}"/>
              </a:ext>
            </a:extLst>
          </p:cNvPr>
          <p:cNvCxnSpPr>
            <a:cxnSpLocks/>
            <a:stCxn id="3" idx="7"/>
            <a:endCxn id="8" idx="2"/>
          </p:cNvCxnSpPr>
          <p:nvPr/>
        </p:nvCxnSpPr>
        <p:spPr>
          <a:xfrm flipV="1">
            <a:off x="1204086" y="1647794"/>
            <a:ext cx="3148208" cy="26574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FE382A2-894F-42C2-A194-EFF24A6D0C33}"/>
              </a:ext>
            </a:extLst>
          </p:cNvPr>
          <p:cNvCxnSpPr>
            <a:cxnSpLocks/>
            <a:stCxn id="9" idx="2"/>
            <a:endCxn id="3" idx="4"/>
          </p:cNvCxnSpPr>
          <p:nvPr/>
        </p:nvCxnSpPr>
        <p:spPr>
          <a:xfrm flipH="1" flipV="1">
            <a:off x="844879" y="2575761"/>
            <a:ext cx="1023924" cy="318531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7C717B6-4DEA-4CA7-84E7-E28E48477033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H="1">
            <a:off x="2638074" y="1922094"/>
            <a:ext cx="1912804" cy="58427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92805C4B-0629-4332-A09F-201EE2468B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6115" y="3266856"/>
            <a:ext cx="5358136" cy="353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983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5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任务挂起状态</a:t>
            </a:r>
            <a:endParaRPr lang="zh-CN" altLang="zh-CN" sz="44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FA671B6-1192-4468-935A-8C5EF0F53252}"/>
              </a:ext>
            </a:extLst>
          </p:cNvPr>
          <p:cNvSpPr/>
          <p:nvPr/>
        </p:nvSpPr>
        <p:spPr>
          <a:xfrm>
            <a:off x="2377440" y="1280157"/>
            <a:ext cx="1015991" cy="77583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run</a:t>
            </a:r>
            <a:endParaRPr lang="zh-CN" altLang="en-US" sz="2400" b="1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8CE81D-A332-4C8F-9E4F-69B3CA6F1CD0}"/>
              </a:ext>
            </a:extLst>
          </p:cNvPr>
          <p:cNvSpPr/>
          <p:nvPr/>
        </p:nvSpPr>
        <p:spPr>
          <a:xfrm>
            <a:off x="6623860" y="1632217"/>
            <a:ext cx="1356013" cy="775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delay</a:t>
            </a:r>
            <a:endParaRPr lang="zh-CN" altLang="en-US" sz="2400" b="1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A60BC5E-0794-4DBA-9AA6-CE2F6BD73CE1}"/>
              </a:ext>
            </a:extLst>
          </p:cNvPr>
          <p:cNvSpPr/>
          <p:nvPr/>
        </p:nvSpPr>
        <p:spPr>
          <a:xfrm>
            <a:off x="3813103" y="2554498"/>
            <a:ext cx="1538541" cy="77583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Ready</a:t>
            </a:r>
            <a:endParaRPr lang="zh-CN" altLang="en-US" sz="2400" b="1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B165F51-15D6-4BF9-A3A3-A93C244C34AE}"/>
              </a:ext>
            </a:extLst>
          </p:cNvPr>
          <p:cNvCxnSpPr>
            <a:cxnSpLocks/>
            <a:stCxn id="3" idx="5"/>
            <a:endCxn id="9" idx="1"/>
          </p:cNvCxnSpPr>
          <p:nvPr/>
        </p:nvCxnSpPr>
        <p:spPr>
          <a:xfrm>
            <a:off x="3244643" y="1942376"/>
            <a:ext cx="793774" cy="72574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3BFAFDD-CF5A-401B-B2FD-44E61C508669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3393431" y="1668076"/>
            <a:ext cx="3230429" cy="35206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FE382A2-894F-42C2-A194-EFF24A6D0C33}"/>
              </a:ext>
            </a:extLst>
          </p:cNvPr>
          <p:cNvCxnSpPr>
            <a:cxnSpLocks/>
            <a:stCxn id="9" idx="2"/>
            <a:endCxn id="3" idx="4"/>
          </p:cNvCxnSpPr>
          <p:nvPr/>
        </p:nvCxnSpPr>
        <p:spPr>
          <a:xfrm flipH="1" flipV="1">
            <a:off x="2885436" y="2055995"/>
            <a:ext cx="927667" cy="886422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1EF3B25-8535-41F4-8DB8-12F7D3A3EAAA}"/>
              </a:ext>
            </a:extLst>
          </p:cNvPr>
          <p:cNvCxnSpPr>
            <a:cxnSpLocks/>
            <a:stCxn id="9" idx="7"/>
            <a:endCxn id="8" idx="4"/>
          </p:cNvCxnSpPr>
          <p:nvPr/>
        </p:nvCxnSpPr>
        <p:spPr>
          <a:xfrm flipV="1">
            <a:off x="5126330" y="2408055"/>
            <a:ext cx="2175537" cy="26006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7C717B6-4DEA-4CA7-84E7-E28E48477033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H="1">
            <a:off x="4582374" y="2294436"/>
            <a:ext cx="2240070" cy="26006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92805C4B-0629-4332-A09F-201EE2468B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115" y="3266856"/>
            <a:ext cx="5358136" cy="3532069"/>
          </a:xfrm>
          <a:prstGeom prst="rect">
            <a:avLst/>
          </a:prstGeom>
        </p:spPr>
      </p:pic>
      <p:sp>
        <p:nvSpPr>
          <p:cNvPr id="28" name="椭圆 27">
            <a:extLst>
              <a:ext uri="{FF2B5EF4-FFF2-40B4-BE49-F238E27FC236}">
                <a16:creationId xmlns:a16="http://schemas.microsoft.com/office/drawing/2014/main" id="{42B63DAB-18B5-478A-A9AC-9249E43F3FFD}"/>
              </a:ext>
            </a:extLst>
          </p:cNvPr>
          <p:cNvSpPr/>
          <p:nvPr/>
        </p:nvSpPr>
        <p:spPr>
          <a:xfrm>
            <a:off x="7024725" y="3428600"/>
            <a:ext cx="1910296" cy="63267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suspend</a:t>
            </a:r>
            <a:endParaRPr lang="zh-CN" altLang="en-US" sz="2400" b="1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B85C5E0-2F91-4F5A-8BF6-BA097CD67A18}"/>
              </a:ext>
            </a:extLst>
          </p:cNvPr>
          <p:cNvGrpSpPr/>
          <p:nvPr/>
        </p:nvGrpSpPr>
        <p:grpSpPr>
          <a:xfrm>
            <a:off x="8799397" y="924608"/>
            <a:ext cx="1910296" cy="1446697"/>
            <a:chOff x="8799397" y="971155"/>
            <a:chExt cx="1910296" cy="1446697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C7A1DC1-B13E-430A-893A-3EBF4E5972A5}"/>
                </a:ext>
              </a:extLst>
            </p:cNvPr>
            <p:cNvSpPr/>
            <p:nvPr/>
          </p:nvSpPr>
          <p:spPr>
            <a:xfrm>
              <a:off x="8799397" y="971155"/>
              <a:ext cx="1910296" cy="144669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400" b="1" dirty="0"/>
            </a:p>
            <a:p>
              <a:pPr algn="ctr"/>
              <a:endParaRPr lang="en-US" altLang="zh-CN" sz="2400" b="1" dirty="0"/>
            </a:p>
            <a:p>
              <a:pPr algn="ctr"/>
              <a:r>
                <a:rPr lang="en-US" altLang="zh-CN" sz="2400" b="1" dirty="0"/>
                <a:t>suspend</a:t>
              </a:r>
              <a:endParaRPr lang="zh-CN" altLang="en-US" sz="2400" b="1" dirty="0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92107CA-9C56-4C6D-9063-BDFFDF289C20}"/>
                </a:ext>
              </a:extLst>
            </p:cNvPr>
            <p:cNvSpPr/>
            <p:nvPr/>
          </p:nvSpPr>
          <p:spPr>
            <a:xfrm>
              <a:off x="9076538" y="1001894"/>
              <a:ext cx="1407618" cy="809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delay</a:t>
              </a:r>
              <a:endParaRPr lang="zh-CN" altLang="en-US" sz="2400" b="1" dirty="0"/>
            </a:p>
          </p:txBody>
        </p: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28205B0-928D-406A-8F73-B90D39A70E0F}"/>
              </a:ext>
            </a:extLst>
          </p:cNvPr>
          <p:cNvCxnSpPr>
            <a:cxnSpLocks/>
            <a:stCxn id="8" idx="7"/>
            <a:endCxn id="29" idx="2"/>
          </p:cNvCxnSpPr>
          <p:nvPr/>
        </p:nvCxnSpPr>
        <p:spPr>
          <a:xfrm flipV="1">
            <a:off x="7781289" y="1647957"/>
            <a:ext cx="1018108" cy="978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7F19175-23BE-4F81-9205-AC701C85CBA6}"/>
              </a:ext>
            </a:extLst>
          </p:cNvPr>
          <p:cNvCxnSpPr>
            <a:cxnSpLocks/>
            <a:stCxn id="9" idx="5"/>
            <a:endCxn id="28" idx="2"/>
          </p:cNvCxnSpPr>
          <p:nvPr/>
        </p:nvCxnSpPr>
        <p:spPr>
          <a:xfrm>
            <a:off x="5126330" y="3216717"/>
            <a:ext cx="1898395" cy="52822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9746F3A-8BEB-4DF9-A382-B89DA61435CB}"/>
              </a:ext>
            </a:extLst>
          </p:cNvPr>
          <p:cNvCxnSpPr>
            <a:cxnSpLocks/>
            <a:stCxn id="28" idx="7"/>
            <a:endCxn id="29" idx="4"/>
          </p:cNvCxnSpPr>
          <p:nvPr/>
        </p:nvCxnSpPr>
        <p:spPr>
          <a:xfrm flipV="1">
            <a:off x="8655265" y="2371305"/>
            <a:ext cx="1099280" cy="114994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AE4FB60-7A60-4D0F-8152-8CDCDFDDFAE4}"/>
              </a:ext>
            </a:extLst>
          </p:cNvPr>
          <p:cNvCxnSpPr>
            <a:cxnSpLocks/>
            <a:stCxn id="29" idx="3"/>
            <a:endCxn id="28" idx="0"/>
          </p:cNvCxnSpPr>
          <p:nvPr/>
        </p:nvCxnSpPr>
        <p:spPr>
          <a:xfrm flipH="1">
            <a:off x="7979873" y="2159441"/>
            <a:ext cx="1099280" cy="126915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CECFB49-0FFA-4BED-93E7-F5DEAB9D7812}"/>
              </a:ext>
            </a:extLst>
          </p:cNvPr>
          <p:cNvCxnSpPr>
            <a:cxnSpLocks/>
            <a:stCxn id="28" idx="1"/>
            <a:endCxn id="9" idx="6"/>
          </p:cNvCxnSpPr>
          <p:nvPr/>
        </p:nvCxnSpPr>
        <p:spPr>
          <a:xfrm flipH="1" flipV="1">
            <a:off x="5351644" y="2942417"/>
            <a:ext cx="1952837" cy="57883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E198F76-ACBC-45BA-894E-8862796B3830}"/>
              </a:ext>
            </a:extLst>
          </p:cNvPr>
          <p:cNvCxnSpPr>
            <a:cxnSpLocks/>
            <a:stCxn id="29" idx="2"/>
            <a:endCxn id="8" idx="6"/>
          </p:cNvCxnSpPr>
          <p:nvPr/>
        </p:nvCxnSpPr>
        <p:spPr>
          <a:xfrm flipH="1">
            <a:off x="7979873" y="1647957"/>
            <a:ext cx="819524" cy="372179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C410FEB-9C88-4252-89A9-E5DC708DAF0C}"/>
              </a:ext>
            </a:extLst>
          </p:cNvPr>
          <p:cNvCxnSpPr>
            <a:cxnSpLocks/>
          </p:cNvCxnSpPr>
          <p:nvPr/>
        </p:nvCxnSpPr>
        <p:spPr>
          <a:xfrm flipV="1">
            <a:off x="3244643" y="1142747"/>
            <a:ext cx="5834510" cy="25888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53F48806-3E20-4CCB-BF92-C6997DD4FACD}"/>
              </a:ext>
            </a:extLst>
          </p:cNvPr>
          <p:cNvCxnSpPr>
            <a:cxnSpLocks/>
            <a:stCxn id="3" idx="6"/>
            <a:endCxn id="28" idx="0"/>
          </p:cNvCxnSpPr>
          <p:nvPr/>
        </p:nvCxnSpPr>
        <p:spPr>
          <a:xfrm>
            <a:off x="3393431" y="1668076"/>
            <a:ext cx="4586442" cy="176052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23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855285-0CB7-4087-83B6-E1E252219BD0}"/>
              </a:ext>
            </a:extLst>
          </p:cNvPr>
          <p:cNvSpPr txBox="1"/>
          <p:nvPr/>
        </p:nvSpPr>
        <p:spPr>
          <a:xfrm>
            <a:off x="301823" y="184265"/>
            <a:ext cx="7265621" cy="646330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struct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os_tcb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/*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堆栈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相关字段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 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CPU_STK       *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StkPtr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栈顶指针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CPU_STK_SIZE 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StkSize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堆栈大小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TaskDelayTicks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延时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周期个数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OS_PRIO      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Prio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      //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任务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优先级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就绪列表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双向链表</a:t>
            </a: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字段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OS_TCB  *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NextPtr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下一个指针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OS_TCB  *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PrevPtr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前一个指针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时基列表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相关字段*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    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OS_TCB          *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TickNextPtr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OS_TCB          *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TickPrevPtr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OS_TICK_SPOKE   *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TickSpokePtr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 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 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TickRemain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时间片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相关字段 *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 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时间片</a:t>
            </a:r>
            <a:r>
              <a:rPr lang="zh-CN" altLang="en-US" b="1" dirty="0">
                <a:solidFill>
                  <a:srgbClr val="EE7B12"/>
                </a:solidFill>
                <a:latin typeface="Courier New" panose="02070309020205020404" pitchFamily="49" charset="0"/>
              </a:rPr>
              <a:t>需求</a:t>
            </a: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大小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 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TimeQuantaCtr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时间片</a:t>
            </a:r>
            <a:r>
              <a:rPr lang="zh-CN" altLang="en-US" b="1" dirty="0">
                <a:solidFill>
                  <a:srgbClr val="EE7B12"/>
                </a:solidFill>
                <a:latin typeface="Courier New" panose="02070309020205020404" pitchFamily="49" charset="0"/>
              </a:rPr>
              <a:t>剩余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时间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OS_STATE </a:t>
            </a:r>
            <a:r>
              <a:rPr lang="en-US" altLang="zh-CN" sz="18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TaskState</a:t>
            </a:r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 //</a:t>
            </a:r>
            <a:r>
              <a:rPr lang="zh-CN" altLang="en-US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任务状态</a:t>
            </a:r>
            <a:br>
              <a:rPr lang="en-US" altLang="zh-CN" sz="1800" b="1" i="0" dirty="0">
                <a:solidFill>
                  <a:srgbClr val="2B91AF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18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#if OS_CFG_TASK_SUSPEND_EN &gt; 0u </a:t>
            </a:r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(2)</a:t>
            </a:r>
            <a:br>
              <a:rPr lang="en-US" altLang="zh-CN" sz="1800" b="1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b="1" dirty="0">
                <a:solidFill>
                  <a:srgbClr val="2B91AF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OS_NESTING_CTR </a:t>
            </a:r>
            <a:r>
              <a:rPr lang="en-US" altLang="zh-CN" sz="18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SuspendCtr</a:t>
            </a:r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sz="18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任务挂起计数器</a:t>
            </a:r>
            <a:b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18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#endif</a:t>
            </a:r>
            <a:r>
              <a:rPr lang="en-US" altLang="zh-CN" dirty="0"/>
              <a:t> </a:t>
            </a:r>
            <a:endParaRPr lang="en-US" altLang="zh-CN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};</a:t>
            </a:r>
            <a:endParaRPr lang="zh-CN" altLang="en-US" dirty="0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85543" y="178896"/>
            <a:ext cx="9315932" cy="65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任务的</a:t>
            </a:r>
            <a:r>
              <a:rPr lang="en-US" altLang="zh-CN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TCB</a:t>
            </a:r>
            <a:r>
              <a:rPr lang="zh-CN" altLang="en-US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修改</a:t>
            </a:r>
            <a:endParaRPr lang="zh-CN" altLang="zh-CN" sz="44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876875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40489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定义任务的状态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90429" y="880312"/>
            <a:ext cx="12008526" cy="563231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OS_TASK_STATE_BIT_DLY     (OS_STATE)(0x01u)/* /--------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挂起位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                                 /* |                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OS_TASK_STATE_BIT_PEND    (OS_STATE)(0x02u)/* | /----- 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等待位 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                                 /* | |              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OS_TASK_STATE_BIT_SUSPENDED 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(OS_STATE)(0x04u)/* | | /---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延时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超时位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                                 /* | | |            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                                 /* V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*/</a:t>
            </a:r>
          </a:p>
          <a:p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OS_TASK_STATE_RDY           (OS_STATE)( 0u)/*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0 0 0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Ready 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OS_TASK_STATE_DLY           (OS_STATE)( 1u)/*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0 0 1 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Delayed or Timeout*/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OS_TASK_STATE_PEND          (OS_STATE)( 2u)/*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0 1 0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Pend  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OS_TASK_STATE_PEND_TIMEOUT  (OS_STATE)( 3u)/*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0 1 1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Pend+Timeout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OS_TASK_STATE_SUSPENDED     (OS_STATE)( 4u)/*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1 0 0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Suspended    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OS_TASK_STATE_DLY_SUSPENDED (OS_STATE)( 5u)/*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1 0 1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挂起，延时或超时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OS_TASK_STATE_PEND_SUSPENDED(OS_STATE)( 6u)/*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1 1 0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挂起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等待  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OS_TASK_STATE_PEND_TIMEOUT_SUSPENDED 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                  (OS_STATE)( 7u)/*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1 1 1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挂起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等待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超时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#define  OS_TASK_STATE_DEL           (OS_STATE)(255u)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319177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6865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任务挂起函数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OSTaskSuspend</a:t>
            </a: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（） </a:t>
            </a:r>
            <a:endParaRPr lang="en-US" altLang="zh-CN" sz="3267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361720" y="1441787"/>
            <a:ext cx="11573611" cy="440120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OS_CFG_TASK_SUSPEND_EN &gt; 0u</a:t>
            </a:r>
          </a:p>
          <a:p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</a:t>
            </a:r>
            <a:r>
              <a:rPr lang="en-US" altLang="zh-CN" sz="28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OSTaskSuspend</a:t>
            </a:r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28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//</a:t>
            </a:r>
            <a:r>
              <a:rPr lang="zh-CN" altLang="en-US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挂起指定任务的</a:t>
            </a:r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TCB</a:t>
            </a:r>
          </a:p>
          <a:p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 OS_ERR  *</a:t>
            </a:r>
            <a:r>
              <a:rPr lang="en-US" altLang="zh-CN" sz="28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返回执行情况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参数有效性检测；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任务挂起自己的预处理；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根据任务的状态来决定挂起的动作；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任务调度；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#endif</a:t>
            </a:r>
            <a:endParaRPr lang="zh-CN" altLang="en-US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2206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190501" y="23415"/>
            <a:ext cx="11925282" cy="69865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OSTaskSuspend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p_tcb,OS_ERR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 CPU_SR_ALLOC();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#ifdef OS_SAFETY_CRITICAL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== (OS_ERR *)0) {   //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执行情况返回输入参数不能为空</a:t>
            </a:r>
            <a:endParaRPr lang="en-US" altLang="zh-CN" sz="16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OS_SAFETY_CRITICAL_EXCEPTION();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return;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#endif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OS_CFG_CALLED_FROM_ISR_CHK_EN &gt; 0u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OSIntNestingCtr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&gt; (OS_NESTING_CTR)0){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不能在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ISR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程序中调用该函数 *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OS_ERR_TASK_SUSPEND_ISR;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return;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#endif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== &amp;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OSIdleTaskTCB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 {  </a:t>
            </a:r>
            <a:r>
              <a:rPr lang="en-US" altLang="zh-CN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/*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不能挂起空闲任务 *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                    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OS_ERR_TASK_SUSPEND_IDLE;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return;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OS_CFG_ISR_POST_DEFERRED_EN &gt; 0u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== &amp;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OSIntQTaskTCB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 { 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不能挂起中断处理任务 *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            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OS_ERR_TASK_SUSPEND_INT_HANDLER;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return;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#endif</a:t>
            </a:r>
          </a:p>
          <a:p>
            <a:r>
              <a:rPr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任务挂起自己的预处理；</a:t>
            </a:r>
            <a:endParaRPr lang="en-US" altLang="zh-CN" sz="1600" b="1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根据任务的状态来决定挂起的动作</a:t>
            </a:r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任务调度</a:t>
            </a:r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;</a:t>
            </a:r>
            <a:endParaRPr lang="en-US" altLang="zh-CN" sz="1600" b="1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04548" y="61515"/>
            <a:ext cx="5772735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任务挂起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OSTaskSuspend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31260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7427F71D-2CCD-46C2-9D05-4DAFB509A7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46622" y="159434"/>
            <a:ext cx="7767118" cy="956662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190501" y="1062943"/>
            <a:ext cx="11925282" cy="563231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 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OSTaskSuspend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p_tcb,OS_ERR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 CPU_SR_ALLOC(); </a:t>
            </a: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zh-CN" altLang="en-US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参数有效性检测；</a:t>
            </a:r>
            <a:endParaRPr lang="en-US" altLang="zh-CN" b="1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endParaRPr lang="en-US" altLang="zh-CN" b="1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CPU_CRITICAL_ENTER();		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if (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== (OS_TCB *)0) { /* </a:t>
            </a: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是否挂起自己 *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/	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}</a:t>
            </a:r>
          </a:p>
          <a:p>
            <a:endParaRPr lang="en-US" altLang="zh-CN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if (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== 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) {/* </a:t>
            </a: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如果调度器锁住则不能挂起自己 *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if (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OSSchedLockNestingCtr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&gt; (OS_NESTING_CTR)0 ){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CPU_CRITICAL_EXIT();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*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OS_ERR_SCHED_LOCKED;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return;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}</a:t>
            </a: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</a:rPr>
              <a:t>    }</a:t>
            </a:r>
          </a:p>
          <a:p>
            <a:endParaRPr lang="en-US" altLang="zh-CN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    </a:t>
            </a:r>
            <a:r>
              <a:rPr lang="zh-CN" altLang="en-US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根据任务的状态来决定挂起的动作</a:t>
            </a:r>
            <a:r>
              <a:rPr lang="en-US" altLang="zh-CN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zh-CN" altLang="en-US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任务调度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;</a:t>
            </a:r>
            <a:endParaRPr lang="en-US" altLang="zh-CN" b="1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31958" y="206096"/>
            <a:ext cx="5772735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任务挂起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OSTaskSuspend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055594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288652" y="63816"/>
            <a:ext cx="10984430" cy="674030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OSTaskSuspend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p_tcb,OS_ERR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参数有效性检测；</a:t>
            </a:r>
            <a:endParaRPr lang="en-US" altLang="zh-CN" sz="16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任务挂起自己的预处理；</a:t>
            </a:r>
            <a:endParaRPr lang="en-US" altLang="zh-CN" sz="1600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*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OS_ERR_NONE;	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switch 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) { /* </a:t>
            </a:r>
            <a:r>
              <a:rPr lang="zh-CN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根据任务的状态来决定挂起的动作 *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	case OS_TASK_STATE_RDY: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任务状态为就绪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OS_CRITICAL_ENTER_CPU_CRITICAL_EXIT();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=  OS_TASK_STATE_SUSPENDED;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(OS_NESTING_CTR)1;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OS_RdyListRemove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OS_CRITICAL_EXIT_NO_SCHED(); break;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OS_TASK_STATE_DLY: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任务状态为延时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= OS_TASK_STATE_DLY_SUSPENDED;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(OS_NESTING_CTR)1;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 break;            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任务状态为等待时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= OS_TASK_STATE_PEND_SUSPENDED;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(OS_NESTING_CTR)1;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 break;            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OS_TASK_STATE_PEND_TIMEOUT: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任务状态为等待超时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= OS_TASK_STATE_PEND_TIMEOUT_SUSPENDED;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(OS_NESTING_CTR)1;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 break;            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… …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}    </a:t>
            </a:r>
          </a:p>
          <a:p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任务调度</a:t>
            </a:r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04548" y="61515"/>
            <a:ext cx="5772735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任务挂起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OSTaskSuspend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4371763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288652" y="63816"/>
            <a:ext cx="10984430" cy="674030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OSTaskSuspend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p_tcb,OS_ERR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参数有效性检测；</a:t>
            </a:r>
            <a:endParaRPr lang="en-US" altLang="zh-CN" sz="16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zh-CN" alt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任务挂起自己的预处理；</a:t>
            </a:r>
            <a:endParaRPr lang="en-US" altLang="zh-CN" sz="1600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*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OS_ERR_NONE;	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switch 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) { /* </a:t>
            </a:r>
            <a:r>
              <a:rPr lang="zh-CN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根据任务的状态来决定挂起的动作 *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	case OS_TASK_STATE_RDY: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任务状态为就绪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… …                        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OS_TASK_STATE_DLY: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任务状态为延时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… …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任务状态为等待时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… …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OS_TASK_STATE_PEND_TIMEOUT: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任务状态为等待超时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… …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OS_TASK_STATE_SUSPENDED: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任务状态原来就是挂起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OS_TASK_STATE_DLY_SUSPENDED: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OS_TASK_STATE_PEND_SUSPENDED: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OS_TASK_STATE_PEND_TIMEOUT_SUSPENDED: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++;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break;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default: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否则出错返回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*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OS_ERR_STATE_INVALID;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return;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}    </a:t>
            </a:r>
          </a:p>
          <a:p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OSSched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();//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任务调度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04548" y="61515"/>
            <a:ext cx="5772735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任务挂起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OSTaskSuspend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292456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6865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任务恢复函数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OSTaskResume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en-US" altLang="zh-CN" sz="3267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361720" y="1441787"/>
            <a:ext cx="11573611" cy="397031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OS_CFG_TASK_SUSPEND_EN &gt; 0u</a:t>
            </a:r>
          </a:p>
          <a:p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</a:t>
            </a:r>
            <a:r>
              <a:rPr lang="en-US" altLang="zh-CN" sz="28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OSTaskResume</a:t>
            </a:r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28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//</a:t>
            </a:r>
            <a:r>
              <a:rPr lang="zh-CN" altLang="en-US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恢复指定任务的</a:t>
            </a:r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TCB</a:t>
            </a:r>
          </a:p>
          <a:p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 OS_ERR  *</a:t>
            </a:r>
            <a:r>
              <a:rPr lang="en-US" altLang="zh-CN" sz="28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28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返回执行情况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参数有效性检测；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根据任务的状态来决定恢复的动作；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zh-CN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任务调度；</a:t>
            </a:r>
            <a:endParaRPr lang="en-US" altLang="zh-CN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altLang="zh-CN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#endif</a:t>
            </a:r>
            <a:endParaRPr lang="zh-CN" altLang="en-US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5976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346511" y="23415"/>
            <a:ext cx="11787738" cy="649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OSTaskResume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p_tcb,OS_ERR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 CPU_SR_ALLOC();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#ifdef OS_SAFETY_CRITICAL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== (OS_ERR *)0) {   //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执行情况返回输入参数不能为空</a:t>
            </a:r>
            <a:endParaRPr lang="en-US" altLang="zh-CN" sz="16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OS_SAFETY_CRITICAL_EXCEPTION();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return;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#endif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OS_CFG_CALLED_FROM_ISR_CHK_EN &gt; 0u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OSIntNestingCtr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&gt; (OS_NESTING_CTR)0){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不能在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ISR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程序中调用该函数 *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OS_ERR_TASK_SUSPEND_ISR;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return;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#endif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CPU_CRITICAL_ENTER();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OS_CFG_ARG_CHK_EN &gt; 0u 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不能自己恢复自己 *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== (OS_TCB *)0) ||                     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OSTCBCurPtr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)) {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CPU_CRITICAL_EXIT();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OS_ERR_TASK_RESUME_SELF;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return;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#endif</a:t>
            </a:r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</a:t>
            </a:r>
          </a:p>
          <a:p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根据任务的状态来决定恢复的动作</a:t>
            </a:r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任务调度</a:t>
            </a:r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;</a:t>
            </a:r>
            <a:endParaRPr lang="en-US" altLang="zh-CN" sz="1600" b="1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246798" y="100015"/>
            <a:ext cx="5874859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任务恢复函数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OSTaskResume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5824812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144326" y="891589"/>
            <a:ext cx="11903348" cy="470898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OSTaskResume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p_tcb,OS_ERR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</a:t>
            </a:r>
            <a:r>
              <a:rPr lang="zh-CN" altLang="en-US" sz="20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参数有效性检测；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OS_ERR_NONE;	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switch (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) {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根据任务的状态来决定恢复的动作 *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OS_TASK_STATE_RDY: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任务状态如果没有包含挂起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OS_TASK_STATE_DLY: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OS_TASK_STATE_PEND: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OS_TASK_STATE_PEND_TIMEOUT: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OS_ERR_TASK_NOT_SUSPENDED;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break;        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… …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}    </a:t>
            </a:r>
          </a:p>
          <a:p>
            <a:r>
              <a:rPr lang="en-US" altLang="zh-CN" sz="20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zh-CN" altLang="en-US" sz="20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任务调度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20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98673" y="167390"/>
            <a:ext cx="5772735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任务恢复函数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OSTaskResume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8357447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346511" y="23415"/>
            <a:ext cx="11787738" cy="649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OSTaskResume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p_tcb,OS_ERR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参数有效性检测；</a:t>
            </a:r>
            <a:endParaRPr lang="en-US" altLang="zh-CN" sz="16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*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OS_ERR_NONE;	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switch 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) { /* </a:t>
            </a:r>
            <a:r>
              <a:rPr lang="zh-CN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根据任务的状态来决定恢复的动作 *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OS_TASK_STATE_RDY: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任务状态如果没有包含挂起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… …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OS_TASK_STATE_SUSPENDED: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OS_CRITICAL_ENTER_CPU_CRITICAL_EXIT();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--;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if 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== (OS_NESTING_CTR)0) {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OS_TASK_STATE_RDY;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OS_TaskRdy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}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OS_CRITICAL_EXIT_NO_SCHED();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break;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OS_TASK_STATE_DLY_SUSPENDED: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任务状态为延时并挂起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--;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if 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== (OS_NESTING_CTR)0) {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OS_TASK_STATE_DLY;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}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break;</a:t>
            </a:r>
          </a:p>
          <a:p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     … …     </a:t>
            </a:r>
          </a:p>
          <a:p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任务调度</a:t>
            </a:r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246798" y="100015"/>
            <a:ext cx="5874859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任务恢复函数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OSTaskResume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0148717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346511" y="23415"/>
            <a:ext cx="11787738" cy="649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OSTaskResume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p_tcb,OS_ERR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</a:t>
            </a:r>
            <a:r>
              <a:rPr lang="zh-CN" altLang="en-US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参数有效性检测；</a:t>
            </a:r>
            <a:endParaRPr lang="en-US" altLang="zh-CN" sz="16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*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OS_ERR_NONE;	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switch 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) { /* </a:t>
            </a:r>
            <a:r>
              <a:rPr lang="zh-CN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根据任务的状态来决定恢复的动作 *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OS_TASK_STATE_RDY: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任务状态如果没有包含挂起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OS_TASK_STATE_SUSPENDED: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OS_TASK_STATE_DLY_SUSPENDED: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任务状态为延时并挂起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OS_TASK_STATE_PEND_SUSPENDED: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任务等待并挂起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--;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if 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== (OS_NESTING_CTR)0) {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OS_TASK_STATE_PEND;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}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 break;            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case OS_TASK_STATE_PEND_TIMEOUT_SUSPENDED: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任务超市并挂起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--;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if (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SuspendCtr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== (OS_NESTING_CTR)0) {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p_tcb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TaskState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OS_TASK_STATE_PEND_TIMEOUT;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}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 break;            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default: 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否则报错退出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CPU_CRITICAL_EXIT();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*</a:t>
            </a:r>
            <a:r>
              <a:rPr lang="en-US" altLang="zh-CN" sz="16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= OS_ERR_STATE_INVALID;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return;    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6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OSSched</a:t>
            </a:r>
            <a:r>
              <a:rPr lang="en-US" altLang="zh-CN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();//</a:t>
            </a:r>
            <a:r>
              <a:rPr lang="zh-CN" altLang="en-US" sz="12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任务调度</a:t>
            </a:r>
            <a:r>
              <a:rPr lang="en-US" altLang="zh-CN" sz="12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246798" y="100015"/>
            <a:ext cx="5874859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任务恢复函数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OSTaskResume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3411151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32365</TotalTime>
  <Words>2612</Words>
  <Application>Microsoft Office PowerPoint</Application>
  <PresentationFormat>宽屏</PresentationFormat>
  <Paragraphs>280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PJMWDW+STZhongsong,Bold</vt:lpstr>
      <vt:lpstr>等线</vt:lpstr>
      <vt:lpstr>等线 Light</vt:lpstr>
      <vt:lpstr>宋体</vt:lpstr>
      <vt:lpstr>Arial</vt:lpstr>
      <vt:lpstr>Calibri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443</cp:revision>
  <dcterms:created xsi:type="dcterms:W3CDTF">2020-11-10T10:12:45Z</dcterms:created>
  <dcterms:modified xsi:type="dcterms:W3CDTF">2021-11-25T02:29:00Z</dcterms:modified>
</cp:coreProperties>
</file>