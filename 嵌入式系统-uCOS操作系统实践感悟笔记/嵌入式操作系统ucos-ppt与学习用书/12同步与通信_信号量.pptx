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518" r:id="rId3"/>
    <p:sldId id="519" r:id="rId4"/>
    <p:sldId id="520" r:id="rId5"/>
    <p:sldId id="521" r:id="rId6"/>
    <p:sldId id="523" r:id="rId7"/>
    <p:sldId id="525" r:id="rId8"/>
    <p:sldId id="524" r:id="rId9"/>
    <p:sldId id="526" r:id="rId10"/>
    <p:sldId id="527" r:id="rId11"/>
    <p:sldId id="528" r:id="rId12"/>
    <p:sldId id="529" r:id="rId13"/>
    <p:sldId id="530" r:id="rId14"/>
    <p:sldId id="53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1" autoAdjust="0"/>
    <p:restoredTop sz="93826" autoAdjust="0"/>
  </p:normalViewPr>
  <p:slideViewPr>
    <p:cSldViewPr snapToGrid="0">
      <p:cViewPr varScale="1">
        <p:scale>
          <a:sx n="83" d="100"/>
          <a:sy n="83" d="100"/>
        </p:scale>
        <p:origin x="8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12/7/2021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5.jp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6.jp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7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8.jp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9.jp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同步与通信</a:t>
            </a:r>
            <a:r>
              <a:rPr lang="en-US" altLang="zh-CN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_</a:t>
            </a: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信号量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6865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同步与通信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6981825" y="606270"/>
            <a:ext cx="5046616" cy="61247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多个任务共享若干打印机：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、任务检测空闲打印机个数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是否大于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、若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大于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n--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，则执行打印作业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,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；并在作业完成后，归还打印机，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n++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3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、若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n=0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，怎么办？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n=0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时，策略有：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、无限等待；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、超时等待；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释放资源，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n++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时，可能有多个任务等待，怎么通知？怎么分配？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7C656102-8F3E-4263-86B9-3242529D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467" y="932121"/>
            <a:ext cx="5779353" cy="5901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34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en-US" altLang="zh-CN" sz="1634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if (n &gt; 0){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n--;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print();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n++;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}else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??????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(2); 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if (n &gt; 0){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n--;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print();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n++;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}else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??????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(2); 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2220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0397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同步与通信</a:t>
            </a:r>
            <a:r>
              <a:rPr lang="en-US" altLang="zh-CN" sz="36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_</a:t>
            </a: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信号量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7048500" y="597164"/>
            <a:ext cx="5046616" cy="56938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创建信号量：信号量是一个非负整数，创建之初可以给出资源数量</a:t>
            </a:r>
            <a:endParaRPr lang="en-US" altLang="zh-CN" sz="2800" b="1" i="0" dirty="0">
              <a:solidFill>
                <a:schemeClr val="accent1">
                  <a:lumMod val="7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请求信号量：若信号量大于一，则使其减一并返回；当该整数值为零时，所有试图获取它的任务都将处于阻塞状态。</a:t>
            </a:r>
            <a:b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zh-CN" altLang="en-US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释放信号量：释放信号量，使其加一；然后判断是否有阻塞的任务， 如果有的话就会恢复阻塞的任务。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17" y="1294303"/>
            <a:ext cx="6061581" cy="50783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latin typeface="Courier New" panose="02070309020205020404" pitchFamily="49" charset="0"/>
              </a:rPr>
              <a:t>OSSemCreate</a:t>
            </a:r>
            <a:r>
              <a:rPr lang="en-US" altLang="zh-CN" sz="2000" b="1" dirty="0">
                <a:latin typeface="Courier New" panose="02070309020205020404" pitchFamily="49" charset="0"/>
              </a:rPr>
              <a:t>(&amp;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SemOfKey</a:t>
            </a:r>
            <a:r>
              <a:rPr lang="en-US" altLang="zh-CN" sz="2000" b="1" dirty="0">
                <a:latin typeface="Courier New" panose="02070309020205020404" pitchFamily="49" charset="0"/>
              </a:rPr>
              <a:t>, 1);</a:t>
            </a:r>
          </a:p>
          <a:p>
            <a:pPr>
              <a:defRPr/>
            </a:pPr>
            <a:endParaRPr lang="en-US" altLang="zh-CN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{   for( ;; ){   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OSSemPend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SemOfKey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,…)//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请求信号量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print(…);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OSSemPost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SemOfKey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,…)//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释放信号量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(2); 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{   for( ;; ){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OSSemPend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SemOfKey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,…)//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请求信号量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print(…);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OSSemPost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SemOfKey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,…)//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释放信号量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(2); 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5294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0397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信号量控制块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68" y="1239798"/>
            <a:ext cx="11121356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struct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os_sem</a:t>
            </a:r>
            <a:r>
              <a:rPr lang="en-US" altLang="zh-CN" sz="2000" b="1" dirty="0">
                <a:latin typeface="Courier New" panose="02070309020205020404" pitchFamily="49" charset="0"/>
              </a:rPr>
              <a:t> {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OS_OBJ_TYPE          Type; 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对象类型：</a:t>
            </a:r>
            <a:r>
              <a:rPr lang="zh-CN" altLang="en-US" b="1" dirty="0">
                <a:solidFill>
                  <a:schemeClr val="accent1"/>
                </a:solidFill>
              </a:rPr>
              <a:t>信号量</a:t>
            </a:r>
            <a:r>
              <a:rPr lang="zh-CN" altLang="en-US" sz="2000" b="1" dirty="0">
                <a:solidFill>
                  <a:schemeClr val="accent1"/>
                </a:solidFill>
              </a:rPr>
              <a:t> 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CPU_CHAR     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NamePtr</a:t>
            </a:r>
            <a:r>
              <a:rPr lang="en-US" altLang="zh-CN" sz="2000" b="1" dirty="0">
                <a:latin typeface="Courier New" panose="02070309020205020404" pitchFamily="49" charset="0"/>
              </a:rPr>
              <a:t>;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信号量的名字 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OS_PEND_LIST       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PendList</a:t>
            </a:r>
            <a:r>
              <a:rPr lang="en-US" altLang="zh-CN" sz="2000" b="1" dirty="0">
                <a:latin typeface="Courier New" panose="02070309020205020404" pitchFamily="49" charset="0"/>
              </a:rPr>
              <a:t>; 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等待信号量的任务列表 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#if OS_CFG_DBG_EN &gt; 0u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OS_SEM       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DbgPrevPtr</a:t>
            </a:r>
            <a:r>
              <a:rPr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OS_SEM       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DbgNextPtr</a:t>
            </a:r>
            <a:r>
              <a:rPr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CPU_CHAR     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DbgNamePtr</a:t>
            </a:r>
            <a:r>
              <a:rPr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#endif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OS_SEM_CTR           Ctr;  /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可用信号量的个数，如果为 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0 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则表示无可用信号量 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CPU_TS               TS;     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用于记录时间戳 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}; </a:t>
            </a:r>
            <a:endParaRPr lang="en-US" altLang="zh-CN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5345F2-22F4-4851-9D45-1E32955305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276" y="588743"/>
            <a:ext cx="3514724" cy="65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593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0397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创建信号量函数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17" y="1239798"/>
            <a:ext cx="10066083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void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OSSemCreate</a:t>
            </a:r>
            <a:r>
              <a:rPr lang="en-US" altLang="zh-CN" sz="2000" b="1" dirty="0">
                <a:latin typeface="Courier New" panose="02070309020205020404" pitchFamily="49" charset="0"/>
              </a:rPr>
              <a:t> (OS_SEM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,  //</a:t>
            </a:r>
            <a:r>
              <a:rPr lang="zh-CN" altLang="en-US" sz="2000" b="1" dirty="0">
                <a:latin typeface="Courier New" panose="02070309020205020404" pitchFamily="49" charset="0"/>
              </a:rPr>
              <a:t>多值信号量控制块指针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CPU_CHAR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p_name</a:t>
            </a:r>
            <a:r>
              <a:rPr lang="en-US" altLang="zh-CN" sz="2000" b="1" dirty="0">
                <a:latin typeface="Courier New" panose="02070309020205020404" pitchFamily="49" charset="0"/>
              </a:rPr>
              <a:t>, //</a:t>
            </a:r>
            <a:r>
              <a:rPr lang="zh-CN" altLang="en-US" sz="2000" b="1" dirty="0">
                <a:latin typeface="Courier New" panose="02070309020205020404" pitchFamily="49" charset="0"/>
              </a:rPr>
              <a:t>多值信号量名称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OS_SEM_CTR 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cnt</a:t>
            </a:r>
            <a:r>
              <a:rPr lang="en-US" altLang="zh-CN" sz="2000" b="1" dirty="0">
                <a:latin typeface="Courier New" panose="02070309020205020404" pitchFamily="49" charset="0"/>
              </a:rPr>
              <a:t>,    //</a:t>
            </a:r>
            <a:r>
              <a:rPr lang="zh-CN" altLang="en-US" sz="2000" b="1" dirty="0">
                <a:latin typeface="Courier New" panose="02070309020205020404" pitchFamily="49" charset="0"/>
              </a:rPr>
              <a:t>资源数目或事件是否发生标志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OS_ERR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latin typeface="Courier New" panose="02070309020205020404" pitchFamily="49" charset="0"/>
              </a:rPr>
              <a:t>)  //</a:t>
            </a:r>
            <a:r>
              <a:rPr lang="zh-CN" altLang="en-US" sz="2000" b="1" dirty="0">
                <a:latin typeface="Courier New" panose="02070309020205020404" pitchFamily="49" charset="0"/>
              </a:rPr>
              <a:t>返回错误类型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环境和参数检测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OS_CRITICAL_ENTER();              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进入临界段</a:t>
            </a:r>
          </a:p>
          <a:p>
            <a:pPr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-&gt;Type    = OS_OBJ_TYPE_SEM; 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初始化多值信号量指标  </a:t>
            </a:r>
          </a:p>
          <a:p>
            <a:pPr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-&gt;Ctr     =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cnt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;                                 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-&gt;TS      = (CPU_TS)0;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NamePtr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p_name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;                               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OS_PendListInit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PendList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);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初始化该多值信号量的等待列表     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OSSemQty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++;             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多值信号量个数加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OS_CRITICAL_EXIT_NO_SCHED();    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退出临界段（无调度）</a:t>
            </a:r>
          </a:p>
          <a:p>
            <a:pPr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*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 OS_ERR_NONE;             //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错误类型为“无错误”</a:t>
            </a:r>
            <a:endParaRPr lang="en-US" altLang="zh-CN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  <a:endParaRPr lang="en-US" altLang="zh-CN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33FA82-58CB-496D-AE3C-F977E2B09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060" y="453763"/>
            <a:ext cx="3571940" cy="64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53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08497" y="1975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创建信号量函数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42" y="89725"/>
            <a:ext cx="11143929" cy="67095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void  </a:t>
            </a:r>
            <a:r>
              <a:rPr lang="en-US" altLang="zh-CN" b="1" dirty="0" err="1">
                <a:latin typeface="Courier New" panose="02070309020205020404" pitchFamily="49" charset="0"/>
              </a:rPr>
              <a:t>OSSemCreate</a:t>
            </a:r>
            <a:r>
              <a:rPr lang="en-US" altLang="zh-CN" b="1" dirty="0">
                <a:latin typeface="Courier New" panose="02070309020205020404" pitchFamily="49" charset="0"/>
              </a:rPr>
              <a:t> (OS_SEM *</a:t>
            </a:r>
            <a:r>
              <a:rPr lang="en-US" altLang="zh-CN" b="1" dirty="0" err="1">
                <a:latin typeface="Courier New" panose="02070309020205020404" pitchFamily="49" charset="0"/>
              </a:rPr>
              <a:t>p_sem,CPU_CHAR</a:t>
            </a:r>
            <a:r>
              <a:rPr lang="en-US" altLang="zh-CN" b="1" dirty="0">
                <a:latin typeface="Courier New" panose="02070309020205020404" pitchFamily="49" charset="0"/>
              </a:rPr>
              <a:t> *</a:t>
            </a:r>
            <a:r>
              <a:rPr lang="en-US" altLang="zh-CN" b="1" dirty="0" err="1">
                <a:latin typeface="Courier New" panose="02070309020205020404" pitchFamily="49" charset="0"/>
              </a:rPr>
              <a:t>p_name,OS_SEM_CTR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</a:rPr>
              <a:t>cnt,OS_ERR</a:t>
            </a:r>
            <a:r>
              <a:rPr lang="en-US" altLang="zh-CN" b="1" dirty="0">
                <a:latin typeface="Courier New" panose="02070309020205020404" pitchFamily="49" charset="0"/>
              </a:rPr>
              <a:t>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{  CPU_SR_ALLOC();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#ifdef OS_SAFETY_CRITICAL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如果使能（默认禁用）了安全检测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== (OS_ERR *)0) {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如果错误类型实参为空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OS_SAFETY_CRITICAL_EXCEPTION();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执行安全检测异常函数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return; }           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返回，不继续执行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#endif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#ifdef OS_SAFETY_CRITICAL_IEC61508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如果使能（默认禁用）了安全关键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OSSafetyCriticalStartFlag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== DEF_TRUE) {  </a:t>
            </a:r>
            <a:endParaRPr lang="zh-CN" altLang="en-US" sz="16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 OS_ERR_ILLEGAL_CREATE_RUN_TIME;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错误类型为“非法创建内核对象”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return; }                    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返回，不继续执行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#endif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#if OS_CFG_CALLED_FROM_ISR_CHK_EN &gt; 0u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如果使能（默认使能）了中断中非法调用检测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OSIntNestingCtr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&gt; (OS_NESTING_CTR)0) {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如果该函数是在中断中被调用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 OS_ERR_CREATE_ISR;    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错误类型为“在中断函数中定时”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return;                       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返回，不继续执行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#endif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#if OS_CFG_ARG_CHK_EN &gt; 0u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如果使能（默认使能）了参数检测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== (OS_SEM *)0) {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如果参数 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p_sem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为空  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= OS_ERR_OBJ_PTR_NULL;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错误类型为“多值信号量对象为空”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return;                       //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返回，不继续执行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#endif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控制块初始化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  <a:endParaRPr lang="en-US" altLang="zh-CN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5085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0397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信号量获取函数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17" y="1239798"/>
            <a:ext cx="9597357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OS_SEM_CTR </a:t>
            </a:r>
            <a:r>
              <a:rPr lang="en-US" altLang="zh-CN" b="1" dirty="0" err="1">
                <a:latin typeface="Courier New" panose="02070309020205020404" pitchFamily="49" charset="0"/>
              </a:rPr>
              <a:t>OSSemPend</a:t>
            </a:r>
            <a:r>
              <a:rPr lang="en-US" altLang="zh-CN" sz="2000" b="1" dirty="0">
                <a:latin typeface="Courier New" panose="02070309020205020404" pitchFamily="49" charset="0"/>
              </a:rPr>
              <a:t>(OS_SEM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, //</a:t>
            </a:r>
            <a:r>
              <a:rPr lang="zh-CN" altLang="en-US" sz="2000" b="1" dirty="0">
                <a:latin typeface="Courier New" panose="02070309020205020404" pitchFamily="49" charset="0"/>
              </a:rPr>
              <a:t>多值信号量指针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OS_TICK timeout,//</a:t>
            </a:r>
            <a:r>
              <a:rPr lang="zh-CN" altLang="en-US" sz="2000" b="1" dirty="0">
                <a:latin typeface="Courier New" panose="02070309020205020404" pitchFamily="49" charset="0"/>
              </a:rPr>
              <a:t>等待超时时间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OS_OPT opt,  //</a:t>
            </a:r>
            <a:r>
              <a:rPr lang="zh-CN" altLang="en-US" sz="2000" b="1" dirty="0">
                <a:latin typeface="Courier New" panose="02070309020205020404" pitchFamily="49" charset="0"/>
              </a:rPr>
              <a:t>选项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CPU_TS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,//</a:t>
            </a:r>
            <a:r>
              <a:rPr lang="zh-CN" altLang="en-US" sz="2000" b="1" dirty="0">
                <a:latin typeface="Courier New" panose="02070309020205020404" pitchFamily="49" charset="0"/>
              </a:rPr>
              <a:t>等到信号量时的时间戳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OS_ERR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latin typeface="Courier New" panose="02070309020205020404" pitchFamily="49" charset="0"/>
              </a:rPr>
              <a:t>)//</a:t>
            </a:r>
            <a:r>
              <a:rPr lang="zh-CN" altLang="en-US" sz="2000" b="1" dirty="0">
                <a:latin typeface="Courier New" panose="02070309020205020404" pitchFamily="49" charset="0"/>
              </a:rPr>
              <a:t>返回错误类型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{   OS_SEM_CTR    ctr;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OS_PEND_DATA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pend_data</a:t>
            </a:r>
            <a:r>
              <a:rPr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CPU_SR_ALLOC();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参数有效性检测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若资源可用，资源数减一，正常返回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无资源可用时，若为不阻塞申请资源则返回，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为阻塞型申请且调度器未上锁则把当前任务挂起等待，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                 </a:t>
            </a:r>
            <a:r>
              <a:rPr lang="zh-CN" altLang="en-US" sz="2000" b="1" dirty="0">
                <a:latin typeface="Courier New" panose="02070309020205020404" pitchFamily="49" charset="0"/>
              </a:rPr>
              <a:t>否则返回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任务调度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//</a:t>
            </a:r>
            <a:r>
              <a:rPr lang="zh-CN" altLang="en-US" sz="2000" b="1" dirty="0">
                <a:latin typeface="Courier New" panose="02070309020205020404" pitchFamily="49" charset="0"/>
              </a:rPr>
              <a:t>根据当前任务的等待状态做出相应处理并返回</a:t>
            </a: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05D497-32BA-4F88-958A-C0479A031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1" y="49033"/>
            <a:ext cx="4248150" cy="68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43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837" y="159434"/>
            <a:ext cx="728385" cy="47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参数有效性检测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9" y="21051"/>
            <a:ext cx="10066083" cy="69865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OS_SEM_CTR  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OSSemPend</a:t>
            </a:r>
            <a:r>
              <a:rPr lang="en-US" altLang="zh-CN" sz="1600" b="1" dirty="0">
                <a:latin typeface="Courier New" panose="02070309020205020404" pitchFamily="49" charset="0"/>
              </a:rPr>
              <a:t> (… …){   </a:t>
            </a:r>
          </a:p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    … …;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latin typeface="Courier New" panose="02070309020205020404" pitchFamily="49" charset="0"/>
              </a:rPr>
              <a:t> == (OS_ERR *)0) {                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执行结果返回实参不能为空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OS_SAFETY_CRITICAL_EXCEPTION();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执行安全检测异常函数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return ((OS_SEM_CTR)0); 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</a:t>
            </a:r>
            <a:r>
              <a:rPr lang="en-US" altLang="zh-CN" sz="1600" b="1" dirty="0">
                <a:latin typeface="Courier New" panose="02070309020205020404" pitchFamily="49" charset="0"/>
              </a:rPr>
              <a:t>0</a:t>
            </a:r>
            <a:r>
              <a:rPr lang="zh-CN" altLang="en-US" sz="16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    if (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OSIntNestingCtr</a:t>
            </a:r>
            <a:r>
              <a:rPr lang="en-US" altLang="zh-CN" sz="1600" b="1" dirty="0">
                <a:latin typeface="Courier New" panose="02070309020205020404" pitchFamily="49" charset="0"/>
              </a:rPr>
              <a:t> &gt; (OS_NESTING_CTR)0) { 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中断中不允许调用本函数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latin typeface="Courier New" panose="02070309020205020404" pitchFamily="49" charset="0"/>
              </a:rPr>
              <a:t> = OS_ERR_PEND_ISR;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返回错误类型为“在中断中等待”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return ((OS_SEM_CTR)0); 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</a:t>
            </a:r>
            <a:r>
              <a:rPr lang="en-US" altLang="zh-CN" sz="1600" b="1" dirty="0">
                <a:latin typeface="Courier New" panose="02070309020205020404" pitchFamily="49" charset="0"/>
              </a:rPr>
              <a:t>0</a:t>
            </a:r>
            <a:r>
              <a:rPr lang="zh-CN" altLang="en-US" sz="16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1600" b="1" dirty="0">
                <a:latin typeface="Courier New" panose="02070309020205020404" pitchFamily="49" charset="0"/>
              </a:rPr>
              <a:t> == (OS_SEM *)0) {               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内核对象不能为空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latin typeface="Courier New" panose="02070309020205020404" pitchFamily="49" charset="0"/>
              </a:rPr>
              <a:t> = OS_ERR_OBJ_PTR_NULL;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返回错误类型为“内核对象为空”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return ((OS_SEM_CTR)0);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</a:t>
            </a:r>
            <a:r>
              <a:rPr lang="en-US" altLang="zh-CN" sz="1600" b="1" dirty="0">
                <a:latin typeface="Courier New" panose="02070309020205020404" pitchFamily="49" charset="0"/>
              </a:rPr>
              <a:t>0</a:t>
            </a:r>
            <a:r>
              <a:rPr lang="zh-CN" altLang="en-US" sz="16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    switch (opt) {                            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附属操作选项需正确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case OS_OPT_PEND_BLOCKING: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如果选择“等待不到对象进行堵塞”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case OS_OPT_PEND_NON_BLOCKING: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如果选择“等待不到对象不进行堵塞”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break;            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直接跳出，不处理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default:                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如果选项超出预期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latin typeface="Courier New" panose="02070309020205020404" pitchFamily="49" charset="0"/>
              </a:rPr>
              <a:t> = OS_ERR_OPT_INVALID;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返回错误类型为“选项非法”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return ((OS_SEM_CTR)0);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</a:t>
            </a:r>
            <a:r>
              <a:rPr lang="en-US" altLang="zh-CN" sz="1600" b="1" dirty="0">
                <a:latin typeface="Courier New" panose="02070309020205020404" pitchFamily="49" charset="0"/>
              </a:rPr>
              <a:t>0</a:t>
            </a:r>
            <a:r>
              <a:rPr lang="zh-CN" altLang="en-US" sz="16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if (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1600" b="1" dirty="0">
                <a:latin typeface="Courier New" panose="02070309020205020404" pitchFamily="49" charset="0"/>
              </a:rPr>
              <a:t>-&gt;Type != OS_OBJ_TYPE_SEM) {    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内核对象类型需为信号量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*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latin typeface="Courier New" panose="02070309020205020404" pitchFamily="49" charset="0"/>
              </a:rPr>
              <a:t> = OS_ERR_OBJ_TYPE;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返回错误类型为“内核对象类型错误”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latin typeface="Courier New" panose="02070309020205020404" pitchFamily="49" charset="0"/>
              </a:rPr>
              <a:t>return ((OS_SEM_CTR)0);               //</a:t>
            </a:r>
            <a:r>
              <a:rPr lang="zh-CN" altLang="en-US" sz="1600" b="1" dirty="0">
                <a:latin typeface="Courier New" panose="02070309020205020404" pitchFamily="49" charset="0"/>
              </a:rPr>
              <a:t>返回</a:t>
            </a:r>
            <a:r>
              <a:rPr lang="en-US" altLang="zh-CN" sz="1600" b="1" dirty="0">
                <a:latin typeface="Courier New" panose="02070309020205020404" pitchFamily="49" charset="0"/>
              </a:rPr>
              <a:t>0</a:t>
            </a:r>
            <a:r>
              <a:rPr lang="zh-CN" altLang="en-US" sz="16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… …</a:t>
            </a:r>
          </a:p>
          <a:p>
            <a:pPr>
              <a:defRPr/>
            </a:pPr>
            <a:r>
              <a:rPr lang="en-US" altLang="zh-CN" sz="16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90436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0697" y="2608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90940" y="14978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信号量获取函数</a:t>
            </a:r>
            <a:r>
              <a:rPr lang="en-US" altLang="zh-CN" sz="3600" b="1" dirty="0">
                <a:solidFill>
                  <a:srgbClr val="0070C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资源可用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7" y="1058823"/>
            <a:ext cx="10047033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OS_SEM_CTR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OSSemPend</a:t>
            </a:r>
            <a:r>
              <a:rPr lang="en-US" altLang="zh-CN" sz="2000" b="1" dirty="0">
                <a:latin typeface="Courier New" panose="02070309020205020404" pitchFamily="49" charset="0"/>
              </a:rPr>
              <a:t> (… …){   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… …;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if 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!= (CPU_TS *)0) {//</a:t>
            </a:r>
            <a:r>
              <a:rPr lang="zh-CN" altLang="en-US" sz="2000" b="1" dirty="0">
                <a:latin typeface="Courier New" panose="02070309020205020404" pitchFamily="49" charset="0"/>
              </a:rPr>
              <a:t>如果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zh-CN" altLang="en-US" sz="2000" b="1" dirty="0">
                <a:latin typeface="Courier New" panose="02070309020205020404" pitchFamily="49" charset="0"/>
              </a:rPr>
              <a:t>非空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 = (CPU_TS)0; //</a:t>
            </a:r>
            <a:r>
              <a:rPr lang="zh-CN" altLang="en-US" sz="2000" b="1" dirty="0">
                <a:latin typeface="Courier New" panose="02070309020205020404" pitchFamily="49" charset="0"/>
              </a:rPr>
              <a:t>初始化（清零）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zh-CN" altLang="en-US" sz="2000" b="1" dirty="0">
                <a:latin typeface="Courier New" panose="02070309020205020404" pitchFamily="49" charset="0"/>
              </a:rPr>
              <a:t>，待用于返回时间戳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CPU_CRITICAL_ENTER(); //</a:t>
            </a:r>
            <a:r>
              <a:rPr lang="zh-CN" altLang="en-US" sz="2000" b="1" dirty="0">
                <a:latin typeface="Courier New" panose="02070309020205020404" pitchFamily="49" charset="0"/>
              </a:rPr>
              <a:t>关中断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latin typeface="Courier New" panose="02070309020205020404" pitchFamily="49" charset="0"/>
              </a:rPr>
              <a:t>if 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-&gt;Ctr &gt; (OS_SEM_CTR)0) {//</a:t>
            </a:r>
            <a:r>
              <a:rPr lang="zh-CN" altLang="en-US" sz="2000" b="1" dirty="0">
                <a:latin typeface="Courier New" panose="02070309020205020404" pitchFamily="49" charset="0"/>
              </a:rPr>
              <a:t>如果资源可用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-&gt;Ctr--;                //</a:t>
            </a:r>
            <a:r>
              <a:rPr lang="zh-CN" altLang="en-US" sz="2000" b="1" dirty="0">
                <a:latin typeface="Courier New" panose="02070309020205020404" pitchFamily="49" charset="0"/>
              </a:rPr>
              <a:t>资源数目减</a:t>
            </a:r>
            <a:r>
              <a:rPr lang="en-US" altLang="zh-CN" sz="2000" b="1" dirty="0">
                <a:latin typeface="Courier New" panose="02070309020205020404" pitchFamily="49" charset="0"/>
              </a:rPr>
              <a:t>1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    if 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!= (CPU_TS *)0) { //</a:t>
            </a:r>
            <a:r>
              <a:rPr lang="zh-CN" altLang="en-US" sz="2000" b="1" dirty="0">
                <a:latin typeface="Courier New" panose="02070309020205020404" pitchFamily="49" charset="0"/>
              </a:rPr>
              <a:t>如果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zh-CN" altLang="en-US" sz="2000" b="1" dirty="0">
                <a:latin typeface="Courier New" panose="02070309020205020404" pitchFamily="49" charset="0"/>
              </a:rPr>
              <a:t>非空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2000" b="1" dirty="0">
                <a:latin typeface="Courier New" panose="02070309020205020404" pitchFamily="49" charset="0"/>
              </a:rPr>
              <a:t>  =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-&gt;TS;//</a:t>
            </a:r>
            <a:r>
              <a:rPr lang="zh-CN" altLang="en-US" sz="2000" b="1" dirty="0">
                <a:latin typeface="Courier New" panose="02070309020205020404" pitchFamily="49" charset="0"/>
              </a:rPr>
              <a:t>获取该信号量最后一次发布的时间戳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    ctr   =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2000" b="1" dirty="0">
                <a:latin typeface="Courier New" panose="02070309020205020404" pitchFamily="49" charset="0"/>
              </a:rPr>
              <a:t>-&gt;Ctr; //</a:t>
            </a:r>
            <a:r>
              <a:rPr lang="zh-CN" altLang="en-US" sz="2000" b="1" dirty="0">
                <a:latin typeface="Courier New" panose="02070309020205020404" pitchFamily="49" charset="0"/>
              </a:rPr>
              <a:t>获取信号量的当前资源数目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CPU_CRITICAL_EXIT(); //</a:t>
            </a:r>
            <a:r>
              <a:rPr lang="zh-CN" altLang="en-US" sz="2000" b="1" dirty="0">
                <a:latin typeface="Courier New" panose="02070309020205020404" pitchFamily="49" charset="0"/>
              </a:rPr>
              <a:t>开中断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*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latin typeface="Courier New" panose="02070309020205020404" pitchFamily="49" charset="0"/>
              </a:rPr>
              <a:t> = OS_ERR_NONE; //</a:t>
            </a:r>
            <a:r>
              <a:rPr lang="zh-CN" altLang="en-US" sz="2000" b="1" dirty="0">
                <a:latin typeface="Courier New" panose="02070309020205020404" pitchFamily="49" charset="0"/>
              </a:rPr>
              <a:t>返回错误类型为“无错误”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latin typeface="Courier New" panose="02070309020205020404" pitchFamily="49" charset="0"/>
              </a:rPr>
              <a:t>return (ctr);    //</a:t>
            </a:r>
            <a:r>
              <a:rPr lang="zh-CN" altLang="en-US" sz="2000" b="1" dirty="0">
                <a:latin typeface="Courier New" panose="02070309020205020404" pitchFamily="49" charset="0"/>
              </a:rPr>
              <a:t>返回信号量的当前资源数目，不继续执行</a:t>
            </a:r>
          </a:p>
          <a:p>
            <a:pPr>
              <a:defRPr/>
            </a:pPr>
            <a:r>
              <a:rPr lang="zh-CN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    … …</a:t>
            </a: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3FFA58-6A78-4FEC-AB9A-BCC7D7CABC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990" y="35608"/>
            <a:ext cx="4250906" cy="678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755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0697" y="2608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90940" y="14978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信号量获取函数</a:t>
            </a:r>
            <a:r>
              <a:rPr lang="en-US" altLang="zh-CN" sz="3600" b="1" dirty="0">
                <a:solidFill>
                  <a:srgbClr val="0070C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资源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不</a:t>
            </a: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可用阻塞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1" y="901545"/>
            <a:ext cx="10073928" cy="53553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if ((</a:t>
            </a:r>
            <a:r>
              <a:rPr lang="en-US" altLang="zh-CN" b="1" dirty="0" err="1">
                <a:latin typeface="Courier New" panose="02070309020205020404" pitchFamily="49" charset="0"/>
              </a:rPr>
              <a:t>opt&amp;OS_OPT_PEND_NON_BLOCKING</a:t>
            </a:r>
            <a:r>
              <a:rPr lang="en-US" altLang="zh-CN" b="1" dirty="0">
                <a:latin typeface="Courier New" panose="02070309020205020404" pitchFamily="49" charset="0"/>
              </a:rPr>
              <a:t>)!=(OS_OPT)0){//</a:t>
            </a:r>
            <a:r>
              <a:rPr lang="zh-CN" altLang="en-US" b="1" dirty="0">
                <a:latin typeface="Courier New" panose="02070309020205020404" pitchFamily="49" charset="0"/>
              </a:rPr>
              <a:t>非堵塞请求？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latin typeface="Courier New" panose="02070309020205020404" pitchFamily="49" charset="0"/>
              </a:rPr>
              <a:t>ctr   = 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-&gt;Ctr; //</a:t>
            </a:r>
            <a:r>
              <a:rPr lang="zh-CN" altLang="en-US" b="1" dirty="0">
                <a:latin typeface="Courier New" panose="02070309020205020404" pitchFamily="49" charset="0"/>
              </a:rPr>
              <a:t>获取信号量的资源数目到</a:t>
            </a:r>
            <a:r>
              <a:rPr lang="en-US" altLang="zh-CN" b="1" dirty="0">
                <a:latin typeface="Courier New" panose="02070309020205020404" pitchFamily="49" charset="0"/>
              </a:rPr>
              <a:t>ctr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CPU_CRITICAL_EXIT(); //</a:t>
            </a:r>
            <a:r>
              <a:rPr lang="zh-CN" altLang="en-US" b="1" dirty="0">
                <a:latin typeface="Courier New" panose="02070309020205020404" pitchFamily="49" charset="0"/>
              </a:rPr>
              <a:t>开中断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= OS_ERR_PEND_WOULD_BLOCK; //</a:t>
            </a:r>
            <a:r>
              <a:rPr lang="zh-CN" altLang="en-US" b="1" dirty="0">
                <a:latin typeface="Courier New" panose="02070309020205020404" pitchFamily="49" charset="0"/>
              </a:rPr>
              <a:t>返回信息“等待渴求堵塞”  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latin typeface="Courier New" panose="02070309020205020404" pitchFamily="49" charset="0"/>
              </a:rPr>
              <a:t>return (ctr); //</a:t>
            </a:r>
            <a:r>
              <a:rPr lang="zh-CN" altLang="en-US" b="1" dirty="0">
                <a:latin typeface="Courier New" panose="02070309020205020404" pitchFamily="49" charset="0"/>
              </a:rPr>
              <a:t>返回信号量的当前资源数目，不继续执行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} else {//</a:t>
            </a:r>
            <a:r>
              <a:rPr lang="zh-CN" altLang="en-US" b="1" dirty="0">
                <a:latin typeface="Courier New" panose="02070309020205020404" pitchFamily="49" charset="0"/>
              </a:rPr>
              <a:t>如果没有资源可用，但选择了堵塞任务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latin typeface="Courier New" panose="02070309020205020404" pitchFamily="49" charset="0"/>
              </a:rPr>
              <a:t>if(</a:t>
            </a:r>
            <a:r>
              <a:rPr lang="en-US" altLang="zh-CN" b="1" dirty="0" err="1">
                <a:latin typeface="Courier New" panose="02070309020205020404" pitchFamily="49" charset="0"/>
              </a:rPr>
              <a:t>OSSchedLockNestingCtr</a:t>
            </a:r>
            <a:r>
              <a:rPr lang="en-US" altLang="zh-CN" b="1" dirty="0">
                <a:latin typeface="Courier New" panose="02070309020205020404" pitchFamily="49" charset="0"/>
              </a:rPr>
              <a:t> &gt; (OS_NESTING_CTR)0){//</a:t>
            </a:r>
            <a:r>
              <a:rPr lang="zh-CN" altLang="en-US" b="1" dirty="0">
                <a:latin typeface="Courier New" panose="02070309020205020404" pitchFamily="49" charset="0"/>
              </a:rPr>
              <a:t>如果调度器被锁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</a:rPr>
              <a:t>CPU_CRITICAL_EXIT(); //</a:t>
            </a:r>
            <a:r>
              <a:rPr lang="zh-CN" altLang="en-US" b="1" dirty="0">
                <a:latin typeface="Courier New" panose="02070309020205020404" pitchFamily="49" charset="0"/>
              </a:rPr>
              <a:t>开中断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= OS_ERR_SCHED_LOCKED;//</a:t>
            </a:r>
            <a:r>
              <a:rPr lang="zh-CN" altLang="en-US" b="1" dirty="0">
                <a:latin typeface="Courier New" panose="02070309020205020404" pitchFamily="49" charset="0"/>
              </a:rPr>
              <a:t>返回错误类型为“调度器被锁”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</a:rPr>
              <a:t>return ((OS_SEM_CTR)0); //</a:t>
            </a:r>
            <a:r>
              <a:rPr lang="zh-CN" altLang="en-US" b="1" dirty="0">
                <a:latin typeface="Courier New" panose="02070309020205020404" pitchFamily="49" charset="0"/>
              </a:rPr>
              <a:t>返回</a:t>
            </a:r>
            <a:r>
              <a:rPr lang="en-US" altLang="zh-CN" b="1" dirty="0">
                <a:latin typeface="Courier New" panose="02070309020205020404" pitchFamily="49" charset="0"/>
              </a:rPr>
              <a:t>0</a:t>
            </a:r>
            <a:r>
              <a:rPr lang="zh-CN" altLang="en-US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}                                                            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OS_CRITICAL_ENTER_CPU_EXIT(); //</a:t>
            </a:r>
            <a:r>
              <a:rPr lang="zh-CN" altLang="en-US" b="1" dirty="0">
                <a:latin typeface="Courier New" panose="02070309020205020404" pitchFamily="49" charset="0"/>
              </a:rPr>
              <a:t>锁调度器，并重开中断</a:t>
            </a:r>
          </a:p>
          <a:p>
            <a:pPr>
              <a:defRPr/>
            </a:pPr>
            <a:r>
              <a:rPr lang="en-US" altLang="zh-CN" b="1" dirty="0" err="1">
                <a:latin typeface="Courier New" panose="02070309020205020404" pitchFamily="49" charset="0"/>
              </a:rPr>
              <a:t>OS_Pend</a:t>
            </a:r>
            <a:r>
              <a:rPr lang="en-US" altLang="zh-CN" b="1" dirty="0">
                <a:latin typeface="Courier New" panose="02070309020205020404" pitchFamily="49" charset="0"/>
              </a:rPr>
              <a:t>(&amp;</a:t>
            </a:r>
            <a:r>
              <a:rPr lang="en-US" altLang="zh-CN" b="1" dirty="0" err="1">
                <a:latin typeface="Courier New" panose="02070309020205020404" pitchFamily="49" charset="0"/>
              </a:rPr>
              <a:t>pend_data</a:t>
            </a:r>
            <a:r>
              <a:rPr lang="en-US" altLang="zh-CN" b="1" dirty="0">
                <a:latin typeface="Courier New" panose="02070309020205020404" pitchFamily="49" charset="0"/>
              </a:rPr>
              <a:t>, //</a:t>
            </a:r>
            <a:r>
              <a:rPr lang="zh-CN" altLang="en-US" b="1" dirty="0">
                <a:latin typeface="Courier New" panose="02070309020205020404" pitchFamily="49" charset="0"/>
              </a:rPr>
              <a:t>堵塞等待任务，将当前任务脱离就绪列表，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(OS_PEND_OBJ *)((void *)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),//</a:t>
            </a:r>
            <a:r>
              <a:rPr lang="zh-CN" altLang="en-US" b="1" dirty="0">
                <a:latin typeface="Courier New" panose="02070309020205020404" pitchFamily="49" charset="0"/>
              </a:rPr>
              <a:t>并插入到节拍列表和等待列表。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OS_TASK_PEND_ON_SEM,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timeout);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OS_CRITICAL_EXIT_NO_SCHED();//</a:t>
            </a:r>
            <a:r>
              <a:rPr lang="zh-CN" altLang="en-US" b="1" dirty="0">
                <a:latin typeface="Courier New" panose="02070309020205020404" pitchFamily="49" charset="0"/>
              </a:rPr>
              <a:t>开调度器，但不进行调度</a:t>
            </a:r>
          </a:p>
          <a:p>
            <a:pPr>
              <a:defRPr/>
            </a:pPr>
            <a:r>
              <a:rPr lang="en-US" altLang="zh-CN" b="1" dirty="0" err="1">
                <a:latin typeface="Courier New" panose="02070309020205020404" pitchFamily="49" charset="0"/>
              </a:rPr>
              <a:t>OSSched</a:t>
            </a:r>
            <a:r>
              <a:rPr lang="en-US" altLang="zh-CN" b="1" dirty="0">
                <a:latin typeface="Courier New" panose="02070309020205020404" pitchFamily="49" charset="0"/>
              </a:rPr>
              <a:t>();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C6B965-1FCA-4D67-A1BD-F387CC584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283" y="396718"/>
            <a:ext cx="3905451" cy="631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53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0697" y="2608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6" y="26084"/>
            <a:ext cx="8142175" cy="68345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CPU_CRITICAL_ENTER(); //</a:t>
            </a:r>
            <a:r>
              <a:rPr lang="zh-CN" altLang="en-US" sz="1500" b="1" dirty="0">
                <a:latin typeface="Courier New" panose="02070309020205020404" pitchFamily="49" charset="0"/>
              </a:rPr>
              <a:t>关中断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</a:t>
            </a:r>
            <a:r>
              <a:rPr lang="en-US" altLang="zh-CN" sz="1500" b="1" dirty="0">
                <a:latin typeface="Courier New" panose="02070309020205020404" pitchFamily="49" charset="0"/>
              </a:rPr>
              <a:t>switch 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OSTCBCurPtr</a:t>
            </a:r>
            <a:r>
              <a:rPr lang="en-US" altLang="zh-CN" sz="1500" b="1" dirty="0">
                <a:latin typeface="Courier New" panose="02070309020205020404" pitchFamily="49" charset="0"/>
              </a:rPr>
              <a:t>-&gt;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PendStatus</a:t>
            </a:r>
            <a:r>
              <a:rPr lang="en-US" altLang="zh-CN" sz="1500" b="1" dirty="0">
                <a:latin typeface="Courier New" panose="02070309020205020404" pitchFamily="49" charset="0"/>
              </a:rPr>
              <a:t>) {//</a:t>
            </a:r>
            <a:r>
              <a:rPr lang="zh-CN" altLang="en-US" sz="1500" b="1" dirty="0">
                <a:latin typeface="Courier New" panose="02070309020205020404" pitchFamily="49" charset="0"/>
              </a:rPr>
              <a:t>根据当前运行任务的等待状态分类处理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case OS_STATUS_PEND_OK:  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如果等待状态正常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if 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!= (CPU_TS *)0) {//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zh-CN" altLang="en-US" sz="1500" b="1" dirty="0">
                <a:latin typeface="Courier New" panose="02070309020205020404" pitchFamily="49" charset="0"/>
              </a:rPr>
              <a:t>非空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 = 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OSTCBCurPtr</a:t>
            </a:r>
            <a:r>
              <a:rPr lang="en-US" altLang="zh-CN" sz="1500" b="1" dirty="0">
                <a:latin typeface="Courier New" panose="02070309020205020404" pitchFamily="49" charset="0"/>
              </a:rPr>
              <a:t>-&gt;TS; //</a:t>
            </a:r>
            <a:r>
              <a:rPr lang="zh-CN" altLang="en-US" sz="1500" b="1" dirty="0">
                <a:latin typeface="Courier New" panose="02070309020205020404" pitchFamily="49" charset="0"/>
              </a:rPr>
              <a:t>获取信号被发布的时间戳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500" b="1" dirty="0">
                <a:latin typeface="Courier New" panose="02070309020205020404" pitchFamily="49" charset="0"/>
              </a:rPr>
              <a:t> = OS_ERR_NONE;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返回错误类型为“无错误”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break;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case OS_STATUS_PEND_ABORT: 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如果等待被终止中止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if 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!= (CPU_TS *)0) {//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zh-CN" altLang="en-US" sz="1500" b="1" dirty="0">
                <a:latin typeface="Courier New" panose="02070309020205020404" pitchFamily="49" charset="0"/>
              </a:rPr>
              <a:t>非空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 = 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OSTCBCurPtr</a:t>
            </a:r>
            <a:r>
              <a:rPr lang="en-US" altLang="zh-CN" sz="1500" b="1" dirty="0">
                <a:latin typeface="Courier New" panose="02070309020205020404" pitchFamily="49" charset="0"/>
              </a:rPr>
              <a:t>-&gt;TS; //</a:t>
            </a:r>
            <a:r>
              <a:rPr lang="zh-CN" altLang="en-US" sz="1500" b="1" dirty="0">
                <a:latin typeface="Courier New" panose="02070309020205020404" pitchFamily="49" charset="0"/>
              </a:rPr>
              <a:t>获取等待被中止的时间戳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500" b="1" dirty="0">
                <a:latin typeface="Courier New" panose="02070309020205020404" pitchFamily="49" charset="0"/>
              </a:rPr>
              <a:t> = OS_ERR_PEND_ABORT;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返回错误类型为“等待被中止”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break;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case OS_STATUS_PEND_TIMEOUT:   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如果等待超时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if 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!= (CPU_TS *)0) {//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zh-CN" altLang="en-US" sz="1500" b="1" dirty="0">
                <a:latin typeface="Courier New" panose="02070309020205020404" pitchFamily="49" charset="0"/>
              </a:rPr>
              <a:t>非空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 = (CPU_TS  )0;               //</a:t>
            </a:r>
            <a:r>
              <a:rPr lang="zh-CN" altLang="en-US" sz="1500" b="1" dirty="0">
                <a:latin typeface="Courier New" panose="02070309020205020404" pitchFamily="49" charset="0"/>
              </a:rPr>
              <a:t>清零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endParaRPr lang="en-US" altLang="zh-CN" sz="1500" b="1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}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500" b="1" dirty="0">
                <a:latin typeface="Courier New" panose="02070309020205020404" pitchFamily="49" charset="0"/>
              </a:rPr>
              <a:t> = OS_ERR_TIMEOUT;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返回错误类型为“等待超时”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break;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case OS_STATUS_PEND_DEL: 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如果等待的内核对象被删除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if 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!= (CPU_TS *)0) {//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zh-CN" altLang="en-US" sz="1500" b="1" dirty="0">
                <a:latin typeface="Courier New" panose="02070309020205020404" pitchFamily="49" charset="0"/>
              </a:rPr>
              <a:t>非空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p_ts</a:t>
            </a:r>
            <a:r>
              <a:rPr lang="en-US" altLang="zh-CN" sz="1500" b="1" dirty="0">
                <a:latin typeface="Courier New" panose="02070309020205020404" pitchFamily="49" charset="0"/>
              </a:rPr>
              <a:t>  = 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OSTCBCurPtr</a:t>
            </a:r>
            <a:r>
              <a:rPr lang="en-US" altLang="zh-CN" sz="1500" b="1" dirty="0">
                <a:latin typeface="Courier New" panose="02070309020205020404" pitchFamily="49" charset="0"/>
              </a:rPr>
              <a:t>-&gt;TS; //</a:t>
            </a:r>
            <a:r>
              <a:rPr lang="zh-CN" altLang="en-US" sz="1500" b="1" dirty="0">
                <a:latin typeface="Courier New" panose="02070309020205020404" pitchFamily="49" charset="0"/>
              </a:rPr>
              <a:t>获取内核对象被删除的时间戳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500" b="1" dirty="0">
                <a:latin typeface="Courier New" panose="02070309020205020404" pitchFamily="49" charset="0"/>
              </a:rPr>
              <a:t> = OS_ERR_OBJ_DEL;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返回错误类型为“等待对象被删除”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break;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    default:  //</a:t>
            </a:r>
            <a:r>
              <a:rPr lang="zh-CN" altLang="en-US" sz="1500" b="1" dirty="0">
                <a:latin typeface="Courier New" panose="02070309020205020404" pitchFamily="49" charset="0"/>
              </a:rPr>
              <a:t>如果等待状态超出预期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*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p_err</a:t>
            </a:r>
            <a:r>
              <a:rPr lang="en-US" altLang="zh-CN" sz="1500" b="1" dirty="0">
                <a:latin typeface="Courier New" panose="02070309020205020404" pitchFamily="49" charset="0"/>
              </a:rPr>
              <a:t> = OS_ERR_STATUS_INVALID;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返回错误类型为“等待状态非法”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CPU_CRITICAL_EXIT(); //</a:t>
            </a:r>
            <a:r>
              <a:rPr lang="zh-CN" altLang="en-US" sz="1500" b="1" dirty="0">
                <a:latin typeface="Courier New" panose="02070309020205020404" pitchFamily="49" charset="0"/>
              </a:rPr>
              <a:t>开中断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         </a:t>
            </a:r>
            <a:r>
              <a:rPr lang="en-US" altLang="zh-CN" sz="1500" b="1" dirty="0">
                <a:latin typeface="Courier New" panose="02070309020205020404" pitchFamily="49" charset="0"/>
              </a:rPr>
              <a:t>return ((OS_SEM_CTR)0);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</a:t>
            </a:r>
            <a:r>
              <a:rPr lang="en-US" altLang="zh-CN" sz="1500" b="1" dirty="0">
                <a:latin typeface="Courier New" panose="02070309020205020404" pitchFamily="49" charset="0"/>
              </a:rPr>
              <a:t>0</a:t>
            </a:r>
            <a:r>
              <a:rPr lang="zh-CN" altLang="en-US" sz="1500" b="1" dirty="0">
                <a:latin typeface="Courier New" panose="02070309020205020404" pitchFamily="49" charset="0"/>
              </a:rPr>
              <a:t>（有错误），不继续执行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</a:t>
            </a: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    ctr =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p_sem</a:t>
            </a:r>
            <a:r>
              <a:rPr lang="en-US" altLang="zh-CN" sz="1500" b="1" dirty="0">
                <a:latin typeface="Courier New" panose="02070309020205020404" pitchFamily="49" charset="0"/>
              </a:rPr>
              <a:t>-&gt;Ctr; //</a:t>
            </a:r>
            <a:r>
              <a:rPr lang="zh-CN" altLang="en-US" sz="1500" b="1" dirty="0">
                <a:latin typeface="Courier New" panose="02070309020205020404" pitchFamily="49" charset="0"/>
              </a:rPr>
              <a:t>获取信号量的当前资源数目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</a:t>
            </a:r>
            <a:r>
              <a:rPr lang="en-US" altLang="zh-CN" sz="1500" b="1" dirty="0">
                <a:latin typeface="Courier New" panose="02070309020205020404" pitchFamily="49" charset="0"/>
              </a:rPr>
              <a:t>CPU_CRITICAL_EXIT(); //</a:t>
            </a:r>
            <a:r>
              <a:rPr lang="zh-CN" altLang="en-US" sz="1500" b="1" dirty="0">
                <a:latin typeface="Courier New" panose="02070309020205020404" pitchFamily="49" charset="0"/>
              </a:rPr>
              <a:t>开中断</a:t>
            </a:r>
          </a:p>
          <a:p>
            <a:pPr>
              <a:lnSpc>
                <a:spcPts val="15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</a:rPr>
              <a:t>    </a:t>
            </a:r>
            <a:r>
              <a:rPr lang="en-US" altLang="zh-CN" sz="1500" b="1" dirty="0">
                <a:latin typeface="Courier New" panose="02070309020205020404" pitchFamily="49" charset="0"/>
              </a:rPr>
              <a:t>return (ctr); //</a:t>
            </a:r>
            <a:r>
              <a:rPr lang="zh-CN" altLang="en-US" sz="1500" b="1" dirty="0">
                <a:latin typeface="Courier New" panose="02070309020205020404" pitchFamily="49" charset="0"/>
              </a:rPr>
              <a:t>返回信号量的当前资源数目</a:t>
            </a:r>
          </a:p>
          <a:p>
            <a:pPr>
              <a:lnSpc>
                <a:spcPts val="1500"/>
              </a:lnSpc>
              <a:defRPr/>
            </a:pP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34075" y="-31066"/>
            <a:ext cx="6178203" cy="58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信号量获取函数</a:t>
            </a: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阻塞后苏醒 </a:t>
            </a:r>
            <a:endParaRPr lang="zh-CN" altLang="zh-CN" sz="2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A88F20-EE64-4DE7-BD74-4ED84B13DE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196" y="543500"/>
            <a:ext cx="3934804" cy="628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437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0397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0640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信号量释放函数 </a:t>
            </a: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3" y="1354098"/>
            <a:ext cx="7999157" cy="3139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OS_SEM_CTR  </a:t>
            </a:r>
            <a:r>
              <a:rPr lang="en-US" altLang="zh-CN" b="1" dirty="0" err="1">
                <a:latin typeface="Courier New" panose="02070309020205020404" pitchFamily="49" charset="0"/>
              </a:rPr>
              <a:t>OSSemPost</a:t>
            </a:r>
            <a:r>
              <a:rPr lang="en-US" altLang="zh-CN" b="1" dirty="0">
                <a:latin typeface="Courier New" panose="02070309020205020404" pitchFamily="49" charset="0"/>
              </a:rPr>
              <a:t> (OS_SEM  *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,//</a:t>
            </a:r>
            <a:r>
              <a:rPr lang="zh-CN" altLang="en-US" b="1" dirty="0">
                <a:latin typeface="Courier New" panose="02070309020205020404" pitchFamily="49" charset="0"/>
              </a:rPr>
              <a:t>多值信号量控制块指针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       </a:t>
            </a:r>
            <a:r>
              <a:rPr lang="en-US" altLang="zh-CN" b="1" dirty="0">
                <a:latin typeface="Courier New" panose="02070309020205020404" pitchFamily="49" charset="0"/>
              </a:rPr>
              <a:t>OS_OPT   opt,  //</a:t>
            </a:r>
            <a:r>
              <a:rPr lang="zh-CN" altLang="en-US" b="1" dirty="0">
                <a:latin typeface="Courier New" panose="02070309020205020404" pitchFamily="49" charset="0"/>
              </a:rPr>
              <a:t>选项</a:t>
            </a:r>
          </a:p>
          <a:p>
            <a:pPr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       </a:t>
            </a:r>
            <a:r>
              <a:rPr lang="en-US" altLang="zh-CN" b="1" dirty="0">
                <a:latin typeface="Courier New" panose="02070309020205020404" pitchFamily="49" charset="0"/>
              </a:rPr>
              <a:t>OS_ERR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)//</a:t>
            </a:r>
            <a:r>
              <a:rPr lang="zh-CN" altLang="en-US" b="1" dirty="0">
                <a:latin typeface="Courier New" panose="02070309020205020404" pitchFamily="49" charset="0"/>
              </a:rPr>
              <a:t>返回错误类型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OS_SEM_CTR  ctr;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CPU_TS      </a:t>
            </a:r>
            <a:r>
              <a:rPr lang="en-US" altLang="zh-CN" b="1" dirty="0" err="1">
                <a:latin typeface="Courier New" panose="02070309020205020404" pitchFamily="49" charset="0"/>
              </a:rPr>
              <a:t>ts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//</a:t>
            </a:r>
            <a:r>
              <a:rPr lang="zh-CN" altLang="en-US" b="1" dirty="0">
                <a:latin typeface="Courier New" panose="02070309020205020404" pitchFamily="49" charset="0"/>
              </a:rPr>
              <a:t>参数有效性检测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//</a:t>
            </a:r>
            <a:r>
              <a:rPr lang="zh-CN" altLang="en-US" b="1" dirty="0">
                <a:latin typeface="Courier New" panose="02070309020205020404" pitchFamily="49" charset="0"/>
              </a:rPr>
              <a:t>若在中断中调用，并启用中断延迟发布，则把信号量发布到中断消息队列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//</a:t>
            </a:r>
            <a:r>
              <a:rPr lang="zh-CN" altLang="en-US" b="1" dirty="0">
                <a:latin typeface="Courier New" panose="02070309020205020404" pitchFamily="49" charset="0"/>
              </a:rPr>
              <a:t>否则，将信号量按照普通方式处理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CF339C-8B0F-4ABF-9538-3FE8B31B10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942" y="495301"/>
            <a:ext cx="414605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51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2" y="11196"/>
            <a:ext cx="9834043" cy="69230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OS_SEM_CTR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OS_SemPost</a:t>
            </a:r>
            <a:r>
              <a:rPr lang="en-US" altLang="zh-CN" b="1" dirty="0">
                <a:latin typeface="Courier New" panose="02070309020205020404" pitchFamily="49" charset="0"/>
              </a:rPr>
              <a:t>(… …) </a:t>
            </a:r>
            <a:endParaRPr lang="zh-CN" altLang="en-US" b="1" dirty="0">
              <a:latin typeface="Courier New" panose="02070309020205020404" pitchFamily="49" charset="0"/>
            </a:endParaRP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{  CPU_CRITICAL_ENTER(); //</a:t>
            </a:r>
            <a:r>
              <a:rPr lang="zh-CN" altLang="en-US" b="1" dirty="0">
                <a:latin typeface="Courier New" panose="02070309020205020404" pitchFamily="49" charset="0"/>
              </a:rPr>
              <a:t>关中断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 err="1">
                <a:latin typeface="Courier New" panose="02070309020205020404" pitchFamily="49" charset="0"/>
              </a:rPr>
              <a:t>p_pend_list</a:t>
            </a:r>
            <a:r>
              <a:rPr lang="en-US" altLang="zh-CN" b="1" dirty="0">
                <a:latin typeface="Courier New" panose="02070309020205020404" pitchFamily="49" charset="0"/>
              </a:rPr>
              <a:t> = &amp;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PendList</a:t>
            </a:r>
            <a:r>
              <a:rPr lang="en-US" altLang="zh-CN" b="1" dirty="0">
                <a:latin typeface="Courier New" panose="02070309020205020404" pitchFamily="49" charset="0"/>
              </a:rPr>
              <a:t>; //</a:t>
            </a:r>
            <a:r>
              <a:rPr lang="zh-CN" altLang="en-US" b="1" dirty="0">
                <a:latin typeface="Courier New" panose="02070309020205020404" pitchFamily="49" charset="0"/>
              </a:rPr>
              <a:t>取出该信号量的等待列表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latin typeface="Courier New" panose="02070309020205020404" pitchFamily="49" charset="0"/>
              </a:rPr>
              <a:t>if(</a:t>
            </a:r>
            <a:r>
              <a:rPr lang="en-US" altLang="zh-CN" b="1" dirty="0" err="1">
                <a:latin typeface="Courier New" panose="02070309020205020404" pitchFamily="49" charset="0"/>
              </a:rPr>
              <a:t>p_pend_list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NbrEntries</a:t>
            </a:r>
            <a:r>
              <a:rPr lang="en-US" altLang="zh-CN" b="1" dirty="0">
                <a:latin typeface="Courier New" panose="02070309020205020404" pitchFamily="49" charset="0"/>
              </a:rPr>
              <a:t> == (OS_OBJ_QTY)0) {</a:t>
            </a:r>
            <a:r>
              <a:rPr lang="en-US" altLang="zh-CN" sz="1600" b="1" dirty="0"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如果没有任务在等待该信号量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</a:rPr>
              <a:t>switch (</a:t>
            </a:r>
            <a:r>
              <a:rPr lang="en-US" altLang="zh-CN" b="1" dirty="0" err="1">
                <a:latin typeface="Courier New" panose="02070309020205020404" pitchFamily="49" charset="0"/>
              </a:rPr>
              <a:t>sizeof</a:t>
            </a:r>
            <a:r>
              <a:rPr lang="en-US" altLang="zh-CN" b="1" dirty="0">
                <a:latin typeface="Courier New" panose="02070309020205020404" pitchFamily="49" charset="0"/>
              </a:rPr>
              <a:t>(OS_SEM_CTR)) {//</a:t>
            </a:r>
            <a:r>
              <a:rPr lang="zh-CN" altLang="en-US" b="1" dirty="0">
                <a:latin typeface="Courier New" panose="02070309020205020404" pitchFamily="49" charset="0"/>
              </a:rPr>
              <a:t>判断是否将导致该信号量计数值溢出，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</a:t>
            </a:r>
            <a:r>
              <a:rPr lang="en-US" altLang="zh-CN" b="1" dirty="0">
                <a:latin typeface="Courier New" panose="02070309020205020404" pitchFamily="49" charset="0"/>
              </a:rPr>
              <a:t>case 1u:     //</a:t>
            </a:r>
            <a:r>
              <a:rPr lang="zh-CN" altLang="en-US" b="1" dirty="0">
                <a:latin typeface="Courier New" panose="02070309020205020404" pitchFamily="49" charset="0"/>
              </a:rPr>
              <a:t>如果溢出，则开中断，返回错误类型为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 </a:t>
            </a:r>
            <a:r>
              <a:rPr lang="en-US" altLang="zh-CN" b="1" dirty="0">
                <a:latin typeface="Courier New" panose="02070309020205020404" pitchFamily="49" charset="0"/>
              </a:rPr>
              <a:t>if (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 == DEF_INT_08U_MAX_VAL) {//</a:t>
            </a:r>
            <a:r>
              <a:rPr lang="zh-CN" altLang="en-US" b="1" dirty="0">
                <a:latin typeface="Courier New" panose="02070309020205020404" pitchFamily="49" charset="0"/>
              </a:rPr>
              <a:t>一个字节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     </a:t>
            </a:r>
            <a:r>
              <a:rPr lang="en-US" altLang="zh-CN" b="1" dirty="0">
                <a:latin typeface="Courier New" panose="02070309020205020404" pitchFamily="49" charset="0"/>
              </a:rPr>
              <a:t>CPU_CRITICAL_EXIT();        </a:t>
            </a:r>
            <a:endParaRPr lang="zh-CN" altLang="en-US" b="1" dirty="0">
              <a:latin typeface="Courier New" panose="02070309020205020404" pitchFamily="49" charset="0"/>
            </a:endParaRP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 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= OS_ERR_SEM_OVF;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    return ((OS_SEM_CTR)0);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break;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case 2u: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if (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 == DEF_INT_16U_MAX_VAL) {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    CPU_CRITICAL_EXIT();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= OS_ERR_SEM_OVF;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    return ((OS_SEM_CTR)0);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 break;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case 4u: … … 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-&gt;Ctr++;           //</a:t>
            </a:r>
            <a:r>
              <a:rPr lang="zh-CN" altLang="en-US" b="1" dirty="0">
                <a:latin typeface="Courier New" panose="02070309020205020404" pitchFamily="49" charset="0"/>
              </a:rPr>
              <a:t>信号量计数值不溢出则加</a:t>
            </a:r>
            <a:r>
              <a:rPr lang="en-US" altLang="zh-CN" b="1" dirty="0">
                <a:latin typeface="Courier New" panose="02070309020205020404" pitchFamily="49" charset="0"/>
              </a:rPr>
              <a:t>1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ctr       = 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-&gt;Ctr; //</a:t>
            </a:r>
            <a:r>
              <a:rPr lang="zh-CN" altLang="en-US" b="1" dirty="0">
                <a:latin typeface="Courier New" panose="02070309020205020404" pitchFamily="49" charset="0"/>
              </a:rPr>
              <a:t>获取信号量计数值到 </a:t>
            </a:r>
            <a:r>
              <a:rPr lang="en-US" altLang="zh-CN" b="1" dirty="0">
                <a:latin typeface="Courier New" panose="02070309020205020404" pitchFamily="49" charset="0"/>
              </a:rPr>
              <a:t>ctr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-&gt;TS = </a:t>
            </a:r>
            <a:r>
              <a:rPr lang="en-US" altLang="zh-CN" b="1" dirty="0" err="1">
                <a:latin typeface="Courier New" panose="02070309020205020404" pitchFamily="49" charset="0"/>
              </a:rPr>
              <a:t>ts</a:t>
            </a:r>
            <a:r>
              <a:rPr lang="en-US" altLang="zh-CN" b="1" dirty="0">
                <a:latin typeface="Courier New" panose="02070309020205020404" pitchFamily="49" charset="0"/>
              </a:rPr>
              <a:t>;         //</a:t>
            </a:r>
            <a:r>
              <a:rPr lang="zh-CN" altLang="en-US" b="1" dirty="0">
                <a:latin typeface="Courier New" panose="02070309020205020404" pitchFamily="49" charset="0"/>
              </a:rPr>
              <a:t>保存时间戳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</a:rPr>
              <a:t>CPU_CRITICAL_EXIT();    //</a:t>
            </a:r>
            <a:r>
              <a:rPr lang="zh-CN" altLang="en-US" b="1" dirty="0">
                <a:latin typeface="Courier New" panose="02070309020205020404" pitchFamily="49" charset="0"/>
              </a:rPr>
              <a:t>则开中断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    = OS_ERR_NONE; //</a:t>
            </a:r>
            <a:r>
              <a:rPr lang="zh-CN" altLang="en-US" b="1" dirty="0">
                <a:latin typeface="Courier New" panose="02070309020205020404" pitchFamily="49" charset="0"/>
              </a:rPr>
              <a:t>返回错误类型为“无错误”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</a:rPr>
              <a:t>return (ctr); //</a:t>
            </a:r>
            <a:r>
              <a:rPr lang="zh-CN" altLang="en-US" b="1" dirty="0">
                <a:latin typeface="Courier New" panose="02070309020205020404" pitchFamily="49" charset="0"/>
              </a:rPr>
              <a:t>返回信号量的计数值，不继续执行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03640" y="-97741"/>
            <a:ext cx="7006878" cy="60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信号量释放函数</a:t>
            </a:r>
            <a:r>
              <a:rPr lang="en-US" altLang="zh-CN" sz="2800" b="1" dirty="0">
                <a:solidFill>
                  <a:srgbClr val="0070C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普通处理方式</a:t>
            </a:r>
            <a:endParaRPr lang="zh-CN" altLang="zh-CN" sz="28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22144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5">
            <a:extLst>
              <a:ext uri="{FF2B5EF4-FFF2-40B4-BE49-F238E27FC236}">
                <a16:creationId xmlns:a16="http://schemas.microsoft.com/office/drawing/2014/main" id="{0D061872-D3EA-4938-ACA1-94092C490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2" y="20721"/>
            <a:ext cx="11394142" cy="69230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OS_SEM_CTR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OS_SemPost</a:t>
            </a:r>
            <a:r>
              <a:rPr lang="en-US" altLang="zh-CN" b="1" dirty="0">
                <a:latin typeface="Courier New" panose="02070309020205020404" pitchFamily="49" charset="0"/>
              </a:rPr>
              <a:t>(… …) </a:t>
            </a:r>
            <a:endParaRPr lang="zh-CN" altLang="en-US" b="1" dirty="0">
              <a:latin typeface="Courier New" panose="02070309020205020404" pitchFamily="49" charset="0"/>
            </a:endParaRP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{   … …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OS_CRITICAL_ENTER_CPU_EXIT();            //</a:t>
            </a:r>
            <a:r>
              <a:rPr lang="zh-CN" altLang="en-US" b="1" dirty="0">
                <a:latin typeface="Courier New" panose="02070309020205020404" pitchFamily="49" charset="0"/>
              </a:rPr>
              <a:t>加锁调度器，但开中断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latin typeface="Courier New" panose="02070309020205020404" pitchFamily="49" charset="0"/>
              </a:rPr>
              <a:t>if((opt &amp; OS_OPT_POST_ALL)!=(OS_OPT)0){//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如果要将信号量发布给所有等待任务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r>
              <a:rPr lang="en-US" altLang="zh-CN" b="1" dirty="0">
                <a:latin typeface="Courier New" panose="02070309020205020404" pitchFamily="49" charset="0"/>
              </a:rPr>
              <a:t> = </a:t>
            </a:r>
            <a:r>
              <a:rPr lang="en-US" altLang="zh-CN" b="1" dirty="0" err="1">
                <a:latin typeface="Courier New" panose="02070309020205020404" pitchFamily="49" charset="0"/>
              </a:rPr>
              <a:t>p_pend_list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NbrEntries</a:t>
            </a:r>
            <a:r>
              <a:rPr lang="en-US" altLang="zh-CN" b="1" dirty="0">
                <a:latin typeface="Courier New" panose="02070309020205020404" pitchFamily="49" charset="0"/>
              </a:rPr>
              <a:t>;     //</a:t>
            </a:r>
            <a:r>
              <a:rPr lang="zh-CN" altLang="en-US" b="1" dirty="0">
                <a:latin typeface="Courier New" panose="02070309020205020404" pitchFamily="49" charset="0"/>
              </a:rPr>
              <a:t>获取等待任务数目到 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} else {                               //</a:t>
            </a:r>
            <a:r>
              <a:rPr lang="zh-CN" altLang="en-US" b="1" dirty="0">
                <a:latin typeface="Courier New" panose="02070309020205020404" pitchFamily="49" charset="0"/>
              </a:rPr>
              <a:t>如果要将信号量发布给优先级最高的等待任务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r>
              <a:rPr lang="en-US" altLang="zh-CN" b="1" dirty="0">
                <a:latin typeface="Courier New" panose="02070309020205020404" pitchFamily="49" charset="0"/>
              </a:rPr>
              <a:t> = (OS_OBJ_QTY)1;               //</a:t>
            </a:r>
            <a:r>
              <a:rPr lang="zh-CN" altLang="en-US" b="1" dirty="0">
                <a:latin typeface="Courier New" panose="02070309020205020404" pitchFamily="49" charset="0"/>
              </a:rPr>
              <a:t>将要操作的任务数为</a:t>
            </a:r>
            <a:r>
              <a:rPr lang="en-US" altLang="zh-CN" b="1" dirty="0">
                <a:latin typeface="Courier New" panose="02070309020205020404" pitchFamily="49" charset="0"/>
              </a:rPr>
              <a:t>1</a:t>
            </a:r>
            <a:r>
              <a:rPr lang="zh-CN" altLang="en-US" b="1" dirty="0">
                <a:latin typeface="Courier New" panose="02070309020205020404" pitchFamily="49" charset="0"/>
              </a:rPr>
              <a:t>，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zh-CN" altLang="en-US" b="1" dirty="0">
                <a:latin typeface="Courier New" panose="02070309020205020404" pitchFamily="49" charset="0"/>
              </a:rPr>
              <a:t>置</a:t>
            </a:r>
            <a:r>
              <a:rPr lang="en-US" altLang="zh-CN" b="1" dirty="0">
                <a:latin typeface="Courier New" panose="02070309020205020404" pitchFamily="49" charset="0"/>
              </a:rPr>
              <a:t>1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</a:t>
            </a:r>
            <a:r>
              <a:rPr lang="en-US" altLang="zh-CN" b="1" dirty="0">
                <a:latin typeface="Courier New" panose="02070309020205020404" pitchFamily="49" charset="0"/>
              </a:rPr>
              <a:t> = </a:t>
            </a:r>
            <a:r>
              <a:rPr lang="en-US" altLang="zh-CN" b="1" dirty="0" err="1">
                <a:latin typeface="Courier New" panose="02070309020205020404" pitchFamily="49" charset="0"/>
              </a:rPr>
              <a:t>p_pend_list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HeadPtr</a:t>
            </a:r>
            <a:r>
              <a:rPr lang="en-US" altLang="zh-CN" b="1" dirty="0">
                <a:latin typeface="Courier New" panose="02070309020205020404" pitchFamily="49" charset="0"/>
              </a:rPr>
              <a:t>;    //</a:t>
            </a:r>
            <a:r>
              <a:rPr lang="zh-CN" altLang="en-US" b="1" dirty="0">
                <a:latin typeface="Courier New" panose="02070309020205020404" pitchFamily="49" charset="0"/>
              </a:rPr>
              <a:t>获取等待列表的首个任务到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while (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r>
              <a:rPr lang="en-US" altLang="zh-CN" b="1" dirty="0">
                <a:latin typeface="Courier New" panose="02070309020205020404" pitchFamily="49" charset="0"/>
              </a:rPr>
              <a:t> &gt; 0u) {//</a:t>
            </a:r>
            <a:r>
              <a:rPr lang="zh-CN" altLang="en-US" b="1" dirty="0">
                <a:latin typeface="Courier New" panose="02070309020205020404" pitchFamily="49" charset="0"/>
              </a:rPr>
              <a:t>逐个处理要发布的任务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p_tcb</a:t>
            </a:r>
            <a:r>
              <a:rPr lang="en-US" altLang="zh-CN" b="1" dirty="0">
                <a:latin typeface="Courier New" panose="02070309020205020404" pitchFamily="49" charset="0"/>
              </a:rPr>
              <a:t>            =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TCBPtr</a:t>
            </a:r>
            <a:r>
              <a:rPr lang="en-US" altLang="zh-CN" b="1" dirty="0">
                <a:latin typeface="Courier New" panose="02070309020205020404" pitchFamily="49" charset="0"/>
              </a:rPr>
              <a:t>; //</a:t>
            </a:r>
            <a:r>
              <a:rPr lang="zh-CN" altLang="en-US" b="1" dirty="0">
                <a:latin typeface="Courier New" panose="02070309020205020404" pitchFamily="49" charset="0"/>
              </a:rPr>
              <a:t>取出当前任务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p_pend_data_next</a:t>
            </a:r>
            <a:r>
              <a:rPr lang="en-US" altLang="zh-CN" b="1" dirty="0">
                <a:latin typeface="Courier New" panose="02070309020205020404" pitchFamily="49" charset="0"/>
              </a:rPr>
              <a:t> =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</a:t>
            </a:r>
            <a:r>
              <a:rPr lang="en-US" altLang="zh-CN" b="1" dirty="0">
                <a:latin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</a:rPr>
              <a:t>NextPtr</a:t>
            </a:r>
            <a:r>
              <a:rPr lang="en-US" altLang="zh-CN" b="1" dirty="0">
                <a:latin typeface="Courier New" panose="02070309020205020404" pitchFamily="49" charset="0"/>
              </a:rPr>
              <a:t>; //</a:t>
            </a:r>
            <a:r>
              <a:rPr lang="zh-CN" altLang="en-US" b="1" dirty="0">
                <a:latin typeface="Courier New" panose="02070309020205020404" pitchFamily="49" charset="0"/>
              </a:rPr>
              <a:t>取出下一个任务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OS_Post</a:t>
            </a:r>
            <a:r>
              <a:rPr lang="en-US" altLang="zh-CN" b="1" dirty="0">
                <a:latin typeface="Courier New" panose="02070309020205020404" pitchFamily="49" charset="0"/>
              </a:rPr>
              <a:t>((OS_PEND_OBJ *)((void *)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), //</a:t>
            </a:r>
            <a:r>
              <a:rPr lang="zh-CN" altLang="en-US" b="1" dirty="0">
                <a:latin typeface="Courier New" panose="02070309020205020404" pitchFamily="49" charset="0"/>
              </a:rPr>
              <a:t>发布信号量给当前任务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p_tcb</a:t>
            </a:r>
            <a:r>
              <a:rPr lang="en-US" altLang="zh-CN" b="1" dirty="0"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(void      *)0,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(OS_MSG_SIZE)0,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latin typeface="Courier New" panose="02070309020205020404" pitchFamily="49" charset="0"/>
              </a:rPr>
              <a:t>ts</a:t>
            </a:r>
            <a:r>
              <a:rPr lang="en-US" altLang="zh-CN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</a:t>
            </a:r>
            <a:r>
              <a:rPr lang="en-US" altLang="zh-CN" b="1" dirty="0">
                <a:latin typeface="Courier New" panose="02070309020205020404" pitchFamily="49" charset="0"/>
              </a:rPr>
              <a:t> = </a:t>
            </a:r>
            <a:r>
              <a:rPr lang="en-US" altLang="zh-CN" b="1" dirty="0" err="1">
                <a:latin typeface="Courier New" panose="02070309020205020404" pitchFamily="49" charset="0"/>
              </a:rPr>
              <a:t>p_pend_data_next</a:t>
            </a:r>
            <a:r>
              <a:rPr lang="en-US" altLang="zh-CN" b="1" dirty="0">
                <a:latin typeface="Courier New" panose="02070309020205020404" pitchFamily="49" charset="0"/>
              </a:rPr>
              <a:t>;        //</a:t>
            </a:r>
            <a:r>
              <a:rPr lang="zh-CN" altLang="en-US" b="1" dirty="0">
                <a:latin typeface="Courier New" panose="02070309020205020404" pitchFamily="49" charset="0"/>
              </a:rPr>
              <a:t>处理下一个任务          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</a:rPr>
              <a:t>cnt</a:t>
            </a:r>
            <a:r>
              <a:rPr lang="en-US" altLang="zh-CN" b="1" dirty="0">
                <a:latin typeface="Courier New" panose="02070309020205020404" pitchFamily="49" charset="0"/>
              </a:rPr>
              <a:t>--;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ctr = </a:t>
            </a:r>
            <a:r>
              <a:rPr lang="en-US" altLang="zh-CN" b="1" dirty="0" err="1">
                <a:latin typeface="Courier New" panose="02070309020205020404" pitchFamily="49" charset="0"/>
              </a:rPr>
              <a:t>p_sem</a:t>
            </a:r>
            <a:r>
              <a:rPr lang="en-US" altLang="zh-CN" b="1" dirty="0">
                <a:latin typeface="Courier New" panose="02070309020205020404" pitchFamily="49" charset="0"/>
              </a:rPr>
              <a:t>-&gt;Ctr;                        //</a:t>
            </a:r>
            <a:r>
              <a:rPr lang="zh-CN" altLang="en-US" b="1" dirty="0">
                <a:latin typeface="Courier New" panose="02070309020205020404" pitchFamily="49" charset="0"/>
              </a:rPr>
              <a:t>获取信号量计数值到 </a:t>
            </a:r>
            <a:r>
              <a:rPr lang="en-US" altLang="zh-CN" b="1" dirty="0">
                <a:latin typeface="Courier New" panose="02070309020205020404" pitchFamily="49" charset="0"/>
              </a:rPr>
              <a:t>ctr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 OS_CRITICAL_EXIT_NO_SCHED();             //</a:t>
            </a:r>
            <a:r>
              <a:rPr lang="zh-CN" altLang="en-US" b="1" dirty="0">
                <a:latin typeface="Courier New" panose="02070309020205020404" pitchFamily="49" charset="0"/>
              </a:rPr>
              <a:t>减锁调度器，但不执行任务调度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latin typeface="Courier New" panose="02070309020205020404" pitchFamily="49" charset="0"/>
              </a:rPr>
              <a:t>if ((opt &amp; OS_OPT_POST_NO_SCHED) == (OS_OPT)0) {//</a:t>
            </a:r>
            <a:r>
              <a:rPr lang="zh-CN" altLang="en-US" b="1" dirty="0">
                <a:latin typeface="Courier New" panose="02070309020205020404" pitchFamily="49" charset="0"/>
              </a:rPr>
              <a:t>如果 </a:t>
            </a:r>
            <a:r>
              <a:rPr lang="en-US" altLang="zh-CN" b="1" dirty="0">
                <a:latin typeface="Courier New" panose="02070309020205020404" pitchFamily="49" charset="0"/>
              </a:rPr>
              <a:t>opt </a:t>
            </a:r>
            <a:r>
              <a:rPr lang="zh-CN" altLang="en-US" b="1" dirty="0">
                <a:latin typeface="Courier New" panose="02070309020205020404" pitchFamily="49" charset="0"/>
              </a:rPr>
              <a:t>没选择“发布时不调度任务”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b="1" dirty="0">
                <a:latin typeface="Courier New" panose="02070309020205020404" pitchFamily="49" charset="0"/>
              </a:rPr>
              <a:t>();                                  //</a:t>
            </a:r>
            <a:r>
              <a:rPr lang="zh-CN" altLang="en-US" b="1" dirty="0">
                <a:latin typeface="Courier New" panose="02070309020205020404" pitchFamily="49" charset="0"/>
              </a:rPr>
              <a:t>任务调度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   *</a:t>
            </a:r>
            <a:r>
              <a:rPr lang="en-US" altLang="zh-CN" b="1" dirty="0" err="1"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latin typeface="Courier New" panose="02070309020205020404" pitchFamily="49" charset="0"/>
              </a:rPr>
              <a:t> = OS_ERR_NONE;               //</a:t>
            </a:r>
            <a:r>
              <a:rPr lang="zh-CN" altLang="en-US" b="1" dirty="0">
                <a:latin typeface="Courier New" panose="02070309020205020404" pitchFamily="49" charset="0"/>
              </a:rPr>
              <a:t>返回错误类型为“无错误”</a:t>
            </a:r>
          </a:p>
          <a:p>
            <a:pPr>
              <a:lnSpc>
                <a:spcPts val="1900"/>
              </a:lnSpc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latin typeface="Courier New" panose="02070309020205020404" pitchFamily="49" charset="0"/>
              </a:rPr>
              <a:t>return (ctr);                      //</a:t>
            </a:r>
            <a:r>
              <a:rPr lang="zh-CN" altLang="en-US" b="1" dirty="0">
                <a:latin typeface="Courier New" panose="02070309020205020404" pitchFamily="49" charset="0"/>
              </a:rPr>
              <a:t>返回信号量的当前计数值</a:t>
            </a:r>
          </a:p>
          <a:p>
            <a:pPr>
              <a:lnSpc>
                <a:spcPts val="1900"/>
              </a:lnSpc>
              <a:defRPr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18447" y="-97741"/>
            <a:ext cx="7006878" cy="60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信号量释放函数</a:t>
            </a:r>
            <a:r>
              <a:rPr lang="en-US" altLang="zh-CN" sz="2800" b="1" dirty="0">
                <a:solidFill>
                  <a:srgbClr val="0070C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普通处理方式</a:t>
            </a:r>
            <a:endParaRPr lang="zh-CN" altLang="zh-CN" sz="28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26569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36061</TotalTime>
  <Words>3459</Words>
  <Application>Microsoft Office PowerPoint</Application>
  <PresentationFormat>宽屏</PresentationFormat>
  <Paragraphs>306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PJMWDW+STZhongsong,Bold</vt:lpstr>
      <vt:lpstr>等线</vt:lpstr>
      <vt:lpstr>等线 Light</vt:lpstr>
      <vt:lpstr>宋体</vt:lpstr>
      <vt:lpstr>Arial</vt:lpstr>
      <vt:lpstr>Calibri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499</cp:revision>
  <dcterms:created xsi:type="dcterms:W3CDTF">2020-11-10T10:12:45Z</dcterms:created>
  <dcterms:modified xsi:type="dcterms:W3CDTF">2021-12-09T02:17:21Z</dcterms:modified>
</cp:coreProperties>
</file>