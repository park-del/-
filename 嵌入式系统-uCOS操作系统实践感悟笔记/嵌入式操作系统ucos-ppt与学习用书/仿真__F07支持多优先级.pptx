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484" r:id="rId3"/>
    <p:sldId id="474" r:id="rId4"/>
    <p:sldId id="485" r:id="rId5"/>
    <p:sldId id="486" r:id="rId6"/>
    <p:sldId id="498" r:id="rId7"/>
    <p:sldId id="505" r:id="rId8"/>
    <p:sldId id="495" r:id="rId9"/>
    <p:sldId id="496" r:id="rId10"/>
    <p:sldId id="497" r:id="rId11"/>
    <p:sldId id="506" r:id="rId12"/>
    <p:sldId id="499" r:id="rId13"/>
    <p:sldId id="507" r:id="rId14"/>
    <p:sldId id="500" r:id="rId15"/>
    <p:sldId id="501" r:id="rId16"/>
    <p:sldId id="508" r:id="rId17"/>
    <p:sldId id="502" r:id="rId18"/>
    <p:sldId id="504" r:id="rId19"/>
    <p:sldId id="503" r:id="rId20"/>
    <p:sldId id="509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32" autoAdjust="0"/>
    <p:restoredTop sz="93826" autoAdjust="0"/>
  </p:normalViewPr>
  <p:slideViewPr>
    <p:cSldViewPr snapToGrid="0">
      <p:cViewPr varScale="1">
        <p:scale>
          <a:sx n="80" d="100"/>
          <a:sy n="80" d="100"/>
        </p:scale>
        <p:origin x="2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E16AB-453D-4224-B0C8-022441C300AE}" type="datetimeFigureOut">
              <a:rPr lang="zh-CN" altLang="en-US" smtClean="0"/>
              <a:t>2021/11/1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172AF-2797-4AC5-BC52-C6EAF0479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21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E94BA-B1A5-4ECC-B5B1-7FA78BEB8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C39ADC-A550-4C3A-9AC2-CD5298697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DE12A6-846E-4071-AF36-F41D6CA1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28A229-06B4-4B51-88D1-1B59AD70E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851AAF-C4B9-4089-BDE8-07E932C8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30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15887-0E71-4103-85FD-8CDEE6F7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2D7BF-D5A3-4694-8B87-0634500A2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2509E3-02EC-43D1-A1B8-7B546BC9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4BC617-4219-4B83-9A20-F3DB62BD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15B740-6237-411D-B16D-742A66FB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58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AFA55-CE45-4512-9368-A6199B14A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094D45-4159-4800-8A5E-0A21E879C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15BC78-3D5C-4753-85AB-AF1434D2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9A96B6-B0E7-4F0E-AF0E-71E5D525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6AF7A6-99C6-4C37-85D4-BFFF5C61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86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98CA99-0307-44C6-8912-C7B500A2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F5FF9F-2171-42F4-B8E1-E8688D467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6040E7-974C-4556-8607-9775821A3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B3FCB9-DD73-4B34-B330-D284702D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F0194C-E502-4422-9D66-20ABF9DE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B1A57C-9419-44C5-BA41-FE16C527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971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C895A-2473-4092-B69C-61F60772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75E70D-9DBD-45FE-A8B7-5FFEE433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3AE356-1D1C-49C8-BEF0-C645975F6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F17F7B-9C33-480A-8884-6FE5E0C98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31C870-79FD-4E9D-8CDC-FA5D4817C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B89B77-A81C-42DF-914F-8FDD7D12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EAA62C2-D794-4B33-98AB-1F6DD048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01910E-B6BD-4213-81C5-70758008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25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8B822-43CE-49A6-894B-E6B591B9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E7D564-3E82-4F36-AEC0-EDF6E1CB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137A6B-A81E-42F5-86F5-63A4982E0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9ACE2D-6646-4A79-9062-02105E5F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667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86B471-DBF8-41B0-8E8C-0CBF19EA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ADD16E-EC43-467B-9050-3BDC131F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2C1FA3-91EF-46AC-A53F-0D367427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93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0E30B-7D98-4AE2-B249-3FE96362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0A669B-ED10-4783-BFDA-296C57AE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2F041B-38EB-4AD2-9E05-F0488AD08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75CAA6-8A71-4480-80D8-768C76AE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DC111A-5A19-4A5B-897F-41D6D8A7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852CB8-82CD-4492-A4B0-5A0EEDCB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90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B64D3-0394-4B6F-8374-E4F4DAFD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2427DC-FFCA-4E6B-91BD-13B9FB8BDE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DAC41D-6B44-4CE6-B772-2C1771BAF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1D53A6-17FE-4B06-B5C5-135600F8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0E9588-B72D-4BC2-94C9-8986B162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426FB7-51EB-4949-8A04-72ED5554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01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2EAD3-DF79-41FB-A297-A00031B6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2B2B1D-96BC-49C3-B3D5-351185CC6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02ABE4-6BBC-4A33-A377-1C063C60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98C02D-408C-47CD-8C87-096FE1B1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4A4163-6869-4E1B-9FC8-8C8790CC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07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A9FBDB-9CC0-4519-8950-41B7804B2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DB50AE-74FB-490C-84D9-F44BBB830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6DFA88-3356-49A3-836C-A3EAE7F89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61C6CE-5C25-4ECA-8B82-2D95BD66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FA314-0F46-442C-8459-6D27604F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634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>
          <a:xfrm>
            <a:off x="430593" y="388197"/>
            <a:ext cx="7750680" cy="1552789"/>
          </a:xfrm>
        </p:spPr>
        <p:txBody>
          <a:bodyPr/>
          <a:lstStyle/>
          <a:p>
            <a:r>
              <a:rPr lang="en-US" noProof="0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>
          <a:xfrm>
            <a:off x="430593" y="2232135"/>
            <a:ext cx="7750680" cy="6405257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6EEFA144-0481-4318-8D44-693A3A854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DC368E29-8D5C-4805-A101-CCE9E7B8C74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76C65-A18F-4D86-AA5C-5DFE165BDEB2}" type="datetime1">
              <a:rPr lang="en-US" altLang="zh-CN"/>
              <a:pPr>
                <a:defRPr/>
              </a:pPr>
              <a:t>11/1/2021</a:t>
            </a:fld>
            <a:endParaRPr lang="en-US" altLang="zh-C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7EDC50C4-792F-49EB-8F41-BF6AD4BD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33EAC-60A0-4066-A8AE-F5749B32B4F9}" type="slidenum">
              <a:rPr lang="ru-RU" altLang="zh-CN"/>
              <a:pPr>
                <a:defRPr/>
              </a:pPr>
              <a:t>‹#›</a:t>
            </a:fld>
            <a:endParaRPr lang="ru-RU" altLang="zh-CN"/>
          </a:p>
        </p:txBody>
      </p:sp>
    </p:spTree>
    <p:extLst>
      <p:ext uri="{BB962C8B-B14F-4D97-AF65-F5344CB8AC3E}">
        <p14:creationId xmlns:p14="http://schemas.microsoft.com/office/powerpoint/2010/main" val="302488895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7B8A8D-7041-4600-8ED4-E8D852B2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A41A4E-6C33-4B95-85CE-7A662C881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E41D24-F87E-4CAF-9B07-2656566D9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B61CB-0CBA-48E8-BB71-4F28376232DC}" type="datetimeFigureOut">
              <a:rPr lang="zh-CN" altLang="en-US" smtClean="0"/>
              <a:t>2021/11/1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EDF12-62C0-417B-A990-D58E52A79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541EC-86EB-4794-8905-E87716B34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1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object 1">
            <a:extLst>
              <a:ext uri="{FF2B5EF4-FFF2-40B4-BE49-F238E27FC236}">
                <a16:creationId xmlns:a16="http://schemas.microsoft.com/office/drawing/2014/main" id="{4DF71452-0B77-4493-AB39-DD147C9E1B0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8611" name="object 2">
            <a:extLst>
              <a:ext uri="{FF2B5EF4-FFF2-40B4-BE49-F238E27FC236}">
                <a16:creationId xmlns:a16="http://schemas.microsoft.com/office/drawing/2014/main" id="{09051FC2-CFFD-44F2-860D-9F04F04D63B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8612" name="object 4">
            <a:extLst>
              <a:ext uri="{FF2B5EF4-FFF2-40B4-BE49-F238E27FC236}">
                <a16:creationId xmlns:a16="http://schemas.microsoft.com/office/drawing/2014/main" id="{53C7D0FB-BB93-4D66-95AA-B8A0DFBE1CF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69180" y="1499828"/>
            <a:ext cx="5886930" cy="178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7215"/>
              </a:lnSpc>
            </a:pPr>
            <a:r>
              <a:rPr lang="zh-CN" altLang="zh-CN" sz="5446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嵌入式操作系统</a:t>
            </a:r>
            <a:endParaRPr lang="en-US" altLang="zh-CN" sz="5446" b="1" dirty="0">
              <a:solidFill>
                <a:srgbClr val="FF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  <a:p>
            <a:pPr>
              <a:lnSpc>
                <a:spcPts val="7215"/>
              </a:lnSpc>
            </a:pPr>
            <a:r>
              <a:rPr lang="en-US" altLang="zh-CN" sz="5446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         --</a:t>
            </a:r>
            <a:r>
              <a:rPr lang="zh-CN" altLang="en-US" sz="3993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逐步构建</a:t>
            </a:r>
            <a:endParaRPr lang="zh-CN" altLang="zh-CN" sz="3993" b="1" dirty="0">
              <a:solidFill>
                <a:srgbClr val="FF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</p:txBody>
      </p:sp>
      <p:sp>
        <p:nvSpPr>
          <p:cNvPr id="68613" name="object 6">
            <a:extLst>
              <a:ext uri="{FF2B5EF4-FFF2-40B4-BE49-F238E27FC236}">
                <a16:creationId xmlns:a16="http://schemas.microsoft.com/office/drawing/2014/main" id="{2247452C-94B6-4525-8F7E-3C0AA3AF037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144584" y="3559704"/>
            <a:ext cx="7142416" cy="85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7215"/>
              </a:lnSpc>
            </a:pPr>
            <a:r>
              <a:rPr lang="zh-CN" altLang="en-US" sz="5446" b="1" dirty="0">
                <a:solidFill>
                  <a:srgbClr val="00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支持多优先级</a:t>
            </a:r>
            <a:r>
              <a:rPr lang="en-US" altLang="zh-CN" sz="5446" b="1" dirty="0">
                <a:solidFill>
                  <a:srgbClr val="00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    </a:t>
            </a:r>
            <a:endParaRPr lang="zh-CN" altLang="zh-CN" sz="5446" b="1" dirty="0">
              <a:solidFill>
                <a:srgbClr val="00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5543" y="315526"/>
            <a:ext cx="9315932" cy="655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400" b="1" dirty="0">
                <a:solidFill>
                  <a:srgbClr val="0070C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支持多优先级</a:t>
            </a:r>
            <a:endParaRPr lang="zh-CN" altLang="zh-CN" sz="44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790" y="1086247"/>
            <a:ext cx="10579327" cy="2308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36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在本章之前， </a:t>
            </a:r>
            <a:r>
              <a:rPr lang="en-US" altLang="zh-CN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OS </a:t>
            </a:r>
            <a:r>
              <a:rPr lang="zh-CN" altLang="en-US" sz="36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还没有到优先级，只支持两个任务互相切换，从本章开始， 任务中我们开始加入优先级的功能。在 </a:t>
            </a:r>
            <a:r>
              <a:rPr lang="en-US" altLang="zh-CN" sz="3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uC</a:t>
            </a:r>
            <a:r>
              <a:rPr lang="en-US" altLang="zh-CN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/OS-III </a:t>
            </a:r>
            <a:r>
              <a:rPr lang="zh-CN" altLang="en-US" sz="36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中，数字优先级越小，逻辑优先级越高。</a:t>
            </a:r>
            <a:r>
              <a:rPr lang="zh-CN" altLang="en-US" sz="3600" dirty="0"/>
              <a:t> </a:t>
            </a:r>
            <a:endParaRPr lang="en-US" altLang="zh-CN" sz="36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09839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267628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348683"/>
            <a:ext cx="7220913" cy="61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添加功能模块的技术路线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4" name="文本框 5">
            <a:extLst>
              <a:ext uri="{FF2B5EF4-FFF2-40B4-BE49-F238E27FC236}">
                <a16:creationId xmlns:a16="http://schemas.microsoft.com/office/drawing/2014/main" id="{1AF4941B-6CCC-477A-83FB-FA7355D5E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459" y="1119283"/>
            <a:ext cx="8081443" cy="10772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3200" dirty="0">
                <a:solidFill>
                  <a:srgbClr val="0070C0"/>
                </a:solidFill>
                <a:latin typeface="Courier New" panose="02070309020205020404" pitchFamily="49" charset="0"/>
              </a:rPr>
              <a:t>操作     </a:t>
            </a:r>
            <a:r>
              <a:rPr lang="en-US" altLang="zh-CN" sz="3200" dirty="0">
                <a:solidFill>
                  <a:srgbClr val="0070C0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   </a:t>
            </a:r>
            <a:r>
              <a:rPr lang="zh-CN" altLang="en-US" sz="3200" dirty="0">
                <a:solidFill>
                  <a:srgbClr val="0070C0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数据结构</a:t>
            </a:r>
            <a:endParaRPr lang="en-US" altLang="zh-CN" sz="3200" dirty="0">
              <a:solidFill>
                <a:srgbClr val="0070C0"/>
              </a:solidFill>
              <a:latin typeface="Courier New" panose="02070309020205020404" pitchFamily="49" charset="0"/>
              <a:sym typeface="Wingdings" panose="05000000000000000000" pitchFamily="2" charset="2"/>
            </a:endParaRPr>
          </a:p>
          <a:p>
            <a:pPr>
              <a:defRPr/>
            </a:pPr>
            <a:r>
              <a:rPr lang="zh-CN" altLang="en-US" sz="3200" dirty="0">
                <a:solidFill>
                  <a:srgbClr val="0070C0"/>
                </a:solidFill>
                <a:latin typeface="Courier New" panose="02070309020205020404" pitchFamily="49" charset="0"/>
              </a:rPr>
              <a:t>数据结构  </a:t>
            </a:r>
            <a:r>
              <a:rPr lang="en-US" altLang="zh-CN" sz="3200" dirty="0">
                <a:solidFill>
                  <a:srgbClr val="0070C0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   </a:t>
            </a:r>
            <a:r>
              <a:rPr lang="zh-CN" altLang="en-US" sz="3200" dirty="0">
                <a:solidFill>
                  <a:srgbClr val="0070C0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操作</a:t>
            </a:r>
            <a:endParaRPr lang="en-US" altLang="zh-CN" sz="3200" dirty="0">
              <a:solidFill>
                <a:srgbClr val="0070C0"/>
              </a:solidFill>
              <a:latin typeface="Courier New" panose="02070309020205020404" pitchFamily="49" charset="0"/>
            </a:endParaRPr>
          </a:p>
        </p:txBody>
      </p:sp>
      <p:sp>
        <p:nvSpPr>
          <p:cNvPr id="21" name="文本框 5">
            <a:extLst>
              <a:ext uri="{FF2B5EF4-FFF2-40B4-BE49-F238E27FC236}">
                <a16:creationId xmlns:a16="http://schemas.microsoft.com/office/drawing/2014/main" id="{0FE0420C-B666-4AA8-AC9B-2689BA8D5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059" y="2297531"/>
            <a:ext cx="4306541" cy="34163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修改</a:t>
            </a:r>
            <a:r>
              <a:rPr lang="en-US" altLang="zh-CN" sz="2400" b="1" dirty="0" err="1">
                <a:solidFill>
                  <a:schemeClr val="accent5">
                    <a:lumMod val="50000"/>
                  </a:schemeClr>
                </a:solidFill>
              </a:rPr>
              <a:t>OSInit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</a:rPr>
              <a:t>()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函数 </a:t>
            </a:r>
            <a:endParaRPr lang="en-US" altLang="zh-CN"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defRPr/>
            </a:pP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修改 </a:t>
            </a:r>
            <a:r>
              <a:rPr lang="en-US" altLang="zh-CN" sz="2400" b="1" dirty="0" err="1">
                <a:solidFill>
                  <a:schemeClr val="accent5">
                    <a:lumMod val="50000"/>
                  </a:schemeClr>
                </a:solidFill>
              </a:rPr>
              <a:t>OSTaskCreate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</a:rPr>
              <a:t>()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函数 </a:t>
            </a:r>
            <a:b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修改 </a:t>
            </a:r>
            <a:r>
              <a:rPr lang="en-US" altLang="zh-CN" sz="2400" b="1" dirty="0" err="1">
                <a:solidFill>
                  <a:schemeClr val="accent5">
                    <a:lumMod val="50000"/>
                  </a:schemeClr>
                </a:solidFill>
              </a:rPr>
              <a:t>OS_IdleTaskInit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</a:rPr>
              <a:t>()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函数 </a:t>
            </a:r>
            <a:b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修改 </a:t>
            </a:r>
            <a:r>
              <a:rPr lang="en-US" altLang="zh-CN" sz="2400" b="1" dirty="0" err="1">
                <a:solidFill>
                  <a:schemeClr val="accent5">
                    <a:lumMod val="50000"/>
                  </a:schemeClr>
                </a:solidFill>
              </a:rPr>
              <a:t>OSStart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</a:rPr>
              <a:t>()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函数 </a:t>
            </a:r>
            <a:b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修改 </a:t>
            </a:r>
            <a:r>
              <a:rPr lang="en-US" altLang="zh-CN" sz="2400" b="1" dirty="0" err="1">
                <a:solidFill>
                  <a:schemeClr val="accent5">
                    <a:lumMod val="50000"/>
                  </a:schemeClr>
                </a:solidFill>
              </a:rPr>
              <a:t>PendSV_Handler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</a:rPr>
              <a:t>()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函数 </a:t>
            </a:r>
            <a:b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修改 </a:t>
            </a:r>
            <a:r>
              <a:rPr lang="en-US" altLang="zh-CN" sz="2400" b="1" dirty="0" err="1">
                <a:solidFill>
                  <a:schemeClr val="accent5">
                    <a:lumMod val="50000"/>
                  </a:schemeClr>
                </a:solidFill>
              </a:rPr>
              <a:t>OSTimeDly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</a:rPr>
              <a:t>()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函数 </a:t>
            </a:r>
            <a:b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修改 </a:t>
            </a:r>
            <a:r>
              <a:rPr lang="en-US" altLang="zh-CN" sz="24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OSSched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()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lang="en-US" altLang="zh-CN" sz="2400" b="1" dirty="0">
              <a:solidFill>
                <a:schemeClr val="accent5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/>
            </a:pP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修改 </a:t>
            </a:r>
            <a:r>
              <a:rPr lang="en-US" altLang="zh-CN" sz="2400" b="1" dirty="0" err="1">
                <a:solidFill>
                  <a:schemeClr val="accent5">
                    <a:lumMod val="50000"/>
                  </a:schemeClr>
                </a:solidFill>
              </a:rPr>
              <a:t>OSTimeTick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</a:rPr>
              <a:t>()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函数 </a:t>
            </a:r>
            <a:endParaRPr lang="en-US" altLang="zh-CN"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defRPr/>
            </a:pP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修改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</a:rPr>
              <a:t>main 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函数 </a:t>
            </a:r>
            <a:endParaRPr lang="en-US" altLang="zh-CN" sz="2400" b="1" dirty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23" name="文本框 5">
            <a:extLst>
              <a:ext uri="{FF2B5EF4-FFF2-40B4-BE49-F238E27FC236}">
                <a16:creationId xmlns:a16="http://schemas.microsoft.com/office/drawing/2014/main" id="{65EF6FA7-9466-4BE1-AE61-E12F84FE6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6050" y="2288006"/>
            <a:ext cx="5133975" cy="40934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dirty="0">
                <a:solidFill>
                  <a:srgbClr val="2B91AF"/>
                </a:solidFill>
                <a:latin typeface="Courier New" panose="02070309020205020404" pitchFamily="49" charset="0"/>
              </a:rPr>
              <a:t>/*</a:t>
            </a:r>
            <a:r>
              <a:rPr lang="zh-CN" altLang="en-US" sz="2000" dirty="0">
                <a:solidFill>
                  <a:srgbClr val="00B050"/>
                </a:solidFill>
                <a:latin typeface="Courier New" panose="02070309020205020404" pitchFamily="49" charset="0"/>
              </a:rPr>
              <a:t>当前优先级</a:t>
            </a:r>
            <a:r>
              <a:rPr lang="en-US" altLang="zh-CN" sz="2000" dirty="0">
                <a:solidFill>
                  <a:srgbClr val="2B91AF"/>
                </a:solidFill>
                <a:latin typeface="Courier New" panose="02070309020205020404" pitchFamily="49" charset="0"/>
              </a:rPr>
              <a:t>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OS_EXT OS_PRIO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OSPrioCur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2000" dirty="0">
                <a:solidFill>
                  <a:srgbClr val="008000"/>
                </a:solidFill>
                <a:latin typeface="Courier New" panose="02070309020205020404" pitchFamily="49" charset="0"/>
              </a:rPr>
              <a:t>/* </a:t>
            </a:r>
            <a:r>
              <a:rPr lang="zh-CN" altLang="en-US" sz="200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最高优先级 </a:t>
            </a:r>
            <a:r>
              <a:rPr lang="zh-CN" altLang="en-US" sz="2000" dirty="0">
                <a:solidFill>
                  <a:srgbClr val="008000"/>
                </a:solidFill>
                <a:latin typeface="Courier New" panose="02070309020205020404" pitchFamily="49" charset="0"/>
              </a:rPr>
              <a:t>*</a:t>
            </a:r>
            <a:r>
              <a:rPr lang="en-US" altLang="zh-CN" sz="2000" dirty="0">
                <a:solidFill>
                  <a:srgbClr val="008000"/>
                </a:solidFill>
                <a:latin typeface="Courier New" panose="02070309020205020404" pitchFamily="49" charset="0"/>
              </a:rPr>
              <a:t>/</a:t>
            </a:r>
            <a:br>
              <a:rPr lang="en-US" altLang="zh-CN" sz="2000" dirty="0">
                <a:solidFill>
                  <a:srgbClr val="008000"/>
                </a:solidFill>
                <a:latin typeface="Courier New" panose="02070309020205020404" pitchFamily="49" charset="0"/>
              </a:rPr>
            </a:b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OS_EXT OS_PRIO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OSPrioHighRdy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struct 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os_tcb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{   CPU_STK         *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StkPtr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   CPU_STK_SIZE    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StkSize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   OS_TICK         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TaskDelayTicks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;    </a:t>
            </a:r>
          </a:p>
          <a:p>
            <a:pPr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OS_PRIO       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Prio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/* 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任务优先级 *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   OS_TCB  *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NextPtr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   OS_TCB  *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</a:rPr>
              <a:t>PrevPtr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};</a:t>
            </a:r>
            <a:endParaRPr lang="en-US" altLang="zh-CN" sz="2000" b="1" dirty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9177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5543" y="315526"/>
            <a:ext cx="9315932" cy="1306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定义优先级相关全局变量</a:t>
            </a:r>
            <a:r>
              <a:rPr lang="zh-CN" altLang="en-US" sz="40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br>
              <a:rPr lang="zh-CN" altLang="en-US" sz="4000" dirty="0">
                <a:solidFill>
                  <a:schemeClr val="accent5">
                    <a:lumMod val="50000"/>
                  </a:schemeClr>
                </a:solidFill>
              </a:rPr>
            </a:br>
            <a:endParaRPr lang="zh-CN" altLang="zh-CN" sz="40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632" y="1838722"/>
            <a:ext cx="10236735" cy="19389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400" b="0" i="0" dirty="0">
                <a:solidFill>
                  <a:srgbClr val="2B91AF"/>
                </a:solidFill>
                <a:effectLst/>
                <a:latin typeface="Courier New" panose="02070309020205020404" pitchFamily="49" charset="0"/>
              </a:rPr>
              <a:t>1 </a:t>
            </a:r>
            <a:r>
              <a:rPr lang="en-US" altLang="zh-CN" sz="24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/* </a:t>
            </a:r>
            <a:r>
              <a:rPr lang="zh-CN" altLang="en-US" sz="2400" b="0" i="0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在 </a:t>
            </a:r>
            <a:r>
              <a:rPr lang="en-US" altLang="zh-CN" sz="24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os.h</a:t>
            </a:r>
            <a:r>
              <a:rPr lang="en-US" altLang="zh-CN" sz="24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zh-CN" altLang="en-US" sz="2400" b="0" i="0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中定义 </a:t>
            </a:r>
            <a:r>
              <a:rPr lang="zh-CN" altLang="en-US" sz="24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CN" sz="24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/</a:t>
            </a:r>
            <a:br>
              <a:rPr lang="en-US" altLang="zh-CN" sz="24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sz="2400" b="0" i="0" dirty="0">
                <a:solidFill>
                  <a:srgbClr val="2B91AF"/>
                </a:solidFill>
                <a:effectLst/>
                <a:latin typeface="Courier New" panose="02070309020205020404" pitchFamily="49" charset="0"/>
              </a:rPr>
              <a:t>2 </a:t>
            </a:r>
            <a:r>
              <a:rPr lang="en-US" altLang="zh-CN" sz="24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/* </a:t>
            </a:r>
            <a:r>
              <a:rPr lang="zh-CN" altLang="en-US" sz="2400" b="0" i="0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当前优先级 </a:t>
            </a:r>
            <a:r>
              <a:rPr lang="zh-CN" altLang="en-US" sz="24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CN" sz="24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/</a:t>
            </a:r>
            <a:br>
              <a:rPr lang="en-US" altLang="zh-CN" sz="24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sz="2400" b="0" i="0" dirty="0">
                <a:solidFill>
                  <a:srgbClr val="2B91AF"/>
                </a:solidFill>
                <a:effectLst/>
                <a:latin typeface="Courier New" panose="02070309020205020404" pitchFamily="49" charset="0"/>
              </a:rPr>
              <a:t>3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OS_EXT OS_PRIO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OSPrioCur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br>
              <a:rPr lang="en-US" altLang="zh-CN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sz="2400" b="0" i="0" dirty="0">
                <a:solidFill>
                  <a:srgbClr val="2B91AF"/>
                </a:solidFill>
                <a:effectLst/>
                <a:latin typeface="Courier New" panose="02070309020205020404" pitchFamily="49" charset="0"/>
              </a:rPr>
              <a:t>4 </a:t>
            </a:r>
            <a:r>
              <a:rPr lang="en-US" altLang="zh-CN" sz="24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/* </a:t>
            </a:r>
            <a:r>
              <a:rPr lang="zh-CN" altLang="en-US" sz="2400" b="0" i="0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最高优先级 </a:t>
            </a:r>
            <a:r>
              <a:rPr lang="zh-CN" altLang="en-US" sz="24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CN" sz="24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/</a:t>
            </a:r>
            <a:br>
              <a:rPr lang="en-US" altLang="zh-CN" sz="24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sz="2400" b="0" i="0" dirty="0">
                <a:solidFill>
                  <a:srgbClr val="2B91AF"/>
                </a:solidFill>
                <a:effectLst/>
                <a:latin typeface="Courier New" panose="02070309020205020404" pitchFamily="49" charset="0"/>
              </a:rPr>
              <a:t>5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OS_EXT OS_PRIO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OSPrioHighRdy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CN" sz="2400" dirty="0"/>
              <a:t> 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23280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47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修改 </a:t>
            </a:r>
            <a:r>
              <a:rPr lang="en-US" altLang="zh-CN" sz="4400" b="0" i="0" dirty="0" err="1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OSInit</a:t>
            </a:r>
            <a:r>
              <a:rPr lang="en-US" altLang="zh-CN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()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函数（</a:t>
            </a:r>
            <a:r>
              <a:rPr lang="en-US" altLang="zh-CN" sz="44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os_core.c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44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4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4628" y="1225689"/>
            <a:ext cx="8855610" cy="56323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void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OSInit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(OS_ERR *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p_err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)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{    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配置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OS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初始状态为停止态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OSRunning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=  OS_STATE_OS_STOPPED;  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初始化两个全局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TCB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，这两个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TCB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用于任务切换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OSTCBCurPtr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= (OS_TCB *)0;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OSTCBHighRdyPtr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= (OS_TCB *)0;  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/* 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+mn-ea"/>
              </a:rPr>
              <a:t>初始化优先级变量 *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OSPrioCur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                   = (OS_PRIO)0;           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OSPrioHighRdy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           = (OS_PRIO)0;  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初始化优先级表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OS_PrioInit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();  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初始化就绪列表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OS_RdyListInit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();  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初始化空闲任务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OS_IdleTaskInit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p_err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);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if (*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p_err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!= OS_ERR_NONE)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                 return;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}</a:t>
            </a:r>
            <a:endParaRPr lang="en-US" altLang="zh-CN" sz="28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62409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47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修改 </a:t>
            </a:r>
            <a:r>
              <a:rPr lang="en-US" altLang="zh-CN" sz="4000" b="0" i="0" dirty="0" err="1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OS_IdleTaskInit</a:t>
            </a:r>
            <a:r>
              <a:rPr lang="en-US" altLang="zh-CN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()</a:t>
            </a:r>
            <a:r>
              <a:rPr lang="zh-CN" altLang="en-US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40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zh-CN" altLang="en-US" sz="36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6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os_</a:t>
            </a:r>
            <a:r>
              <a:rPr lang="en-US" altLang="zh-CN" sz="3600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core</a:t>
            </a:r>
            <a:r>
              <a:rPr lang="en-US" altLang="zh-CN" sz="36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.c</a:t>
            </a:r>
            <a:r>
              <a:rPr lang="zh-CN" altLang="en-US" sz="36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36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041" y="1360110"/>
            <a:ext cx="10060734" cy="44012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void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OS_IdleTaskInit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(OS_ERR  *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p_err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)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{  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初始化空闲任务计数器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OSIdleTaskCtr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= (OS_IDLE_CTR)0;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创建空闲任务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OSTaskCreate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( (OS_TCB     *)&amp;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OSIdleTaskTCB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,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              (OS_TASK_PTR )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OS_IdleTask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,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              (void       *)0,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              (OS_PRIO)(OS_CFG_PRIO_MAX - 1u),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              (CPU_STK    *)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OSCfg_IdleTaskStkBasePtr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,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              (CPU_STK_SIZE)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OSCfg_IdleTaskStkSize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,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              (OS_ERR     *)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p_err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);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}</a:t>
            </a:r>
            <a:endParaRPr lang="en-US" altLang="zh-CN" sz="28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07263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47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en-US" altLang="zh-CN" sz="4400" b="0" i="0" dirty="0" err="1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OSInit</a:t>
            </a:r>
            <a:r>
              <a:rPr lang="en-US" altLang="zh-CN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()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44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os_core.c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44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4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FDC906-0389-4ED0-B10A-069AD752D215}"/>
              </a:ext>
            </a:extLst>
          </p:cNvPr>
          <p:cNvSpPr/>
          <p:nvPr/>
        </p:nvSpPr>
        <p:spPr>
          <a:xfrm>
            <a:off x="10035312" y="3384591"/>
            <a:ext cx="1718538" cy="636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IDLE(</a:t>
            </a:r>
            <a:r>
              <a:rPr lang="zh-CN" altLang="en-US" sz="1815" b="1" dirty="0">
                <a:solidFill>
                  <a:srgbClr val="0070C0"/>
                </a:solidFill>
              </a:rPr>
              <a:t>空闲任务</a:t>
            </a:r>
            <a:r>
              <a:rPr lang="en-US" altLang="zh-CN" sz="1815" b="1" dirty="0">
                <a:solidFill>
                  <a:srgbClr val="0070C0"/>
                </a:solidFill>
              </a:rPr>
              <a:t>)</a:t>
            </a:r>
            <a:r>
              <a:rPr lang="zh-CN" altLang="en-US" sz="1815" b="1" dirty="0">
                <a:solidFill>
                  <a:srgbClr val="0070C0"/>
                </a:solidFill>
              </a:rPr>
              <a:t>任务控制块</a:t>
            </a:r>
            <a:endParaRPr lang="en-US" altLang="zh-CN" sz="1815" b="1" dirty="0">
              <a:solidFill>
                <a:srgbClr val="0070C0"/>
              </a:solidFill>
            </a:endParaRPr>
          </a:p>
        </p:txBody>
      </p:sp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3ED56CAE-6B5E-48D9-AA50-8AC1B152F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234103"/>
              </p:ext>
            </p:extLst>
          </p:nvPr>
        </p:nvGraphicFramePr>
        <p:xfrm>
          <a:off x="8466364" y="1268187"/>
          <a:ext cx="1291318" cy="2750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318">
                  <a:extLst>
                    <a:ext uri="{9D8B030D-6E8A-4147-A177-3AD203B41FA5}">
                      <a16:colId xmlns:a16="http://schemas.microsoft.com/office/drawing/2014/main" val="71845556"/>
                    </a:ext>
                  </a:extLst>
                </a:gridCol>
              </a:tblGrid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699634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458859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… …   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234437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46294"/>
                  </a:ext>
                </a:extLst>
              </a:tr>
            </a:tbl>
          </a:graphicData>
        </a:graphic>
      </p:graphicFrame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2FE939F-9E23-4E83-8015-F053C712E6D6}"/>
              </a:ext>
            </a:extLst>
          </p:cNvPr>
          <p:cNvCxnSpPr>
            <a:cxnSpLocks/>
          </p:cNvCxnSpPr>
          <p:nvPr/>
        </p:nvCxnSpPr>
        <p:spPr>
          <a:xfrm>
            <a:off x="9655627" y="1463806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602113A-3D9C-4A4A-87CE-31C517C4069B}"/>
              </a:ext>
            </a:extLst>
          </p:cNvPr>
          <p:cNvCxnSpPr>
            <a:cxnSpLocks/>
          </p:cNvCxnSpPr>
          <p:nvPr/>
        </p:nvCxnSpPr>
        <p:spPr>
          <a:xfrm>
            <a:off x="9655626" y="1768610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A1354BB-B1A5-43DE-9328-CFD8A477C0C1}"/>
              </a:ext>
            </a:extLst>
          </p:cNvPr>
          <p:cNvCxnSpPr>
            <a:cxnSpLocks/>
          </p:cNvCxnSpPr>
          <p:nvPr/>
        </p:nvCxnSpPr>
        <p:spPr>
          <a:xfrm>
            <a:off x="9666516" y="2160493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4409F8B-60F4-4E94-ABCE-DA27E1B8C477}"/>
              </a:ext>
            </a:extLst>
          </p:cNvPr>
          <p:cNvCxnSpPr>
            <a:cxnSpLocks/>
          </p:cNvCxnSpPr>
          <p:nvPr/>
        </p:nvCxnSpPr>
        <p:spPr>
          <a:xfrm>
            <a:off x="9666515" y="2465297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A7C9CFB-F562-46D7-A427-6D92DD2A13FB}"/>
              </a:ext>
            </a:extLst>
          </p:cNvPr>
          <p:cNvCxnSpPr>
            <a:cxnSpLocks/>
          </p:cNvCxnSpPr>
          <p:nvPr/>
        </p:nvCxnSpPr>
        <p:spPr>
          <a:xfrm>
            <a:off x="9633858" y="3553860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1066381-A0BF-41F2-802C-9100F9F6F47E}"/>
              </a:ext>
            </a:extLst>
          </p:cNvPr>
          <p:cNvCxnSpPr>
            <a:cxnSpLocks/>
          </p:cNvCxnSpPr>
          <p:nvPr/>
        </p:nvCxnSpPr>
        <p:spPr>
          <a:xfrm>
            <a:off x="9633857" y="3858664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33CA6CF-D055-4DB3-BC23-905C7B3D257A}"/>
              </a:ext>
            </a:extLst>
          </p:cNvPr>
          <p:cNvSpPr txBox="1"/>
          <p:nvPr/>
        </p:nvSpPr>
        <p:spPr>
          <a:xfrm>
            <a:off x="10044961" y="2054823"/>
            <a:ext cx="470887" cy="681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</a:p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C5A86C1-8097-465B-B351-E22ECE06858F}"/>
              </a:ext>
            </a:extLst>
          </p:cNvPr>
          <p:cNvSpPr txBox="1"/>
          <p:nvPr/>
        </p:nvSpPr>
        <p:spPr>
          <a:xfrm>
            <a:off x="6958703" y="1383766"/>
            <a:ext cx="1642372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[0]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9E6720A-79F0-4278-A2FB-231E504C0955}"/>
              </a:ext>
            </a:extLst>
          </p:cNvPr>
          <p:cNvSpPr txBox="1"/>
          <p:nvPr/>
        </p:nvSpPr>
        <p:spPr>
          <a:xfrm>
            <a:off x="6969587" y="2134880"/>
            <a:ext cx="1642372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[1]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9BD2AE-EF97-4D40-BF9D-5AE18D576E59}"/>
              </a:ext>
            </a:extLst>
          </p:cNvPr>
          <p:cNvSpPr txBox="1"/>
          <p:nvPr/>
        </p:nvSpPr>
        <p:spPr>
          <a:xfrm>
            <a:off x="6863454" y="3487605"/>
            <a:ext cx="1710008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[31]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42EC3E9-57D8-4A0D-B0A1-0720FD098B09}"/>
              </a:ext>
            </a:extLst>
          </p:cNvPr>
          <p:cNvSpPr txBox="1"/>
          <p:nvPr/>
        </p:nvSpPr>
        <p:spPr>
          <a:xfrm>
            <a:off x="10035312" y="1351971"/>
            <a:ext cx="470887" cy="681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</a:p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graphicFrame>
        <p:nvGraphicFramePr>
          <p:cNvPr id="5" name="表格 19">
            <a:extLst>
              <a:ext uri="{FF2B5EF4-FFF2-40B4-BE49-F238E27FC236}">
                <a16:creationId xmlns:a16="http://schemas.microsoft.com/office/drawing/2014/main" id="{C257A468-E337-4619-B890-20C1BCFD5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638278"/>
              </p:ext>
            </p:extLst>
          </p:nvPr>
        </p:nvGraphicFramePr>
        <p:xfrm>
          <a:off x="2110215" y="4673048"/>
          <a:ext cx="684872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181">
                  <a:extLst>
                    <a:ext uri="{9D8B030D-6E8A-4147-A177-3AD203B41FA5}">
                      <a16:colId xmlns:a16="http://schemas.microsoft.com/office/drawing/2014/main" val="3545332923"/>
                    </a:ext>
                  </a:extLst>
                </a:gridCol>
                <a:gridCol w="1712181">
                  <a:extLst>
                    <a:ext uri="{9D8B030D-6E8A-4147-A177-3AD203B41FA5}">
                      <a16:colId xmlns:a16="http://schemas.microsoft.com/office/drawing/2014/main" val="2657926666"/>
                    </a:ext>
                  </a:extLst>
                </a:gridCol>
                <a:gridCol w="1712181">
                  <a:extLst>
                    <a:ext uri="{9D8B030D-6E8A-4147-A177-3AD203B41FA5}">
                      <a16:colId xmlns:a16="http://schemas.microsoft.com/office/drawing/2014/main" val="237098463"/>
                    </a:ext>
                  </a:extLst>
                </a:gridCol>
                <a:gridCol w="1712181">
                  <a:extLst>
                    <a:ext uri="{9D8B030D-6E8A-4147-A177-3AD203B41FA5}">
                      <a16:colId xmlns:a16="http://schemas.microsoft.com/office/drawing/2014/main" val="2022267327"/>
                    </a:ext>
                  </a:extLst>
                </a:gridCol>
              </a:tblGrid>
              <a:tr h="31273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……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… …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673279"/>
                  </a:ext>
                </a:extLst>
              </a:tr>
              <a:tr h="31273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9105615"/>
                  </a:ext>
                </a:extLst>
              </a:tr>
              <a:tr h="31273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2009821"/>
                  </a:ext>
                </a:extLst>
              </a:tr>
            </a:tbl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3AAC6CB5-65EE-4688-AF1E-36D12F90F362}"/>
              </a:ext>
            </a:extLst>
          </p:cNvPr>
          <p:cNvSpPr txBox="1"/>
          <p:nvPr/>
        </p:nvSpPr>
        <p:spPr>
          <a:xfrm>
            <a:off x="8388777" y="708452"/>
            <a:ext cx="2098247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3200" b="1" dirty="0">
                <a:solidFill>
                  <a:schemeClr val="accent1"/>
                </a:solidFill>
              </a:rPr>
              <a:t>就绪</a:t>
            </a:r>
            <a:r>
              <a:rPr lang="zh-CN" altLang="en-US" sz="3200" b="1" dirty="0">
                <a:solidFill>
                  <a:srgbClr val="FF0000"/>
                </a:solidFill>
              </a:rPr>
              <a:t>列</a:t>
            </a:r>
            <a:r>
              <a:rPr lang="zh-CN" altLang="en-US" sz="3200" b="1" dirty="0">
                <a:solidFill>
                  <a:schemeClr val="accent1"/>
                </a:solidFill>
              </a:rPr>
              <a:t>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3CEE1E1-6A1A-4F33-AAB4-73561276EF6D}"/>
              </a:ext>
            </a:extLst>
          </p:cNvPr>
          <p:cNvSpPr txBox="1"/>
          <p:nvPr/>
        </p:nvSpPr>
        <p:spPr>
          <a:xfrm>
            <a:off x="2510516" y="4067218"/>
            <a:ext cx="4219575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3200" b="1" dirty="0">
                <a:solidFill>
                  <a:schemeClr val="accent1"/>
                </a:solidFill>
              </a:rPr>
              <a:t>就绪</a:t>
            </a:r>
            <a:r>
              <a:rPr lang="zh-CN" altLang="en-US" sz="3200" b="1" dirty="0">
                <a:solidFill>
                  <a:srgbClr val="FF0000"/>
                </a:solidFill>
              </a:rPr>
              <a:t>位</a:t>
            </a:r>
            <a:r>
              <a:rPr lang="zh-CN" altLang="en-US" sz="3200" b="1" dirty="0">
                <a:solidFill>
                  <a:schemeClr val="accent1"/>
                </a:solidFill>
              </a:rPr>
              <a:t>表</a:t>
            </a:r>
            <a:r>
              <a:rPr lang="zh-CN" altLang="en-US" sz="32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（优先级表）</a:t>
            </a:r>
            <a:endParaRPr lang="zh-CN" altLang="en-US" sz="3200" b="1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631B216-838B-4825-B2C1-7CF0B2374B40}"/>
              </a:ext>
            </a:extLst>
          </p:cNvPr>
          <p:cNvSpPr txBox="1"/>
          <p:nvPr/>
        </p:nvSpPr>
        <p:spPr>
          <a:xfrm>
            <a:off x="424541" y="4657618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dirty="0" err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OSPrioTbl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800" b="1" i="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974D81-686B-4162-B7D8-6A4D61DA637B}"/>
              </a:ext>
            </a:extLst>
          </p:cNvPr>
          <p:cNvSpPr txBox="1"/>
          <p:nvPr/>
        </p:nvSpPr>
        <p:spPr>
          <a:xfrm>
            <a:off x="443650" y="5042380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dirty="0" err="1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OSPrioTbl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800" b="1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7EB1D9F-2228-4D8B-B867-D8641884A551}"/>
              </a:ext>
            </a:extLst>
          </p:cNvPr>
          <p:cNvSpPr txBox="1"/>
          <p:nvPr/>
        </p:nvSpPr>
        <p:spPr>
          <a:xfrm>
            <a:off x="442295" y="5474391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dirty="0" err="1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OSPrioTbl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800" b="1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1" name="表格 21">
            <a:extLst>
              <a:ext uri="{FF2B5EF4-FFF2-40B4-BE49-F238E27FC236}">
                <a16:creationId xmlns:a16="http://schemas.microsoft.com/office/drawing/2014/main" id="{A774062C-B611-4548-90F3-A815440A0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976515"/>
              </p:ext>
            </p:extLst>
          </p:nvPr>
        </p:nvGraphicFramePr>
        <p:xfrm>
          <a:off x="2110215" y="4665333"/>
          <a:ext cx="1733552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694">
                  <a:extLst>
                    <a:ext uri="{9D8B030D-6E8A-4147-A177-3AD203B41FA5}">
                      <a16:colId xmlns:a16="http://schemas.microsoft.com/office/drawing/2014/main" val="425815149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88316916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3014721406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50444181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395659122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84242226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98868917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587181508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603363"/>
                  </a:ext>
                </a:extLst>
              </a:tr>
            </a:tbl>
          </a:graphicData>
        </a:graphic>
      </p:graphicFrame>
      <p:graphicFrame>
        <p:nvGraphicFramePr>
          <p:cNvPr id="30" name="表格 21">
            <a:extLst>
              <a:ext uri="{FF2B5EF4-FFF2-40B4-BE49-F238E27FC236}">
                <a16:creationId xmlns:a16="http://schemas.microsoft.com/office/drawing/2014/main" id="{B1787E8A-5584-415C-9F16-074BB789D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185064"/>
              </p:ext>
            </p:extLst>
          </p:nvPr>
        </p:nvGraphicFramePr>
        <p:xfrm>
          <a:off x="7225387" y="4677536"/>
          <a:ext cx="1733552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694">
                  <a:extLst>
                    <a:ext uri="{9D8B030D-6E8A-4147-A177-3AD203B41FA5}">
                      <a16:colId xmlns:a16="http://schemas.microsoft.com/office/drawing/2014/main" val="425815149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88316916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3014721406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50444181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395659122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84242226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98868917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587181508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603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625800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47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修改任务控制块 </a:t>
            </a:r>
            <a:r>
              <a:rPr lang="en-US" altLang="zh-CN" sz="4000" b="1" i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TCB</a:t>
            </a:r>
            <a:r>
              <a:rPr lang="zh-CN" altLang="en-US" sz="40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44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</a:t>
            </a:r>
            <a:r>
              <a:rPr lang="en-US" altLang="zh-CN" sz="4400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.h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44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4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753" y="1474409"/>
            <a:ext cx="8855610" cy="50167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struct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os_tcb</a:t>
            </a:r>
            <a:endParaRPr lang="en-US" altLang="zh-CN" sz="2000" b="0" i="0" dirty="0">
              <a:solidFill>
                <a:srgbClr val="000000"/>
              </a:solidFill>
              <a:effectLst/>
              <a:latin typeface="+mn-ea"/>
            </a:endParaRP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{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CPU_STK         *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StkPtr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CPU_STK_SIZE  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StkSize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任务延时周期个数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OS_TICK       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TaskDelayTicks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/* 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+mn-ea"/>
              </a:rPr>
              <a:t>任务优先级 *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OS_PRIO        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Prio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就绪列表双向链表的下一个指针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OS_TCB          *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NextPtr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就绪列表双向链表的前一个指针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         OS_TCB          *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PrevPtr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};</a:t>
            </a:r>
            <a:endParaRPr lang="en-US" altLang="zh-CN" sz="28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82239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47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修改 </a:t>
            </a:r>
            <a:r>
              <a:rPr lang="en-US" altLang="zh-CN" sz="4000" b="1" i="0" dirty="0" err="1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OSTaskCreate</a:t>
            </a:r>
            <a:r>
              <a:rPr lang="en-US" altLang="zh-CN" sz="4000" b="1" i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()</a:t>
            </a:r>
            <a:r>
              <a:rPr lang="zh-CN" altLang="en-US" sz="4000" b="1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40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44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os_task.c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44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4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041" y="1360110"/>
            <a:ext cx="10060734" cy="50167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void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OSTaskCreate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(OS_TCB *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p_tcb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, OS_TASK_PTR 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p_task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, void *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p_arg,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OS_PRIO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prio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,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               CPU_STK       *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p_stk_base,CPU_STK_SIZE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stk_size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, OS_ERR        *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p_err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)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{    CPU_STK       *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p_sp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CPU_SR_ALLOC();    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OS_TaskInitTCB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(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p_tcb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); 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/* 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+mn-ea"/>
              </a:rPr>
              <a:t>初始化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TCB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+mn-ea"/>
              </a:rPr>
              <a:t>为默认值 *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p_sp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=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OSTaskStkInit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(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p_task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p_arg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p_stk_base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stk_size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);    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初始化堆栈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p_tcb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-&gt;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Prio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=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prio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;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p_tcb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StkPtr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=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p_sp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p_tcb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StkSize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=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stk_size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;    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OS_CRITICAL_ENTER();    /* 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+mn-ea"/>
              </a:rPr>
              <a:t>进入临界段 *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/* 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+mn-ea"/>
              </a:rPr>
              <a:t>将任务添加到就绪列表 *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OS_PrioInsert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(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p_tcb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-&gt;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Prio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);        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OS_RdyListInsertTail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(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p_tcb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);    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OS_CRITICAL_EXIT();       /* 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+mn-ea"/>
              </a:rPr>
              <a:t>退出临界段 *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/  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*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p_err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= OS_ERR_NONE;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}</a:t>
            </a:r>
            <a:endParaRPr lang="en-US" altLang="zh-CN" sz="28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8567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47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修改 </a:t>
            </a:r>
            <a:r>
              <a:rPr lang="en-US" altLang="zh-CN" sz="4000" b="1" i="0" dirty="0" err="1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OSTaskCreate</a:t>
            </a:r>
            <a:r>
              <a:rPr lang="en-US" altLang="zh-CN" sz="4000" b="1" i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()</a:t>
            </a:r>
            <a:r>
              <a:rPr lang="zh-CN" altLang="en-US" sz="4000" b="1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40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44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os_task.c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44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4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041" y="1360110"/>
            <a:ext cx="10060734" cy="53245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0" i="0" dirty="0">
                <a:effectLst/>
                <a:latin typeface="+mn-ea"/>
              </a:rPr>
              <a:t>void </a:t>
            </a:r>
            <a:r>
              <a:rPr lang="en-US" altLang="zh-CN" sz="2000" b="0" i="0" dirty="0" err="1">
                <a:effectLst/>
                <a:latin typeface="+mn-ea"/>
              </a:rPr>
              <a:t>OSTaskCreate</a:t>
            </a:r>
            <a:r>
              <a:rPr lang="en-US" altLang="zh-CN" sz="2000" b="0" i="0" dirty="0">
                <a:effectLst/>
                <a:latin typeface="+mn-ea"/>
              </a:rPr>
              <a:t> (OS_TCB *</a:t>
            </a:r>
            <a:r>
              <a:rPr lang="en-US" altLang="zh-CN" sz="2000" b="0" i="0" dirty="0" err="1">
                <a:effectLst/>
                <a:latin typeface="+mn-ea"/>
              </a:rPr>
              <a:t>p_tcb</a:t>
            </a:r>
            <a:r>
              <a:rPr lang="en-US" altLang="zh-CN" sz="2000" b="0" i="0" dirty="0">
                <a:effectLst/>
                <a:latin typeface="+mn-ea"/>
              </a:rPr>
              <a:t>, OS_TASK_PTR   </a:t>
            </a:r>
            <a:r>
              <a:rPr lang="en-US" altLang="zh-CN" sz="2000" b="0" i="0" dirty="0" err="1">
                <a:effectLst/>
                <a:latin typeface="+mn-ea"/>
              </a:rPr>
              <a:t>p_task</a:t>
            </a:r>
            <a:r>
              <a:rPr lang="en-US" altLang="zh-CN" sz="2000" b="0" i="0" dirty="0">
                <a:effectLst/>
                <a:latin typeface="+mn-ea"/>
              </a:rPr>
              <a:t>, void *</a:t>
            </a:r>
            <a:r>
              <a:rPr lang="en-US" altLang="zh-CN" sz="2000" b="0" i="0" dirty="0" err="1">
                <a:effectLst/>
                <a:latin typeface="+mn-ea"/>
              </a:rPr>
              <a:t>p_arg,</a:t>
            </a:r>
            <a:r>
              <a:rPr lang="en-US" altLang="zh-CN" sz="2000" b="1" i="0" dirty="0" err="1">
                <a:effectLst/>
                <a:latin typeface="+mn-ea"/>
              </a:rPr>
              <a:t>OS_PRIO</a:t>
            </a:r>
            <a:r>
              <a:rPr lang="en-US" altLang="zh-CN" sz="2000" b="1" i="0" dirty="0">
                <a:effectLst/>
                <a:latin typeface="+mn-ea"/>
              </a:rPr>
              <a:t> </a:t>
            </a:r>
            <a:r>
              <a:rPr lang="en-US" altLang="zh-CN" sz="2000" b="1" i="0" dirty="0" err="1">
                <a:effectLst/>
                <a:latin typeface="+mn-ea"/>
              </a:rPr>
              <a:t>prio</a:t>
            </a:r>
            <a:r>
              <a:rPr lang="en-US" altLang="zh-CN" sz="2000" b="0" i="0" dirty="0">
                <a:effectLst/>
                <a:latin typeface="+mn-ea"/>
              </a:rPr>
              <a:t>,</a:t>
            </a:r>
          </a:p>
          <a:p>
            <a:pPr>
              <a:defRPr/>
            </a:pPr>
            <a:r>
              <a:rPr lang="en-US" altLang="zh-CN" sz="2000" b="0" i="0" dirty="0">
                <a:effectLst/>
                <a:latin typeface="+mn-ea"/>
              </a:rPr>
              <a:t>                   CPU_STK       *</a:t>
            </a:r>
            <a:r>
              <a:rPr lang="en-US" altLang="zh-CN" sz="2000" b="0" i="0" dirty="0" err="1">
                <a:effectLst/>
                <a:latin typeface="+mn-ea"/>
              </a:rPr>
              <a:t>p_stk_base,CPU_STK_SIZE</a:t>
            </a:r>
            <a:r>
              <a:rPr lang="en-US" altLang="zh-CN" sz="2000" b="0" i="0" dirty="0">
                <a:effectLst/>
                <a:latin typeface="+mn-ea"/>
              </a:rPr>
              <a:t>  </a:t>
            </a:r>
            <a:r>
              <a:rPr lang="en-US" altLang="zh-CN" sz="2000" b="0" i="0" dirty="0" err="1">
                <a:effectLst/>
                <a:latin typeface="+mn-ea"/>
              </a:rPr>
              <a:t>stk_size</a:t>
            </a:r>
            <a:r>
              <a:rPr lang="en-US" altLang="zh-CN" sz="2000" b="0" i="0" dirty="0">
                <a:effectLst/>
                <a:latin typeface="+mn-ea"/>
              </a:rPr>
              <a:t>, OS_ERR        *</a:t>
            </a:r>
            <a:r>
              <a:rPr lang="en-US" altLang="zh-CN" sz="2000" b="0" i="0" dirty="0" err="1">
                <a:effectLst/>
                <a:latin typeface="+mn-ea"/>
              </a:rPr>
              <a:t>p_err</a:t>
            </a:r>
            <a:r>
              <a:rPr lang="en-US" altLang="zh-CN" sz="2000" b="0" i="0" dirty="0">
                <a:effectLst/>
                <a:latin typeface="+mn-ea"/>
              </a:rPr>
              <a:t>)</a:t>
            </a:r>
          </a:p>
          <a:p>
            <a:pPr>
              <a:defRPr/>
            </a:pPr>
            <a:r>
              <a:rPr lang="en-US" altLang="zh-CN" sz="2000" b="0" i="0" dirty="0">
                <a:effectLst/>
                <a:latin typeface="+mn-ea"/>
              </a:rPr>
              <a:t>{    CPU_STK       *</a:t>
            </a:r>
            <a:r>
              <a:rPr lang="en-US" altLang="zh-CN" sz="2000" b="0" i="0" dirty="0" err="1">
                <a:effectLst/>
                <a:latin typeface="+mn-ea"/>
              </a:rPr>
              <a:t>p_sp</a:t>
            </a:r>
            <a:r>
              <a:rPr lang="en-US" altLang="zh-CN" sz="2000" b="0" i="0" dirty="0">
                <a:effectLst/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b="0" i="0" dirty="0">
                <a:effectLst/>
                <a:latin typeface="+mn-ea"/>
              </a:rPr>
              <a:t>    </a:t>
            </a:r>
            <a:r>
              <a:rPr lang="en-US" altLang="zh-CN" sz="2000" b="1" i="0" dirty="0">
                <a:effectLst/>
                <a:latin typeface="+mn-ea"/>
              </a:rPr>
              <a:t>CPU_SR_ALLOC();    </a:t>
            </a:r>
          </a:p>
          <a:p>
            <a:pPr>
              <a:defRPr/>
            </a:pPr>
            <a:r>
              <a:rPr lang="en-US" altLang="zh-CN" sz="2000" b="1" i="0" dirty="0">
                <a:effectLst/>
                <a:latin typeface="+mn-ea"/>
              </a:rPr>
              <a:t>   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OS_TaskInitTCB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(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p_tcb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); </a:t>
            </a:r>
            <a:r>
              <a:rPr lang="en-US" altLang="zh-CN" sz="2000" b="0" i="0" dirty="0">
                <a:effectLst/>
                <a:latin typeface="+mn-ea"/>
              </a:rPr>
              <a:t>/* </a:t>
            </a:r>
            <a:r>
              <a:rPr lang="zh-CN" altLang="en-US" sz="2000" b="0" i="0" dirty="0">
                <a:effectLst/>
                <a:latin typeface="+mn-ea"/>
              </a:rPr>
              <a:t>初始化</a:t>
            </a:r>
            <a:r>
              <a:rPr lang="en-US" altLang="zh-CN" sz="2000" b="0" i="0" dirty="0">
                <a:effectLst/>
                <a:latin typeface="+mn-ea"/>
              </a:rPr>
              <a:t>TCB</a:t>
            </a:r>
            <a:r>
              <a:rPr lang="zh-CN" altLang="en-US" sz="2000" b="0" i="0" dirty="0">
                <a:effectLst/>
                <a:latin typeface="+mn-ea"/>
              </a:rPr>
              <a:t>为默认值 *</a:t>
            </a:r>
            <a:r>
              <a:rPr lang="en-US" altLang="zh-CN" sz="2000" b="0" i="0" dirty="0"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effectLst/>
                <a:latin typeface="+mn-ea"/>
              </a:rPr>
              <a:t>    </a:t>
            </a:r>
            <a:r>
              <a:rPr lang="en-US" altLang="zh-CN" sz="2000" b="0" i="0" dirty="0" err="1">
                <a:effectLst/>
                <a:latin typeface="+mn-ea"/>
              </a:rPr>
              <a:t>p_sp</a:t>
            </a:r>
            <a:r>
              <a:rPr lang="en-US" altLang="zh-CN" sz="2000" b="0" i="0" dirty="0">
                <a:effectLst/>
                <a:latin typeface="+mn-ea"/>
              </a:rPr>
              <a:t> = </a:t>
            </a:r>
            <a:r>
              <a:rPr lang="en-US" altLang="zh-CN" sz="2000" b="0" i="0" dirty="0" err="1">
                <a:effectLst/>
                <a:latin typeface="+mn-ea"/>
              </a:rPr>
              <a:t>OSTaskStkInit</a:t>
            </a:r>
            <a:r>
              <a:rPr lang="en-US" altLang="zh-CN" sz="2000" b="0" i="0" dirty="0">
                <a:effectLst/>
                <a:latin typeface="+mn-ea"/>
              </a:rPr>
              <a:t>( </a:t>
            </a:r>
            <a:r>
              <a:rPr lang="en-US" altLang="zh-CN" sz="2000" b="0" i="0" dirty="0" err="1">
                <a:effectLst/>
                <a:latin typeface="+mn-ea"/>
              </a:rPr>
              <a:t>p_task</a:t>
            </a:r>
            <a:r>
              <a:rPr lang="en-US" altLang="zh-CN" sz="2000" b="0" i="0" dirty="0">
                <a:effectLst/>
                <a:latin typeface="+mn-ea"/>
              </a:rPr>
              <a:t>, </a:t>
            </a:r>
            <a:r>
              <a:rPr lang="en-US" altLang="zh-CN" sz="2000" b="0" i="0" dirty="0" err="1">
                <a:effectLst/>
                <a:latin typeface="+mn-ea"/>
              </a:rPr>
              <a:t>p_arg</a:t>
            </a:r>
            <a:r>
              <a:rPr lang="en-US" altLang="zh-CN" sz="2000" b="0" i="0" dirty="0">
                <a:effectLst/>
                <a:latin typeface="+mn-ea"/>
              </a:rPr>
              <a:t>, </a:t>
            </a:r>
            <a:r>
              <a:rPr lang="en-US" altLang="zh-CN" sz="2000" b="0" i="0" dirty="0" err="1">
                <a:effectLst/>
                <a:latin typeface="+mn-ea"/>
              </a:rPr>
              <a:t>p_stk_base</a:t>
            </a:r>
            <a:r>
              <a:rPr lang="en-US" altLang="zh-CN" sz="2000" b="0" i="0" dirty="0">
                <a:effectLst/>
                <a:latin typeface="+mn-ea"/>
              </a:rPr>
              <a:t>, </a:t>
            </a:r>
            <a:r>
              <a:rPr lang="en-US" altLang="zh-CN" sz="2000" b="0" i="0" dirty="0" err="1">
                <a:effectLst/>
                <a:latin typeface="+mn-ea"/>
              </a:rPr>
              <a:t>stk_size</a:t>
            </a:r>
            <a:r>
              <a:rPr lang="en-US" altLang="zh-CN" sz="2000" b="0" i="0" dirty="0">
                <a:effectLst/>
                <a:latin typeface="+mn-ea"/>
              </a:rPr>
              <a:t> );    /* </a:t>
            </a:r>
            <a:r>
              <a:rPr lang="zh-CN" altLang="en-US" sz="2000" b="0" i="0" dirty="0">
                <a:effectLst/>
                <a:latin typeface="+mn-ea"/>
              </a:rPr>
              <a:t>初始化堆栈 *</a:t>
            </a:r>
            <a:r>
              <a:rPr lang="en-US" altLang="zh-CN" sz="2000" b="0" i="0" dirty="0"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effectLst/>
                <a:latin typeface="+mn-ea"/>
              </a:rPr>
              <a:t>    </a:t>
            </a:r>
            <a:r>
              <a:rPr lang="en-US" altLang="zh-CN" sz="2000" b="1" i="0" dirty="0" err="1">
                <a:solidFill>
                  <a:srgbClr val="00B050"/>
                </a:solidFill>
                <a:effectLst/>
                <a:latin typeface="+mn-ea"/>
              </a:rPr>
              <a:t>p_tcb</a:t>
            </a:r>
            <a:r>
              <a:rPr lang="en-US" altLang="zh-CN" sz="2000" b="1" i="0" dirty="0">
                <a:solidFill>
                  <a:srgbClr val="00B050"/>
                </a:solidFill>
                <a:effectLst/>
                <a:latin typeface="+mn-ea"/>
              </a:rPr>
              <a:t>-&gt;</a:t>
            </a:r>
            <a:r>
              <a:rPr lang="en-US" altLang="zh-CN" sz="2000" b="1" i="0" dirty="0" err="1">
                <a:solidFill>
                  <a:srgbClr val="00B050"/>
                </a:solidFill>
                <a:effectLst/>
                <a:latin typeface="+mn-ea"/>
              </a:rPr>
              <a:t>Prio</a:t>
            </a:r>
            <a:r>
              <a:rPr lang="en-US" altLang="zh-CN" sz="2000" b="1" i="0" dirty="0">
                <a:solidFill>
                  <a:srgbClr val="00B050"/>
                </a:solidFill>
                <a:effectLst/>
                <a:latin typeface="+mn-ea"/>
              </a:rPr>
              <a:t> = </a:t>
            </a:r>
            <a:r>
              <a:rPr lang="en-US" altLang="zh-CN" sz="2000" b="1" i="0" dirty="0" err="1">
                <a:solidFill>
                  <a:srgbClr val="00B050"/>
                </a:solidFill>
                <a:effectLst/>
                <a:latin typeface="+mn-ea"/>
              </a:rPr>
              <a:t>prio</a:t>
            </a:r>
            <a:r>
              <a:rPr lang="en-US" altLang="zh-CN" sz="2000" b="1" i="0" dirty="0">
                <a:solidFill>
                  <a:srgbClr val="00B050"/>
                </a:solidFill>
                <a:effectLst/>
                <a:latin typeface="+mn-ea"/>
              </a:rPr>
              <a:t>;</a:t>
            </a:r>
            <a:r>
              <a:rPr lang="en-US" altLang="zh-CN" sz="2000" b="0" i="0" dirty="0">
                <a:effectLst/>
                <a:latin typeface="+mn-ea"/>
              </a:rPr>
              <a:t>    </a:t>
            </a:r>
          </a:p>
          <a:p>
            <a:pPr>
              <a:defRPr/>
            </a:pPr>
            <a:r>
              <a:rPr lang="en-US" altLang="zh-CN" sz="2000" b="0" i="0" dirty="0">
                <a:effectLst/>
                <a:latin typeface="+mn-ea"/>
              </a:rPr>
              <a:t>    </a:t>
            </a:r>
            <a:r>
              <a:rPr lang="en-US" altLang="zh-CN" sz="2000" b="0" i="0" dirty="0" err="1">
                <a:effectLst/>
                <a:latin typeface="+mn-ea"/>
              </a:rPr>
              <a:t>p_tcb</a:t>
            </a:r>
            <a:r>
              <a:rPr lang="en-US" altLang="zh-CN" sz="2000" b="0" i="0" dirty="0">
                <a:effectLst/>
                <a:latin typeface="+mn-ea"/>
              </a:rPr>
              <a:t>-&gt;</a:t>
            </a:r>
            <a:r>
              <a:rPr lang="en-US" altLang="zh-CN" sz="2000" b="0" i="0" dirty="0" err="1">
                <a:effectLst/>
                <a:latin typeface="+mn-ea"/>
              </a:rPr>
              <a:t>StkPtr</a:t>
            </a:r>
            <a:r>
              <a:rPr lang="en-US" altLang="zh-CN" sz="2000" b="0" i="0" dirty="0">
                <a:effectLst/>
                <a:latin typeface="+mn-ea"/>
              </a:rPr>
              <a:t> = </a:t>
            </a:r>
            <a:r>
              <a:rPr lang="en-US" altLang="zh-CN" sz="2000" b="0" i="0" dirty="0" err="1">
                <a:effectLst/>
                <a:latin typeface="+mn-ea"/>
              </a:rPr>
              <a:t>p_sp</a:t>
            </a:r>
            <a:r>
              <a:rPr lang="en-US" altLang="zh-CN" sz="2000" b="0" i="0" dirty="0">
                <a:effectLst/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b="0" i="0" dirty="0">
                <a:effectLst/>
                <a:latin typeface="+mn-ea"/>
              </a:rPr>
              <a:t>    </a:t>
            </a:r>
            <a:r>
              <a:rPr lang="en-US" altLang="zh-CN" sz="2000" b="0" i="0" dirty="0" err="1">
                <a:effectLst/>
                <a:latin typeface="+mn-ea"/>
              </a:rPr>
              <a:t>p_tcb</a:t>
            </a:r>
            <a:r>
              <a:rPr lang="en-US" altLang="zh-CN" sz="2000" b="0" i="0" dirty="0">
                <a:effectLst/>
                <a:latin typeface="+mn-ea"/>
              </a:rPr>
              <a:t>-&gt;</a:t>
            </a:r>
            <a:r>
              <a:rPr lang="en-US" altLang="zh-CN" sz="2000" b="0" i="0" dirty="0" err="1">
                <a:effectLst/>
                <a:latin typeface="+mn-ea"/>
              </a:rPr>
              <a:t>StkSize</a:t>
            </a:r>
            <a:r>
              <a:rPr lang="en-US" altLang="zh-CN" sz="2000" b="0" i="0" dirty="0">
                <a:effectLst/>
                <a:latin typeface="+mn-ea"/>
              </a:rPr>
              <a:t> = </a:t>
            </a:r>
            <a:r>
              <a:rPr lang="en-US" altLang="zh-CN" sz="2000" b="0" i="0" dirty="0" err="1">
                <a:effectLst/>
                <a:latin typeface="+mn-ea"/>
              </a:rPr>
              <a:t>stk_size</a:t>
            </a:r>
            <a:r>
              <a:rPr lang="en-US" altLang="zh-CN" sz="2000" b="0" i="0" dirty="0">
                <a:effectLst/>
                <a:latin typeface="+mn-ea"/>
              </a:rPr>
              <a:t>;    </a:t>
            </a:r>
          </a:p>
          <a:p>
            <a:pPr>
              <a:defRPr/>
            </a:pPr>
            <a:r>
              <a:rPr lang="en-US" altLang="zh-CN" sz="2000" b="1" i="0" dirty="0">
                <a:effectLst/>
                <a:latin typeface="+mn-ea"/>
              </a:rPr>
              <a:t>    OS_CRITICAL_ENTER();    /* </a:t>
            </a:r>
            <a:r>
              <a:rPr lang="zh-CN" altLang="en-US" sz="2000" b="1" i="0" dirty="0">
                <a:effectLst/>
                <a:latin typeface="+mn-ea"/>
              </a:rPr>
              <a:t>进入临界段 *</a:t>
            </a:r>
            <a:r>
              <a:rPr lang="en-US" altLang="zh-CN" sz="2000" b="1" i="0" dirty="0"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1" i="0" dirty="0">
                <a:effectLst/>
                <a:latin typeface="+mn-ea"/>
              </a:rPr>
              <a:t>    /* </a:t>
            </a:r>
            <a:r>
              <a:rPr lang="zh-CN" altLang="en-US" sz="2000" b="1" i="0" dirty="0">
                <a:effectLst/>
                <a:latin typeface="+mn-ea"/>
              </a:rPr>
              <a:t>将任务添加到就绪列表 *</a:t>
            </a:r>
            <a:r>
              <a:rPr lang="en-US" altLang="zh-CN" sz="2000" b="1" i="0" dirty="0"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1" i="0" dirty="0">
                <a:effectLst/>
                <a:latin typeface="+mn-ea"/>
              </a:rPr>
              <a:t>    </a:t>
            </a:r>
            <a:r>
              <a:rPr lang="en-US" altLang="zh-CN" sz="2000" b="1" i="0" dirty="0" err="1">
                <a:effectLst/>
                <a:latin typeface="+mn-ea"/>
              </a:rPr>
              <a:t>OS_PrioInsert</a:t>
            </a:r>
            <a:r>
              <a:rPr lang="en-US" altLang="zh-CN" sz="2000" b="1" i="0" dirty="0">
                <a:effectLst/>
                <a:latin typeface="+mn-ea"/>
              </a:rPr>
              <a:t>(</a:t>
            </a:r>
            <a:r>
              <a:rPr lang="en-US" altLang="zh-CN" sz="2000" b="1" i="0" dirty="0" err="1">
                <a:effectLst/>
                <a:latin typeface="+mn-ea"/>
              </a:rPr>
              <a:t>p_tcb</a:t>
            </a:r>
            <a:r>
              <a:rPr lang="en-US" altLang="zh-CN" sz="2000" b="1" i="0" dirty="0">
                <a:effectLst/>
                <a:latin typeface="+mn-ea"/>
              </a:rPr>
              <a:t>-&gt;</a:t>
            </a:r>
            <a:r>
              <a:rPr lang="en-US" altLang="zh-CN" sz="2000" b="1" i="0" dirty="0" err="1">
                <a:effectLst/>
                <a:latin typeface="+mn-ea"/>
              </a:rPr>
              <a:t>Prio</a:t>
            </a:r>
            <a:r>
              <a:rPr lang="en-US" altLang="zh-CN" sz="2000" b="1" i="0" dirty="0">
                <a:effectLst/>
                <a:latin typeface="+mn-ea"/>
              </a:rPr>
              <a:t>);        </a:t>
            </a:r>
          </a:p>
          <a:p>
            <a:pPr>
              <a:defRPr/>
            </a:pPr>
            <a:r>
              <a:rPr lang="en-US" altLang="zh-CN" sz="2000" b="1" i="0" dirty="0">
                <a:effectLst/>
                <a:latin typeface="+mn-ea"/>
              </a:rPr>
              <a:t>    </a:t>
            </a:r>
            <a:r>
              <a:rPr lang="en-US" altLang="zh-CN" sz="2000" b="1" i="0" dirty="0" err="1">
                <a:effectLst/>
                <a:latin typeface="+mn-ea"/>
              </a:rPr>
              <a:t>OS_RdyListInsertTail</a:t>
            </a:r>
            <a:r>
              <a:rPr lang="en-US" altLang="zh-CN" sz="2000" b="1" i="0" dirty="0">
                <a:effectLst/>
                <a:latin typeface="+mn-ea"/>
              </a:rPr>
              <a:t>(</a:t>
            </a:r>
            <a:r>
              <a:rPr lang="en-US" altLang="zh-CN" sz="2000" b="1" i="0" dirty="0" err="1">
                <a:effectLst/>
                <a:latin typeface="+mn-ea"/>
              </a:rPr>
              <a:t>p_tcb</a:t>
            </a:r>
            <a:r>
              <a:rPr lang="en-US" altLang="zh-CN" sz="2000" b="1" i="0" dirty="0">
                <a:effectLst/>
                <a:latin typeface="+mn-ea"/>
              </a:rPr>
              <a:t>);    </a:t>
            </a:r>
          </a:p>
          <a:p>
            <a:pPr>
              <a:defRPr/>
            </a:pPr>
            <a:r>
              <a:rPr lang="en-US" altLang="zh-CN" sz="2000" b="1" i="0" dirty="0">
                <a:effectLst/>
                <a:latin typeface="+mn-ea"/>
              </a:rPr>
              <a:t>    OS_CRITICAL_EXIT();       /* </a:t>
            </a:r>
            <a:r>
              <a:rPr lang="zh-CN" altLang="en-US" sz="2000" b="1" i="0" dirty="0">
                <a:effectLst/>
                <a:latin typeface="+mn-ea"/>
              </a:rPr>
              <a:t>退出临界段 *</a:t>
            </a:r>
            <a:r>
              <a:rPr lang="en-US" altLang="zh-CN" sz="2000" b="1" i="0" dirty="0">
                <a:effectLst/>
                <a:latin typeface="+mn-ea"/>
              </a:rPr>
              <a:t>/    </a:t>
            </a:r>
          </a:p>
          <a:p>
            <a:pPr>
              <a:defRPr/>
            </a:pPr>
            <a:r>
              <a:rPr lang="en-US" altLang="zh-CN" sz="2000" b="0" i="0" dirty="0">
                <a:effectLst/>
                <a:latin typeface="+mn-ea"/>
              </a:rPr>
              <a:t>    *</a:t>
            </a:r>
            <a:r>
              <a:rPr lang="en-US" altLang="zh-CN" sz="2000" b="0" i="0" dirty="0" err="1">
                <a:effectLst/>
                <a:latin typeface="+mn-ea"/>
              </a:rPr>
              <a:t>p_err</a:t>
            </a:r>
            <a:r>
              <a:rPr lang="en-US" altLang="zh-CN" sz="2000" b="0" i="0" dirty="0">
                <a:effectLst/>
                <a:latin typeface="+mn-ea"/>
              </a:rPr>
              <a:t> = OS_ERR_NONE;</a:t>
            </a:r>
          </a:p>
          <a:p>
            <a:pPr>
              <a:defRPr/>
            </a:pPr>
            <a:r>
              <a:rPr lang="en-US" altLang="zh-CN" sz="2000" dirty="0">
                <a:latin typeface="+mn-ea"/>
              </a:rPr>
              <a:t>    </a:t>
            </a:r>
            <a:endParaRPr lang="en-US" altLang="zh-CN" sz="2000" b="0" i="0" dirty="0">
              <a:effectLst/>
              <a:latin typeface="+mn-ea"/>
            </a:endParaRPr>
          </a:p>
          <a:p>
            <a:pPr>
              <a:defRPr/>
            </a:pPr>
            <a:r>
              <a:rPr lang="en-US" altLang="zh-CN" sz="2000" b="0" i="0" dirty="0">
                <a:effectLst/>
                <a:latin typeface="+mn-ea"/>
              </a:rPr>
              <a:t>}</a:t>
            </a:r>
            <a:endParaRPr lang="en-US" altLang="zh-CN" sz="2800" dirty="0">
              <a:latin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73B622-B916-477A-B8D5-B901E6A7E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0310" y="1382286"/>
            <a:ext cx="7230716" cy="31700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/* </a:t>
            </a:r>
            <a:r>
              <a:rPr lang="zh-CN" altLang="en-US" sz="2000" dirty="0">
                <a:solidFill>
                  <a:srgbClr val="0070C0"/>
                </a:solidFill>
                <a:latin typeface="Courier New" panose="02070309020205020404" pitchFamily="49" charset="0"/>
              </a:rPr>
              <a:t>初始化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TCB 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void  </a:t>
            </a:r>
            <a:r>
              <a:rPr lang="en-US" altLang="zh-CN" sz="2000" dirty="0" err="1">
                <a:solidFill>
                  <a:srgbClr val="0070C0"/>
                </a:solidFill>
                <a:latin typeface="Courier New" panose="02070309020205020404" pitchFamily="49" charset="0"/>
              </a:rPr>
              <a:t>OS_TaskInitTCB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 (OS_TCB  *</a:t>
            </a:r>
            <a:r>
              <a:rPr lang="en-US" altLang="zh-CN" sz="2000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dirty="0" err="1">
                <a:solidFill>
                  <a:srgbClr val="0070C0"/>
                </a:solidFill>
                <a:latin typeface="Courier New" panose="02070309020205020404" pitchFamily="49" charset="0"/>
              </a:rPr>
              <a:t>StkPtr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         = (CPU_STK    *)0;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dirty="0" err="1">
                <a:solidFill>
                  <a:srgbClr val="0070C0"/>
                </a:solidFill>
                <a:latin typeface="Courier New" panose="02070309020205020404" pitchFamily="49" charset="0"/>
              </a:rPr>
              <a:t>StkSize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        = (CPU_STK_SIZE)0u;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dirty="0" err="1">
                <a:solidFill>
                  <a:srgbClr val="0070C0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 = (OS_TICK     )0u;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b="1" dirty="0" err="1">
                <a:solidFill>
                  <a:srgbClr val="00B05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b="1" dirty="0" err="1">
                <a:solidFill>
                  <a:srgbClr val="00B050"/>
                </a:solidFill>
                <a:latin typeface="Courier New" panose="02070309020205020404" pitchFamily="49" charset="0"/>
              </a:rPr>
              <a:t>Prio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     = (OS_PRIO)OS_PRIO_INIT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dirty="0" err="1">
                <a:solidFill>
                  <a:srgbClr val="0070C0"/>
                </a:solidFill>
                <a:latin typeface="Courier New" panose="02070309020205020404" pitchFamily="49" charset="0"/>
              </a:rPr>
              <a:t>NextPtr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        = (OS_TCB     *)0;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dirty="0" err="1">
                <a:solidFill>
                  <a:srgbClr val="0070C0"/>
                </a:solidFill>
                <a:latin typeface="Courier New" panose="02070309020205020404" pitchFamily="49" charset="0"/>
              </a:rPr>
              <a:t>PrevPtr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        = (OS_TCB     *)0;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838750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54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en-US" altLang="zh-CN" sz="4400" b="1" i="0" dirty="0" err="1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OSTaskCreate</a:t>
            </a:r>
            <a:r>
              <a:rPr lang="en-US" altLang="zh-CN" sz="4400" b="1" i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() </a:t>
            </a:r>
            <a:r>
              <a:rPr lang="zh-CN" altLang="en-US" sz="44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4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FDC906-0389-4ED0-B10A-069AD752D215}"/>
              </a:ext>
            </a:extLst>
          </p:cNvPr>
          <p:cNvSpPr/>
          <p:nvPr/>
        </p:nvSpPr>
        <p:spPr>
          <a:xfrm>
            <a:off x="10035312" y="3384591"/>
            <a:ext cx="1718538" cy="636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IDLE(</a:t>
            </a:r>
            <a:r>
              <a:rPr lang="zh-CN" altLang="en-US" sz="1815" b="1" dirty="0">
                <a:solidFill>
                  <a:srgbClr val="0070C0"/>
                </a:solidFill>
              </a:rPr>
              <a:t>空闲任务</a:t>
            </a:r>
            <a:r>
              <a:rPr lang="en-US" altLang="zh-CN" sz="1815" b="1" dirty="0">
                <a:solidFill>
                  <a:srgbClr val="0070C0"/>
                </a:solidFill>
              </a:rPr>
              <a:t>)</a:t>
            </a:r>
            <a:r>
              <a:rPr lang="zh-CN" altLang="en-US" sz="1815" b="1" dirty="0">
                <a:solidFill>
                  <a:srgbClr val="0070C0"/>
                </a:solidFill>
              </a:rPr>
              <a:t>任务控制块</a:t>
            </a:r>
            <a:endParaRPr lang="en-US" altLang="zh-CN" sz="1815" b="1" dirty="0">
              <a:solidFill>
                <a:srgbClr val="0070C0"/>
              </a:solidFill>
            </a:endParaRPr>
          </a:p>
        </p:txBody>
      </p:sp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3ED56CAE-6B5E-48D9-AA50-8AC1B152FF3B}"/>
              </a:ext>
            </a:extLst>
          </p:cNvPr>
          <p:cNvGraphicFramePr>
            <a:graphicFrameLocks noGrp="1"/>
          </p:cNvGraphicFramePr>
          <p:nvPr/>
        </p:nvGraphicFramePr>
        <p:xfrm>
          <a:off x="8466364" y="1268187"/>
          <a:ext cx="1291318" cy="2750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318">
                  <a:extLst>
                    <a:ext uri="{9D8B030D-6E8A-4147-A177-3AD203B41FA5}">
                      <a16:colId xmlns:a16="http://schemas.microsoft.com/office/drawing/2014/main" val="71845556"/>
                    </a:ext>
                  </a:extLst>
                </a:gridCol>
              </a:tblGrid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699634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458859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… …   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234437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46294"/>
                  </a:ext>
                </a:extLst>
              </a:tr>
            </a:tbl>
          </a:graphicData>
        </a:graphic>
      </p:graphicFrame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2FE939F-9E23-4E83-8015-F053C712E6D6}"/>
              </a:ext>
            </a:extLst>
          </p:cNvPr>
          <p:cNvCxnSpPr>
            <a:cxnSpLocks/>
          </p:cNvCxnSpPr>
          <p:nvPr/>
        </p:nvCxnSpPr>
        <p:spPr>
          <a:xfrm>
            <a:off x="9655627" y="1463806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602113A-3D9C-4A4A-87CE-31C517C4069B}"/>
              </a:ext>
            </a:extLst>
          </p:cNvPr>
          <p:cNvCxnSpPr>
            <a:cxnSpLocks/>
          </p:cNvCxnSpPr>
          <p:nvPr/>
        </p:nvCxnSpPr>
        <p:spPr>
          <a:xfrm>
            <a:off x="9655626" y="1768610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A1354BB-B1A5-43DE-9328-CFD8A477C0C1}"/>
              </a:ext>
            </a:extLst>
          </p:cNvPr>
          <p:cNvCxnSpPr>
            <a:cxnSpLocks/>
          </p:cNvCxnSpPr>
          <p:nvPr/>
        </p:nvCxnSpPr>
        <p:spPr>
          <a:xfrm>
            <a:off x="9666516" y="2160493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4409F8B-60F4-4E94-ABCE-DA27E1B8C477}"/>
              </a:ext>
            </a:extLst>
          </p:cNvPr>
          <p:cNvCxnSpPr>
            <a:cxnSpLocks/>
          </p:cNvCxnSpPr>
          <p:nvPr/>
        </p:nvCxnSpPr>
        <p:spPr>
          <a:xfrm>
            <a:off x="9666515" y="2465297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A7C9CFB-F562-46D7-A427-6D92DD2A13FB}"/>
              </a:ext>
            </a:extLst>
          </p:cNvPr>
          <p:cNvCxnSpPr>
            <a:cxnSpLocks/>
          </p:cNvCxnSpPr>
          <p:nvPr/>
        </p:nvCxnSpPr>
        <p:spPr>
          <a:xfrm>
            <a:off x="9633858" y="3553860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1066381-A0BF-41F2-802C-9100F9F6F47E}"/>
              </a:ext>
            </a:extLst>
          </p:cNvPr>
          <p:cNvCxnSpPr>
            <a:cxnSpLocks/>
          </p:cNvCxnSpPr>
          <p:nvPr/>
        </p:nvCxnSpPr>
        <p:spPr>
          <a:xfrm>
            <a:off x="9633857" y="3858664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33CA6CF-D055-4DB3-BC23-905C7B3D257A}"/>
              </a:ext>
            </a:extLst>
          </p:cNvPr>
          <p:cNvSpPr txBox="1"/>
          <p:nvPr/>
        </p:nvSpPr>
        <p:spPr>
          <a:xfrm>
            <a:off x="9978814" y="1332162"/>
            <a:ext cx="470887" cy="681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</a:p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C5A86C1-8097-465B-B351-E22ECE06858F}"/>
              </a:ext>
            </a:extLst>
          </p:cNvPr>
          <p:cNvSpPr txBox="1"/>
          <p:nvPr/>
        </p:nvSpPr>
        <p:spPr>
          <a:xfrm>
            <a:off x="6958703" y="1383766"/>
            <a:ext cx="1642372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[0]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9E6720A-79F0-4278-A2FB-231E504C0955}"/>
              </a:ext>
            </a:extLst>
          </p:cNvPr>
          <p:cNvSpPr txBox="1"/>
          <p:nvPr/>
        </p:nvSpPr>
        <p:spPr>
          <a:xfrm>
            <a:off x="6969587" y="2134880"/>
            <a:ext cx="1642372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[1]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9BD2AE-EF97-4D40-BF9D-5AE18D576E59}"/>
              </a:ext>
            </a:extLst>
          </p:cNvPr>
          <p:cNvSpPr txBox="1"/>
          <p:nvPr/>
        </p:nvSpPr>
        <p:spPr>
          <a:xfrm>
            <a:off x="6863454" y="3487605"/>
            <a:ext cx="1710008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[31]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graphicFrame>
        <p:nvGraphicFramePr>
          <p:cNvPr id="5" name="表格 19">
            <a:extLst>
              <a:ext uri="{FF2B5EF4-FFF2-40B4-BE49-F238E27FC236}">
                <a16:creationId xmlns:a16="http://schemas.microsoft.com/office/drawing/2014/main" id="{C257A468-E337-4619-B890-20C1BCFD5F14}"/>
              </a:ext>
            </a:extLst>
          </p:cNvPr>
          <p:cNvGraphicFramePr>
            <a:graphicFrameLocks noGrp="1"/>
          </p:cNvGraphicFramePr>
          <p:nvPr/>
        </p:nvGraphicFramePr>
        <p:xfrm>
          <a:off x="2110215" y="4673048"/>
          <a:ext cx="684872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181">
                  <a:extLst>
                    <a:ext uri="{9D8B030D-6E8A-4147-A177-3AD203B41FA5}">
                      <a16:colId xmlns:a16="http://schemas.microsoft.com/office/drawing/2014/main" val="3545332923"/>
                    </a:ext>
                  </a:extLst>
                </a:gridCol>
                <a:gridCol w="1712181">
                  <a:extLst>
                    <a:ext uri="{9D8B030D-6E8A-4147-A177-3AD203B41FA5}">
                      <a16:colId xmlns:a16="http://schemas.microsoft.com/office/drawing/2014/main" val="2657926666"/>
                    </a:ext>
                  </a:extLst>
                </a:gridCol>
                <a:gridCol w="1712181">
                  <a:extLst>
                    <a:ext uri="{9D8B030D-6E8A-4147-A177-3AD203B41FA5}">
                      <a16:colId xmlns:a16="http://schemas.microsoft.com/office/drawing/2014/main" val="237098463"/>
                    </a:ext>
                  </a:extLst>
                </a:gridCol>
                <a:gridCol w="1712181">
                  <a:extLst>
                    <a:ext uri="{9D8B030D-6E8A-4147-A177-3AD203B41FA5}">
                      <a16:colId xmlns:a16="http://schemas.microsoft.com/office/drawing/2014/main" val="2022267327"/>
                    </a:ext>
                  </a:extLst>
                </a:gridCol>
              </a:tblGrid>
              <a:tr h="31273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……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… …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673279"/>
                  </a:ext>
                </a:extLst>
              </a:tr>
              <a:tr h="31273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9105615"/>
                  </a:ext>
                </a:extLst>
              </a:tr>
              <a:tr h="31273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2009821"/>
                  </a:ext>
                </a:extLst>
              </a:tr>
            </a:tbl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3AAC6CB5-65EE-4688-AF1E-36D12F90F362}"/>
              </a:ext>
            </a:extLst>
          </p:cNvPr>
          <p:cNvSpPr txBox="1"/>
          <p:nvPr/>
        </p:nvSpPr>
        <p:spPr>
          <a:xfrm>
            <a:off x="8388777" y="708452"/>
            <a:ext cx="2098247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3200" b="1" dirty="0">
                <a:solidFill>
                  <a:schemeClr val="accent1"/>
                </a:solidFill>
              </a:rPr>
              <a:t>就绪</a:t>
            </a:r>
            <a:r>
              <a:rPr lang="zh-CN" altLang="en-US" sz="3200" b="1" dirty="0">
                <a:solidFill>
                  <a:srgbClr val="FF0000"/>
                </a:solidFill>
              </a:rPr>
              <a:t>列</a:t>
            </a:r>
            <a:r>
              <a:rPr lang="zh-CN" altLang="en-US" sz="3200" b="1" dirty="0">
                <a:solidFill>
                  <a:schemeClr val="accent1"/>
                </a:solidFill>
              </a:rPr>
              <a:t>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3CEE1E1-6A1A-4F33-AAB4-73561276EF6D}"/>
              </a:ext>
            </a:extLst>
          </p:cNvPr>
          <p:cNvSpPr txBox="1"/>
          <p:nvPr/>
        </p:nvSpPr>
        <p:spPr>
          <a:xfrm>
            <a:off x="2510516" y="4067218"/>
            <a:ext cx="4219575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3200" b="1" dirty="0">
                <a:solidFill>
                  <a:schemeClr val="accent1"/>
                </a:solidFill>
              </a:rPr>
              <a:t>就绪</a:t>
            </a:r>
            <a:r>
              <a:rPr lang="zh-CN" altLang="en-US" sz="3200" b="1" dirty="0">
                <a:solidFill>
                  <a:srgbClr val="FF0000"/>
                </a:solidFill>
              </a:rPr>
              <a:t>位</a:t>
            </a:r>
            <a:r>
              <a:rPr lang="zh-CN" altLang="en-US" sz="3200" b="1" dirty="0">
                <a:solidFill>
                  <a:schemeClr val="accent1"/>
                </a:solidFill>
              </a:rPr>
              <a:t>表</a:t>
            </a:r>
            <a:r>
              <a:rPr lang="zh-CN" altLang="en-US" sz="32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（优先级表）</a:t>
            </a:r>
            <a:endParaRPr lang="zh-CN" altLang="en-US" sz="3200" b="1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631B216-838B-4825-B2C1-7CF0B2374B40}"/>
              </a:ext>
            </a:extLst>
          </p:cNvPr>
          <p:cNvSpPr txBox="1"/>
          <p:nvPr/>
        </p:nvSpPr>
        <p:spPr>
          <a:xfrm>
            <a:off x="424541" y="4657618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dirty="0" err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OSPrioTbl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800" b="1" i="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974D81-686B-4162-B7D8-6A4D61DA637B}"/>
              </a:ext>
            </a:extLst>
          </p:cNvPr>
          <p:cNvSpPr txBox="1"/>
          <p:nvPr/>
        </p:nvSpPr>
        <p:spPr>
          <a:xfrm>
            <a:off x="443650" y="5042380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dirty="0" err="1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OSPrioTbl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800" b="1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7EB1D9F-2228-4D8B-B867-D8641884A551}"/>
              </a:ext>
            </a:extLst>
          </p:cNvPr>
          <p:cNvSpPr txBox="1"/>
          <p:nvPr/>
        </p:nvSpPr>
        <p:spPr>
          <a:xfrm>
            <a:off x="442295" y="5474391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dirty="0" err="1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OSPrioTbl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800" b="1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1" name="表格 21">
            <a:extLst>
              <a:ext uri="{FF2B5EF4-FFF2-40B4-BE49-F238E27FC236}">
                <a16:creationId xmlns:a16="http://schemas.microsoft.com/office/drawing/2014/main" id="{A774062C-B611-4548-90F3-A815440A0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826755"/>
              </p:ext>
            </p:extLst>
          </p:nvPr>
        </p:nvGraphicFramePr>
        <p:xfrm>
          <a:off x="2110215" y="4665333"/>
          <a:ext cx="1733552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694">
                  <a:extLst>
                    <a:ext uri="{9D8B030D-6E8A-4147-A177-3AD203B41FA5}">
                      <a16:colId xmlns:a16="http://schemas.microsoft.com/office/drawing/2014/main" val="425815149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88316916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3014721406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50444181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395659122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84242226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98868917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587181508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603363"/>
                  </a:ext>
                </a:extLst>
              </a:tr>
            </a:tbl>
          </a:graphicData>
        </a:graphic>
      </p:graphicFrame>
      <p:graphicFrame>
        <p:nvGraphicFramePr>
          <p:cNvPr id="30" name="表格 21">
            <a:extLst>
              <a:ext uri="{FF2B5EF4-FFF2-40B4-BE49-F238E27FC236}">
                <a16:creationId xmlns:a16="http://schemas.microsoft.com/office/drawing/2014/main" id="{B1787E8A-5584-415C-9F16-074BB789D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103194"/>
              </p:ext>
            </p:extLst>
          </p:nvPr>
        </p:nvGraphicFramePr>
        <p:xfrm>
          <a:off x="7225387" y="4677536"/>
          <a:ext cx="1733552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694">
                  <a:extLst>
                    <a:ext uri="{9D8B030D-6E8A-4147-A177-3AD203B41FA5}">
                      <a16:colId xmlns:a16="http://schemas.microsoft.com/office/drawing/2014/main" val="425815149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88316916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3014721406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50444181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395659122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84242226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98868917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587181508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603363"/>
                  </a:ext>
                </a:extLst>
              </a:tr>
            </a:tbl>
          </a:graphicData>
        </a:graphic>
      </p:graphicFrame>
      <p:sp>
        <p:nvSpPr>
          <p:cNvPr id="29" name="矩形 28">
            <a:extLst>
              <a:ext uri="{FF2B5EF4-FFF2-40B4-BE49-F238E27FC236}">
                <a16:creationId xmlns:a16="http://schemas.microsoft.com/office/drawing/2014/main" id="{0B381621-12BE-42B5-8976-B6E9FE85565B}"/>
              </a:ext>
            </a:extLst>
          </p:cNvPr>
          <p:cNvSpPr/>
          <p:nvPr/>
        </p:nvSpPr>
        <p:spPr>
          <a:xfrm>
            <a:off x="10126513" y="2014144"/>
            <a:ext cx="1718538" cy="636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task1</a:t>
            </a:r>
          </a:p>
          <a:p>
            <a:pPr algn="ctr"/>
            <a:r>
              <a:rPr lang="zh-CN" altLang="en-US" sz="1815" b="1" dirty="0">
                <a:solidFill>
                  <a:srgbClr val="0070C0"/>
                </a:solidFill>
              </a:rPr>
              <a:t>任务控制块</a:t>
            </a:r>
            <a:endParaRPr lang="en-US" altLang="zh-CN" sz="1815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72118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45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修改 </a:t>
            </a:r>
            <a:r>
              <a:rPr lang="en-US" altLang="zh-CN" sz="4000" b="0" i="0" dirty="0" err="1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OSStart</a:t>
            </a:r>
            <a:r>
              <a:rPr lang="en-US" altLang="zh-CN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()</a:t>
            </a:r>
            <a:r>
              <a:rPr lang="zh-CN" altLang="en-US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40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zh-CN" altLang="en-US" sz="36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6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os_</a:t>
            </a:r>
            <a:r>
              <a:rPr lang="en-US" altLang="zh-CN" sz="3600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core</a:t>
            </a:r>
            <a:r>
              <a:rPr lang="en-US" altLang="zh-CN" sz="36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.c</a:t>
            </a:r>
            <a:r>
              <a:rPr lang="zh-CN" altLang="en-US" sz="36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36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391" y="1141035"/>
            <a:ext cx="10546509" cy="56323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void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OSStart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(OS_ERR *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p_err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)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{    if(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OSRunning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== OS_STATE_OS_STOPPED )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{   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OSPrioHighRdy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=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OS_PrioGetHighest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();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/* 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+mn-ea"/>
              </a:rPr>
              <a:t>寻找最高的优先级 *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   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OSPrioCur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   =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OSPrioHighRdy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    /* 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+mn-ea"/>
              </a:rPr>
              <a:t>找到最高优先级的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TCB */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   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OSTCBHighRdyPtr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=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OSRdyList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[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OSPrioHighRdy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].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HeadPtr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   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OSTCBCurPtr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 =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OSTCBHighRdyPtr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  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OSRunning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   = OS_STATE_OS_RUNNING;        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标记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OS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开始运行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  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    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启动任务切换，不会返回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OSStartHighRdy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();      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    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不会运行到这里，运行到这里表示发生了致命的错误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    *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p_err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= OS_ERR_FATAL_RETURN;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}else{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    *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p_err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= OS_STATE_OS_RUNNING;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}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}</a:t>
            </a:r>
            <a:endParaRPr lang="en-US" altLang="zh-CN" sz="28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58660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54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en-US" altLang="zh-CN" sz="4400" b="0" i="0" dirty="0" err="1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OSStart</a:t>
            </a:r>
            <a:r>
              <a:rPr lang="en-US" altLang="zh-CN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()</a:t>
            </a:r>
            <a:endParaRPr lang="zh-CN" altLang="zh-CN" sz="4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FDC906-0389-4ED0-B10A-069AD752D215}"/>
              </a:ext>
            </a:extLst>
          </p:cNvPr>
          <p:cNvSpPr/>
          <p:nvPr/>
        </p:nvSpPr>
        <p:spPr>
          <a:xfrm>
            <a:off x="10035312" y="3765592"/>
            <a:ext cx="1718538" cy="636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IDLE(</a:t>
            </a:r>
            <a:r>
              <a:rPr lang="zh-CN" altLang="en-US" sz="1815" b="1" dirty="0">
                <a:solidFill>
                  <a:srgbClr val="0070C0"/>
                </a:solidFill>
              </a:rPr>
              <a:t>空闲任务</a:t>
            </a:r>
            <a:r>
              <a:rPr lang="en-US" altLang="zh-CN" sz="1815" b="1" dirty="0">
                <a:solidFill>
                  <a:srgbClr val="0070C0"/>
                </a:solidFill>
              </a:rPr>
              <a:t>)</a:t>
            </a:r>
            <a:r>
              <a:rPr lang="zh-CN" altLang="en-US" sz="1815" b="1" dirty="0">
                <a:solidFill>
                  <a:srgbClr val="0070C0"/>
                </a:solidFill>
              </a:rPr>
              <a:t>任务控制块</a:t>
            </a:r>
            <a:endParaRPr lang="en-US" altLang="zh-CN" sz="1815" b="1" dirty="0">
              <a:solidFill>
                <a:srgbClr val="0070C0"/>
              </a:solidFill>
            </a:endParaRPr>
          </a:p>
        </p:txBody>
      </p:sp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3ED56CAE-6B5E-48D9-AA50-8AC1B152F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764046"/>
              </p:ext>
            </p:extLst>
          </p:nvPr>
        </p:nvGraphicFramePr>
        <p:xfrm>
          <a:off x="8466364" y="1268187"/>
          <a:ext cx="1291318" cy="3159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318">
                  <a:extLst>
                    <a:ext uri="{9D8B030D-6E8A-4147-A177-3AD203B41FA5}">
                      <a16:colId xmlns:a16="http://schemas.microsoft.com/office/drawing/2014/main" val="71845556"/>
                    </a:ext>
                  </a:extLst>
                </a:gridCol>
              </a:tblGrid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699634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458859"/>
                  </a:ext>
                </a:extLst>
              </a:tr>
              <a:tr h="229180">
                <a:tc>
                  <a:txBody>
                    <a:bodyPr/>
                    <a:lstStyle/>
                    <a:p>
                      <a:pPr algn="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234437"/>
                  </a:ext>
                </a:extLst>
              </a:tr>
              <a:tr h="229181">
                <a:tc>
                  <a:txBody>
                    <a:bodyPr/>
                    <a:lstStyle/>
                    <a:p>
                      <a:pPr algn="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608294"/>
                  </a:ext>
                </a:extLst>
              </a:tr>
              <a:tr h="22918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… …   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897430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46294"/>
                  </a:ext>
                </a:extLst>
              </a:tr>
            </a:tbl>
          </a:graphicData>
        </a:graphic>
      </p:graphicFrame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2FE939F-9E23-4E83-8015-F053C712E6D6}"/>
              </a:ext>
            </a:extLst>
          </p:cNvPr>
          <p:cNvCxnSpPr>
            <a:cxnSpLocks/>
          </p:cNvCxnSpPr>
          <p:nvPr/>
        </p:nvCxnSpPr>
        <p:spPr>
          <a:xfrm>
            <a:off x="9655627" y="1463806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602113A-3D9C-4A4A-87CE-31C517C4069B}"/>
              </a:ext>
            </a:extLst>
          </p:cNvPr>
          <p:cNvCxnSpPr>
            <a:cxnSpLocks/>
          </p:cNvCxnSpPr>
          <p:nvPr/>
        </p:nvCxnSpPr>
        <p:spPr>
          <a:xfrm>
            <a:off x="9655626" y="1768610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A1354BB-B1A5-43DE-9328-CFD8A477C0C1}"/>
              </a:ext>
            </a:extLst>
          </p:cNvPr>
          <p:cNvCxnSpPr>
            <a:cxnSpLocks/>
          </p:cNvCxnSpPr>
          <p:nvPr/>
        </p:nvCxnSpPr>
        <p:spPr>
          <a:xfrm>
            <a:off x="9666516" y="2160493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4409F8B-60F4-4E94-ABCE-DA27E1B8C477}"/>
              </a:ext>
            </a:extLst>
          </p:cNvPr>
          <p:cNvCxnSpPr>
            <a:cxnSpLocks/>
          </p:cNvCxnSpPr>
          <p:nvPr/>
        </p:nvCxnSpPr>
        <p:spPr>
          <a:xfrm>
            <a:off x="9666515" y="2465297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A7C9CFB-F562-46D7-A427-6D92DD2A13FB}"/>
              </a:ext>
            </a:extLst>
          </p:cNvPr>
          <p:cNvCxnSpPr>
            <a:cxnSpLocks/>
          </p:cNvCxnSpPr>
          <p:nvPr/>
        </p:nvCxnSpPr>
        <p:spPr>
          <a:xfrm>
            <a:off x="9633858" y="3934861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1066381-A0BF-41F2-802C-9100F9F6F47E}"/>
              </a:ext>
            </a:extLst>
          </p:cNvPr>
          <p:cNvCxnSpPr>
            <a:cxnSpLocks/>
          </p:cNvCxnSpPr>
          <p:nvPr/>
        </p:nvCxnSpPr>
        <p:spPr>
          <a:xfrm>
            <a:off x="9633857" y="4239665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33CA6CF-D055-4DB3-BC23-905C7B3D257A}"/>
              </a:ext>
            </a:extLst>
          </p:cNvPr>
          <p:cNvSpPr txBox="1"/>
          <p:nvPr/>
        </p:nvSpPr>
        <p:spPr>
          <a:xfrm>
            <a:off x="9978814" y="1332162"/>
            <a:ext cx="470887" cy="681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</a:p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C5A86C1-8097-465B-B351-E22ECE06858F}"/>
              </a:ext>
            </a:extLst>
          </p:cNvPr>
          <p:cNvSpPr txBox="1"/>
          <p:nvPr/>
        </p:nvSpPr>
        <p:spPr>
          <a:xfrm>
            <a:off x="6958703" y="1383766"/>
            <a:ext cx="1642372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[0]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9E6720A-79F0-4278-A2FB-231E504C0955}"/>
              </a:ext>
            </a:extLst>
          </p:cNvPr>
          <p:cNvSpPr txBox="1"/>
          <p:nvPr/>
        </p:nvSpPr>
        <p:spPr>
          <a:xfrm>
            <a:off x="6969587" y="2134880"/>
            <a:ext cx="1642372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[1]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9BD2AE-EF97-4D40-BF9D-5AE18D576E59}"/>
              </a:ext>
            </a:extLst>
          </p:cNvPr>
          <p:cNvSpPr txBox="1"/>
          <p:nvPr/>
        </p:nvSpPr>
        <p:spPr>
          <a:xfrm>
            <a:off x="6875447" y="3921934"/>
            <a:ext cx="1710008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[31]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graphicFrame>
        <p:nvGraphicFramePr>
          <p:cNvPr id="5" name="表格 19">
            <a:extLst>
              <a:ext uri="{FF2B5EF4-FFF2-40B4-BE49-F238E27FC236}">
                <a16:creationId xmlns:a16="http://schemas.microsoft.com/office/drawing/2014/main" id="{C257A468-E337-4619-B890-20C1BCFD5F14}"/>
              </a:ext>
            </a:extLst>
          </p:cNvPr>
          <p:cNvGraphicFramePr>
            <a:graphicFrameLocks noGrp="1"/>
          </p:cNvGraphicFramePr>
          <p:nvPr/>
        </p:nvGraphicFramePr>
        <p:xfrm>
          <a:off x="2110215" y="4673048"/>
          <a:ext cx="684872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181">
                  <a:extLst>
                    <a:ext uri="{9D8B030D-6E8A-4147-A177-3AD203B41FA5}">
                      <a16:colId xmlns:a16="http://schemas.microsoft.com/office/drawing/2014/main" val="3545332923"/>
                    </a:ext>
                  </a:extLst>
                </a:gridCol>
                <a:gridCol w="1712181">
                  <a:extLst>
                    <a:ext uri="{9D8B030D-6E8A-4147-A177-3AD203B41FA5}">
                      <a16:colId xmlns:a16="http://schemas.microsoft.com/office/drawing/2014/main" val="2657926666"/>
                    </a:ext>
                  </a:extLst>
                </a:gridCol>
                <a:gridCol w="1712181">
                  <a:extLst>
                    <a:ext uri="{9D8B030D-6E8A-4147-A177-3AD203B41FA5}">
                      <a16:colId xmlns:a16="http://schemas.microsoft.com/office/drawing/2014/main" val="237098463"/>
                    </a:ext>
                  </a:extLst>
                </a:gridCol>
                <a:gridCol w="1712181">
                  <a:extLst>
                    <a:ext uri="{9D8B030D-6E8A-4147-A177-3AD203B41FA5}">
                      <a16:colId xmlns:a16="http://schemas.microsoft.com/office/drawing/2014/main" val="2022267327"/>
                    </a:ext>
                  </a:extLst>
                </a:gridCol>
              </a:tblGrid>
              <a:tr h="31273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……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… …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673279"/>
                  </a:ext>
                </a:extLst>
              </a:tr>
              <a:tr h="31273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9105615"/>
                  </a:ext>
                </a:extLst>
              </a:tr>
              <a:tr h="31273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2009821"/>
                  </a:ext>
                </a:extLst>
              </a:tr>
            </a:tbl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3AAC6CB5-65EE-4688-AF1E-36D12F90F362}"/>
              </a:ext>
            </a:extLst>
          </p:cNvPr>
          <p:cNvSpPr txBox="1"/>
          <p:nvPr/>
        </p:nvSpPr>
        <p:spPr>
          <a:xfrm>
            <a:off x="8388777" y="708452"/>
            <a:ext cx="2098247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3200" b="1" dirty="0">
                <a:solidFill>
                  <a:schemeClr val="accent1"/>
                </a:solidFill>
              </a:rPr>
              <a:t>就绪</a:t>
            </a:r>
            <a:r>
              <a:rPr lang="zh-CN" altLang="en-US" sz="3200" b="1" dirty="0">
                <a:solidFill>
                  <a:srgbClr val="FF0000"/>
                </a:solidFill>
              </a:rPr>
              <a:t>列</a:t>
            </a:r>
            <a:r>
              <a:rPr lang="zh-CN" altLang="en-US" sz="3200" b="1" dirty="0">
                <a:solidFill>
                  <a:schemeClr val="accent1"/>
                </a:solidFill>
              </a:rPr>
              <a:t>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3CEE1E1-6A1A-4F33-AAB4-73561276EF6D}"/>
              </a:ext>
            </a:extLst>
          </p:cNvPr>
          <p:cNvSpPr txBox="1"/>
          <p:nvPr/>
        </p:nvSpPr>
        <p:spPr>
          <a:xfrm>
            <a:off x="2510516" y="4067218"/>
            <a:ext cx="4219575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3200" b="1" dirty="0">
                <a:solidFill>
                  <a:schemeClr val="accent1"/>
                </a:solidFill>
              </a:rPr>
              <a:t>就绪</a:t>
            </a:r>
            <a:r>
              <a:rPr lang="zh-CN" altLang="en-US" sz="3200" b="1" dirty="0">
                <a:solidFill>
                  <a:srgbClr val="FF0000"/>
                </a:solidFill>
              </a:rPr>
              <a:t>位</a:t>
            </a:r>
            <a:r>
              <a:rPr lang="zh-CN" altLang="en-US" sz="3200" b="1" dirty="0">
                <a:solidFill>
                  <a:schemeClr val="accent1"/>
                </a:solidFill>
              </a:rPr>
              <a:t>表</a:t>
            </a:r>
            <a:r>
              <a:rPr lang="zh-CN" altLang="en-US" sz="32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（优先级表）</a:t>
            </a:r>
            <a:endParaRPr lang="zh-CN" altLang="en-US" sz="3200" b="1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631B216-838B-4825-B2C1-7CF0B2374B40}"/>
              </a:ext>
            </a:extLst>
          </p:cNvPr>
          <p:cNvSpPr txBox="1"/>
          <p:nvPr/>
        </p:nvSpPr>
        <p:spPr>
          <a:xfrm>
            <a:off x="424541" y="4657618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dirty="0" err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OSPrioTbl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800" b="1" i="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974D81-686B-4162-B7D8-6A4D61DA637B}"/>
              </a:ext>
            </a:extLst>
          </p:cNvPr>
          <p:cNvSpPr txBox="1"/>
          <p:nvPr/>
        </p:nvSpPr>
        <p:spPr>
          <a:xfrm>
            <a:off x="443650" y="5042380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dirty="0" err="1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OSPrioTbl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800" b="1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7EB1D9F-2228-4D8B-B867-D8641884A551}"/>
              </a:ext>
            </a:extLst>
          </p:cNvPr>
          <p:cNvSpPr txBox="1"/>
          <p:nvPr/>
        </p:nvSpPr>
        <p:spPr>
          <a:xfrm>
            <a:off x="442295" y="5474391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dirty="0" err="1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OSPrioTbl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800" b="1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1" name="表格 21">
            <a:extLst>
              <a:ext uri="{FF2B5EF4-FFF2-40B4-BE49-F238E27FC236}">
                <a16:creationId xmlns:a16="http://schemas.microsoft.com/office/drawing/2014/main" id="{A774062C-B611-4548-90F3-A815440A0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60659"/>
              </p:ext>
            </p:extLst>
          </p:nvPr>
        </p:nvGraphicFramePr>
        <p:xfrm>
          <a:off x="2110215" y="4665333"/>
          <a:ext cx="1733552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694">
                  <a:extLst>
                    <a:ext uri="{9D8B030D-6E8A-4147-A177-3AD203B41FA5}">
                      <a16:colId xmlns:a16="http://schemas.microsoft.com/office/drawing/2014/main" val="425815149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88316916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3014721406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50444181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395659122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84242226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98868917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587181508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603363"/>
                  </a:ext>
                </a:extLst>
              </a:tr>
            </a:tbl>
          </a:graphicData>
        </a:graphic>
      </p:graphicFrame>
      <p:graphicFrame>
        <p:nvGraphicFramePr>
          <p:cNvPr id="30" name="表格 21">
            <a:extLst>
              <a:ext uri="{FF2B5EF4-FFF2-40B4-BE49-F238E27FC236}">
                <a16:creationId xmlns:a16="http://schemas.microsoft.com/office/drawing/2014/main" id="{B1787E8A-5584-415C-9F16-074BB789DE57}"/>
              </a:ext>
            </a:extLst>
          </p:cNvPr>
          <p:cNvGraphicFramePr>
            <a:graphicFrameLocks noGrp="1"/>
          </p:cNvGraphicFramePr>
          <p:nvPr/>
        </p:nvGraphicFramePr>
        <p:xfrm>
          <a:off x="7225387" y="4677536"/>
          <a:ext cx="1733552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694">
                  <a:extLst>
                    <a:ext uri="{9D8B030D-6E8A-4147-A177-3AD203B41FA5}">
                      <a16:colId xmlns:a16="http://schemas.microsoft.com/office/drawing/2014/main" val="425815149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88316916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3014721406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50444181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395659122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84242226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98868917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587181508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603363"/>
                  </a:ext>
                </a:extLst>
              </a:tr>
            </a:tbl>
          </a:graphicData>
        </a:graphic>
      </p:graphicFrame>
      <p:sp>
        <p:nvSpPr>
          <p:cNvPr id="29" name="矩形 28">
            <a:extLst>
              <a:ext uri="{FF2B5EF4-FFF2-40B4-BE49-F238E27FC236}">
                <a16:creationId xmlns:a16="http://schemas.microsoft.com/office/drawing/2014/main" id="{0B381621-12BE-42B5-8976-B6E9FE85565B}"/>
              </a:ext>
            </a:extLst>
          </p:cNvPr>
          <p:cNvSpPr/>
          <p:nvPr/>
        </p:nvSpPr>
        <p:spPr>
          <a:xfrm>
            <a:off x="10126513" y="2079460"/>
            <a:ext cx="1718538" cy="4511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700" b="1" dirty="0">
                <a:solidFill>
                  <a:srgbClr val="0070C0"/>
                </a:solidFill>
              </a:rPr>
              <a:t>task1</a:t>
            </a:r>
          </a:p>
          <a:p>
            <a:pPr algn="ctr"/>
            <a:r>
              <a:rPr lang="zh-CN" altLang="en-US" sz="1700" b="1" dirty="0">
                <a:solidFill>
                  <a:srgbClr val="0070C0"/>
                </a:solidFill>
              </a:rPr>
              <a:t>任务控制块</a:t>
            </a:r>
            <a:endParaRPr lang="en-US" altLang="zh-CN" sz="1700" b="1" dirty="0">
              <a:solidFill>
                <a:srgbClr val="0070C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D0FF278-854F-4851-AE7B-7C6BC4897B93}"/>
              </a:ext>
            </a:extLst>
          </p:cNvPr>
          <p:cNvSpPr txBox="1"/>
          <p:nvPr/>
        </p:nvSpPr>
        <p:spPr>
          <a:xfrm>
            <a:off x="6969587" y="2702462"/>
            <a:ext cx="1642372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[2]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D165A4D-B097-4607-8C5B-AD2EAD586A18}"/>
              </a:ext>
            </a:extLst>
          </p:cNvPr>
          <p:cNvSpPr txBox="1"/>
          <p:nvPr/>
        </p:nvSpPr>
        <p:spPr>
          <a:xfrm>
            <a:off x="6969587" y="3018863"/>
            <a:ext cx="1642372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[3]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53E0124-E2F5-473E-8B93-7608C04F4EDE}"/>
              </a:ext>
            </a:extLst>
          </p:cNvPr>
          <p:cNvCxnSpPr>
            <a:cxnSpLocks/>
          </p:cNvCxnSpPr>
          <p:nvPr/>
        </p:nvCxnSpPr>
        <p:spPr>
          <a:xfrm>
            <a:off x="9655629" y="2726553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DDBAEE7-4EC5-4DAB-B10C-E5AAFD52352F}"/>
              </a:ext>
            </a:extLst>
          </p:cNvPr>
          <p:cNvCxnSpPr>
            <a:cxnSpLocks/>
          </p:cNvCxnSpPr>
          <p:nvPr/>
        </p:nvCxnSpPr>
        <p:spPr>
          <a:xfrm>
            <a:off x="9644742" y="2911611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D4A8BC32-93BB-47AE-9A1D-BC16B9DF0A2A}"/>
              </a:ext>
            </a:extLst>
          </p:cNvPr>
          <p:cNvSpPr/>
          <p:nvPr/>
        </p:nvSpPr>
        <p:spPr>
          <a:xfrm>
            <a:off x="10137402" y="2611646"/>
            <a:ext cx="1718538" cy="3954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ts val="1920"/>
              </a:lnSpc>
            </a:pPr>
            <a:r>
              <a:rPr lang="en-US" altLang="zh-CN" sz="1600" b="1" dirty="0">
                <a:solidFill>
                  <a:srgbClr val="0070C0"/>
                </a:solidFill>
              </a:rPr>
              <a:t>task2</a:t>
            </a:r>
          </a:p>
          <a:p>
            <a:pPr algn="ctr">
              <a:lnSpc>
                <a:spcPts val="1920"/>
              </a:lnSpc>
            </a:pPr>
            <a:r>
              <a:rPr lang="zh-CN" altLang="en-US" sz="1600" b="1" dirty="0">
                <a:solidFill>
                  <a:srgbClr val="0070C0"/>
                </a:solidFill>
              </a:rPr>
              <a:t>任务控制块</a:t>
            </a:r>
            <a:endParaRPr lang="en-US" altLang="zh-CN" sz="1600" b="1" dirty="0">
              <a:solidFill>
                <a:srgbClr val="0070C0"/>
              </a:solidFill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9A7DBBD-8065-4C22-99A7-A125E8F156E0}"/>
              </a:ext>
            </a:extLst>
          </p:cNvPr>
          <p:cNvCxnSpPr>
            <a:cxnSpLocks/>
          </p:cNvCxnSpPr>
          <p:nvPr/>
        </p:nvCxnSpPr>
        <p:spPr>
          <a:xfrm>
            <a:off x="9622972" y="3151094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6070D217-4E3E-405B-8B23-E149E401A4CB}"/>
              </a:ext>
            </a:extLst>
          </p:cNvPr>
          <p:cNvCxnSpPr>
            <a:cxnSpLocks/>
          </p:cNvCxnSpPr>
          <p:nvPr/>
        </p:nvCxnSpPr>
        <p:spPr>
          <a:xfrm>
            <a:off x="9612085" y="3336152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C0647CB6-89AD-4AD4-9397-476881D9D934}"/>
              </a:ext>
            </a:extLst>
          </p:cNvPr>
          <p:cNvSpPr/>
          <p:nvPr/>
        </p:nvSpPr>
        <p:spPr>
          <a:xfrm>
            <a:off x="10104745" y="3036187"/>
            <a:ext cx="1718538" cy="3954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ts val="1920"/>
              </a:lnSpc>
            </a:pPr>
            <a:r>
              <a:rPr lang="en-US" altLang="zh-CN" sz="1600" b="1" dirty="0">
                <a:solidFill>
                  <a:srgbClr val="0070C0"/>
                </a:solidFill>
              </a:rPr>
              <a:t>task3</a:t>
            </a:r>
          </a:p>
          <a:p>
            <a:pPr algn="ctr">
              <a:lnSpc>
                <a:spcPts val="1920"/>
              </a:lnSpc>
            </a:pPr>
            <a:r>
              <a:rPr lang="zh-CN" altLang="en-US" sz="1600" b="1" dirty="0">
                <a:solidFill>
                  <a:srgbClr val="0070C0"/>
                </a:solidFill>
              </a:rPr>
              <a:t>任务控制块</a:t>
            </a:r>
            <a:endParaRPr lang="en-US" altLang="zh-CN" sz="1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57699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45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修改 </a:t>
            </a:r>
            <a:r>
              <a:rPr lang="en-US" altLang="zh-CN" sz="4000" b="0" i="0" dirty="0" err="1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PendSV_Handler</a:t>
            </a:r>
            <a:r>
              <a:rPr lang="en-US" altLang="zh-CN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()</a:t>
            </a:r>
            <a:r>
              <a:rPr lang="zh-CN" altLang="en-US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40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zh-CN" altLang="en-US" sz="36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6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os_</a:t>
            </a:r>
            <a:r>
              <a:rPr lang="en-US" altLang="zh-CN" sz="3600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cpu_a</a:t>
            </a:r>
            <a:r>
              <a:rPr lang="en-US" altLang="zh-CN" sz="36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.s</a:t>
            </a:r>
            <a:r>
              <a:rPr lang="zh-CN" altLang="en-US" sz="36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36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816" y="912435"/>
            <a:ext cx="11175159" cy="59400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OS_CPU_PendSVHandler_nosave</a:t>
            </a:r>
            <a:endParaRPr lang="en-US" altLang="zh-CN" sz="2000" b="0" i="0" dirty="0">
              <a:solidFill>
                <a:srgbClr val="000000"/>
              </a:solidFill>
              <a:effectLst/>
              <a:latin typeface="+mn-ea"/>
            </a:endParaRP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;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OSPrioCur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=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OSPrioHighRdy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LDR     R0, =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OSPrioCur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                                  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LDR     R1, =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OSPrioHighRdy</a:t>
            </a:r>
            <a:endParaRPr lang="en-US" altLang="zh-CN" sz="2000" b="1" i="0" dirty="0">
              <a:solidFill>
                <a:srgbClr val="FF0000"/>
              </a:solidFill>
              <a:effectLst/>
              <a:latin typeface="+mn-ea"/>
            </a:endParaRP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LDRB    R2, [R1]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   STRB    R2, [R0]  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;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OSTCBCurPtr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=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OSTCBHighRdyPtr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LDR     R0, =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OSTCBCurPtr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 ;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加载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OSTCBCurPtr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指针的地址到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R0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，这里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LDR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属于伪指令</a:t>
            </a:r>
          </a:p>
          <a:p>
            <a:pPr>
              <a:defRPr/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LDR     R1, =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OSTCBHighRdyPtr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;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加载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OSTCBHighRdyPtr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指针的地址到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R1</a:t>
            </a:r>
            <a:endParaRPr lang="zh-CN" altLang="en-US" sz="2000" b="0" i="0" dirty="0">
              <a:solidFill>
                <a:srgbClr val="000000"/>
              </a:solidFill>
              <a:effectLst/>
              <a:latin typeface="+mn-ea"/>
            </a:endParaRPr>
          </a:p>
          <a:p>
            <a:pPr>
              <a:defRPr/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LDR     R2, [R1]                          ;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加载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OSTCBHighRdyPtr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指针到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R2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，这里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LDR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属于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ARM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指令</a:t>
            </a:r>
          </a:p>
          <a:p>
            <a:pPr>
              <a:defRPr/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STR     R2, [R0]                          ;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存储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OSTCBHighRdyPtr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到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OSTCBCurPtr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LDR     R0, [R2]                          ;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加载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OSTCBHighRdyPtr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到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R0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LDMIA   R0!, {R4-R11}               ;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加载需要手动保存的信息到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CPU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寄存器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R4-R11  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MSR     PSP, R0                  ;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更新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PSP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的值，这个时候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PSP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指向下一个要执行的任务的堆栈的栈底</a:t>
            </a:r>
          </a:p>
          <a:p>
            <a:pPr>
              <a:defRPr/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ORR     LR, LR, #0x04              ;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确保异常返回使用的堆栈指针是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PSP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，即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LR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寄存器的位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2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要为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1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   CPSIE   I                                 ;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开中断</a:t>
            </a:r>
          </a:p>
          <a:p>
            <a:pPr>
              <a:defRPr/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BX      LR</a:t>
            </a:r>
            <a:endParaRPr lang="zh-CN" altLang="en-US" sz="2000" b="0" i="0" dirty="0">
              <a:solidFill>
                <a:srgbClr val="000000"/>
              </a:solidFill>
              <a:effectLst/>
              <a:latin typeface="+mn-ea"/>
            </a:endParaRPr>
          </a:p>
          <a:p>
            <a:pPr>
              <a:defRPr/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NOP                                       ;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为了汇编指令对齐，不然会有警告  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ENDP</a:t>
            </a:r>
            <a:endParaRPr lang="en-US" altLang="zh-CN" sz="28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89738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45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修改 </a:t>
            </a:r>
            <a:r>
              <a:rPr lang="en-US" altLang="zh-CN" sz="4000" b="0" i="0" dirty="0" err="1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OSTimeDly</a:t>
            </a:r>
            <a:r>
              <a:rPr lang="en-US" altLang="zh-CN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()</a:t>
            </a:r>
            <a:r>
              <a:rPr lang="zh-CN" altLang="en-US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40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zh-CN" altLang="en-US" sz="36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6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os_time.c</a:t>
            </a:r>
            <a:r>
              <a:rPr lang="zh-CN" altLang="en-US" sz="36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36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616" y="1216164"/>
            <a:ext cx="7974759" cy="56323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void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OSTimeDly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(OS_TICK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dly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)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{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	CPU_SR_ALLOC();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	/* 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+mn-ea"/>
              </a:rPr>
              <a:t>进入临界区 *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	OS_CRITICAL_ENTER();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设置延时时间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OSTCBCurPtr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TaskDelayTicks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=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dly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;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从就绪列表中移除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//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OS_RdyListRemove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OSTCBCurPtr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);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	</a:t>
            </a:r>
            <a:r>
              <a:rPr lang="en-US" altLang="zh-CN" sz="2000" b="0" i="0" dirty="0" err="1">
                <a:solidFill>
                  <a:srgbClr val="FF0000"/>
                </a:solidFill>
                <a:effectLst/>
                <a:latin typeface="+mn-ea"/>
              </a:rPr>
              <a:t>OS_PrioRemove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(</a:t>
            </a:r>
            <a:r>
              <a:rPr lang="en-US" altLang="zh-CN" sz="2000" b="0" i="0" dirty="0" err="1">
                <a:solidFill>
                  <a:srgbClr val="FF0000"/>
                </a:solidFill>
                <a:effectLst/>
                <a:latin typeface="+mn-ea"/>
              </a:rPr>
              <a:t>OSTCBCurPtr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-&gt;</a:t>
            </a:r>
            <a:r>
              <a:rPr lang="en-US" altLang="zh-CN" sz="2000" b="0" i="0" dirty="0" err="1">
                <a:solidFill>
                  <a:srgbClr val="FF0000"/>
                </a:solidFill>
                <a:effectLst/>
                <a:latin typeface="+mn-ea"/>
              </a:rPr>
              <a:t>Prio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);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退出临界区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	OS_CRITICAL_EXIT();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任务调度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OSSched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();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}</a:t>
            </a:r>
            <a:endParaRPr lang="en-US" altLang="zh-CN" sz="28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34854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54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en-US" altLang="zh-CN" sz="4400" b="0" i="0" dirty="0" err="1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OSTimeDly</a:t>
            </a:r>
            <a:r>
              <a:rPr lang="en-US" altLang="zh-CN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()</a:t>
            </a:r>
            <a:endParaRPr lang="zh-CN" altLang="zh-CN" sz="4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FDC906-0389-4ED0-B10A-069AD752D215}"/>
              </a:ext>
            </a:extLst>
          </p:cNvPr>
          <p:cNvSpPr/>
          <p:nvPr/>
        </p:nvSpPr>
        <p:spPr>
          <a:xfrm>
            <a:off x="10035312" y="3765592"/>
            <a:ext cx="1718538" cy="636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IDLE(</a:t>
            </a:r>
            <a:r>
              <a:rPr lang="zh-CN" altLang="en-US" sz="1815" b="1" dirty="0">
                <a:solidFill>
                  <a:srgbClr val="0070C0"/>
                </a:solidFill>
              </a:rPr>
              <a:t>空闲任务</a:t>
            </a:r>
            <a:r>
              <a:rPr lang="en-US" altLang="zh-CN" sz="1815" b="1" dirty="0">
                <a:solidFill>
                  <a:srgbClr val="0070C0"/>
                </a:solidFill>
              </a:rPr>
              <a:t>)</a:t>
            </a:r>
            <a:r>
              <a:rPr lang="zh-CN" altLang="en-US" sz="1815" b="1" dirty="0">
                <a:solidFill>
                  <a:srgbClr val="0070C0"/>
                </a:solidFill>
              </a:rPr>
              <a:t>任务控制块</a:t>
            </a:r>
            <a:endParaRPr lang="en-US" altLang="zh-CN" sz="1815" b="1" dirty="0">
              <a:solidFill>
                <a:srgbClr val="0070C0"/>
              </a:solidFill>
            </a:endParaRPr>
          </a:p>
        </p:txBody>
      </p:sp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3ED56CAE-6B5E-48D9-AA50-8AC1B152FF3B}"/>
              </a:ext>
            </a:extLst>
          </p:cNvPr>
          <p:cNvGraphicFramePr>
            <a:graphicFrameLocks noGrp="1"/>
          </p:cNvGraphicFramePr>
          <p:nvPr/>
        </p:nvGraphicFramePr>
        <p:xfrm>
          <a:off x="8466364" y="1268187"/>
          <a:ext cx="1291318" cy="3159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318">
                  <a:extLst>
                    <a:ext uri="{9D8B030D-6E8A-4147-A177-3AD203B41FA5}">
                      <a16:colId xmlns:a16="http://schemas.microsoft.com/office/drawing/2014/main" val="71845556"/>
                    </a:ext>
                  </a:extLst>
                </a:gridCol>
              </a:tblGrid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699634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458859"/>
                  </a:ext>
                </a:extLst>
              </a:tr>
              <a:tr h="229180">
                <a:tc>
                  <a:txBody>
                    <a:bodyPr/>
                    <a:lstStyle/>
                    <a:p>
                      <a:pPr algn="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234437"/>
                  </a:ext>
                </a:extLst>
              </a:tr>
              <a:tr h="229181">
                <a:tc>
                  <a:txBody>
                    <a:bodyPr/>
                    <a:lstStyle/>
                    <a:p>
                      <a:pPr algn="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608294"/>
                  </a:ext>
                </a:extLst>
              </a:tr>
              <a:tr h="22918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… …   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897430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46294"/>
                  </a:ext>
                </a:extLst>
              </a:tr>
            </a:tbl>
          </a:graphicData>
        </a:graphic>
      </p:graphicFrame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2FE939F-9E23-4E83-8015-F053C712E6D6}"/>
              </a:ext>
            </a:extLst>
          </p:cNvPr>
          <p:cNvCxnSpPr>
            <a:cxnSpLocks/>
          </p:cNvCxnSpPr>
          <p:nvPr/>
        </p:nvCxnSpPr>
        <p:spPr>
          <a:xfrm>
            <a:off x="9655627" y="1463806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602113A-3D9C-4A4A-87CE-31C517C4069B}"/>
              </a:ext>
            </a:extLst>
          </p:cNvPr>
          <p:cNvCxnSpPr>
            <a:cxnSpLocks/>
          </p:cNvCxnSpPr>
          <p:nvPr/>
        </p:nvCxnSpPr>
        <p:spPr>
          <a:xfrm>
            <a:off x="9655626" y="1768610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A1354BB-B1A5-43DE-9328-CFD8A477C0C1}"/>
              </a:ext>
            </a:extLst>
          </p:cNvPr>
          <p:cNvCxnSpPr>
            <a:cxnSpLocks/>
          </p:cNvCxnSpPr>
          <p:nvPr/>
        </p:nvCxnSpPr>
        <p:spPr>
          <a:xfrm>
            <a:off x="9666516" y="2160493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4409F8B-60F4-4E94-ABCE-DA27E1B8C477}"/>
              </a:ext>
            </a:extLst>
          </p:cNvPr>
          <p:cNvCxnSpPr>
            <a:cxnSpLocks/>
          </p:cNvCxnSpPr>
          <p:nvPr/>
        </p:nvCxnSpPr>
        <p:spPr>
          <a:xfrm>
            <a:off x="9666515" y="2465297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A7C9CFB-F562-46D7-A427-6D92DD2A13FB}"/>
              </a:ext>
            </a:extLst>
          </p:cNvPr>
          <p:cNvCxnSpPr>
            <a:cxnSpLocks/>
          </p:cNvCxnSpPr>
          <p:nvPr/>
        </p:nvCxnSpPr>
        <p:spPr>
          <a:xfrm>
            <a:off x="9633858" y="3934861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1066381-A0BF-41F2-802C-9100F9F6F47E}"/>
              </a:ext>
            </a:extLst>
          </p:cNvPr>
          <p:cNvCxnSpPr>
            <a:cxnSpLocks/>
          </p:cNvCxnSpPr>
          <p:nvPr/>
        </p:nvCxnSpPr>
        <p:spPr>
          <a:xfrm>
            <a:off x="9633857" y="4239665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33CA6CF-D055-4DB3-BC23-905C7B3D257A}"/>
              </a:ext>
            </a:extLst>
          </p:cNvPr>
          <p:cNvSpPr txBox="1"/>
          <p:nvPr/>
        </p:nvSpPr>
        <p:spPr>
          <a:xfrm>
            <a:off x="9978814" y="1332162"/>
            <a:ext cx="470887" cy="681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</a:p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C5A86C1-8097-465B-B351-E22ECE06858F}"/>
              </a:ext>
            </a:extLst>
          </p:cNvPr>
          <p:cNvSpPr txBox="1"/>
          <p:nvPr/>
        </p:nvSpPr>
        <p:spPr>
          <a:xfrm>
            <a:off x="6958703" y="1383766"/>
            <a:ext cx="1642372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[0]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9E6720A-79F0-4278-A2FB-231E504C0955}"/>
              </a:ext>
            </a:extLst>
          </p:cNvPr>
          <p:cNvSpPr txBox="1"/>
          <p:nvPr/>
        </p:nvSpPr>
        <p:spPr>
          <a:xfrm>
            <a:off x="6969587" y="2134880"/>
            <a:ext cx="1642372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[1]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9BD2AE-EF97-4D40-BF9D-5AE18D576E59}"/>
              </a:ext>
            </a:extLst>
          </p:cNvPr>
          <p:cNvSpPr txBox="1"/>
          <p:nvPr/>
        </p:nvSpPr>
        <p:spPr>
          <a:xfrm>
            <a:off x="6875447" y="3921934"/>
            <a:ext cx="1710008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[31]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graphicFrame>
        <p:nvGraphicFramePr>
          <p:cNvPr id="5" name="表格 19">
            <a:extLst>
              <a:ext uri="{FF2B5EF4-FFF2-40B4-BE49-F238E27FC236}">
                <a16:creationId xmlns:a16="http://schemas.microsoft.com/office/drawing/2014/main" id="{C257A468-E337-4619-B890-20C1BCFD5F14}"/>
              </a:ext>
            </a:extLst>
          </p:cNvPr>
          <p:cNvGraphicFramePr>
            <a:graphicFrameLocks noGrp="1"/>
          </p:cNvGraphicFramePr>
          <p:nvPr/>
        </p:nvGraphicFramePr>
        <p:xfrm>
          <a:off x="2110215" y="4673048"/>
          <a:ext cx="684872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181">
                  <a:extLst>
                    <a:ext uri="{9D8B030D-6E8A-4147-A177-3AD203B41FA5}">
                      <a16:colId xmlns:a16="http://schemas.microsoft.com/office/drawing/2014/main" val="3545332923"/>
                    </a:ext>
                  </a:extLst>
                </a:gridCol>
                <a:gridCol w="1712181">
                  <a:extLst>
                    <a:ext uri="{9D8B030D-6E8A-4147-A177-3AD203B41FA5}">
                      <a16:colId xmlns:a16="http://schemas.microsoft.com/office/drawing/2014/main" val="2657926666"/>
                    </a:ext>
                  </a:extLst>
                </a:gridCol>
                <a:gridCol w="1712181">
                  <a:extLst>
                    <a:ext uri="{9D8B030D-6E8A-4147-A177-3AD203B41FA5}">
                      <a16:colId xmlns:a16="http://schemas.microsoft.com/office/drawing/2014/main" val="237098463"/>
                    </a:ext>
                  </a:extLst>
                </a:gridCol>
                <a:gridCol w="1712181">
                  <a:extLst>
                    <a:ext uri="{9D8B030D-6E8A-4147-A177-3AD203B41FA5}">
                      <a16:colId xmlns:a16="http://schemas.microsoft.com/office/drawing/2014/main" val="2022267327"/>
                    </a:ext>
                  </a:extLst>
                </a:gridCol>
              </a:tblGrid>
              <a:tr h="31273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……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… …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673279"/>
                  </a:ext>
                </a:extLst>
              </a:tr>
              <a:tr h="31273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9105615"/>
                  </a:ext>
                </a:extLst>
              </a:tr>
              <a:tr h="31273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2009821"/>
                  </a:ext>
                </a:extLst>
              </a:tr>
            </a:tbl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3AAC6CB5-65EE-4688-AF1E-36D12F90F362}"/>
              </a:ext>
            </a:extLst>
          </p:cNvPr>
          <p:cNvSpPr txBox="1"/>
          <p:nvPr/>
        </p:nvSpPr>
        <p:spPr>
          <a:xfrm>
            <a:off x="8388777" y="708452"/>
            <a:ext cx="2098247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3200" b="1" dirty="0">
                <a:solidFill>
                  <a:schemeClr val="accent1"/>
                </a:solidFill>
              </a:rPr>
              <a:t>就绪</a:t>
            </a:r>
            <a:r>
              <a:rPr lang="zh-CN" altLang="en-US" sz="3200" b="1" dirty="0">
                <a:solidFill>
                  <a:srgbClr val="FF0000"/>
                </a:solidFill>
              </a:rPr>
              <a:t>列</a:t>
            </a:r>
            <a:r>
              <a:rPr lang="zh-CN" altLang="en-US" sz="3200" b="1" dirty="0">
                <a:solidFill>
                  <a:schemeClr val="accent1"/>
                </a:solidFill>
              </a:rPr>
              <a:t>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3CEE1E1-6A1A-4F33-AAB4-73561276EF6D}"/>
              </a:ext>
            </a:extLst>
          </p:cNvPr>
          <p:cNvSpPr txBox="1"/>
          <p:nvPr/>
        </p:nvSpPr>
        <p:spPr>
          <a:xfrm>
            <a:off x="2510516" y="4067218"/>
            <a:ext cx="4219575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3200" b="1" dirty="0">
                <a:solidFill>
                  <a:schemeClr val="accent1"/>
                </a:solidFill>
              </a:rPr>
              <a:t>就绪</a:t>
            </a:r>
            <a:r>
              <a:rPr lang="zh-CN" altLang="en-US" sz="3200" b="1" dirty="0">
                <a:solidFill>
                  <a:srgbClr val="FF0000"/>
                </a:solidFill>
              </a:rPr>
              <a:t>位</a:t>
            </a:r>
            <a:r>
              <a:rPr lang="zh-CN" altLang="en-US" sz="3200" b="1" dirty="0">
                <a:solidFill>
                  <a:schemeClr val="accent1"/>
                </a:solidFill>
              </a:rPr>
              <a:t>表</a:t>
            </a:r>
            <a:r>
              <a:rPr lang="zh-CN" altLang="en-US" sz="32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（优先级表）</a:t>
            </a:r>
            <a:endParaRPr lang="zh-CN" altLang="en-US" sz="3200" b="1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631B216-838B-4825-B2C1-7CF0B2374B40}"/>
              </a:ext>
            </a:extLst>
          </p:cNvPr>
          <p:cNvSpPr txBox="1"/>
          <p:nvPr/>
        </p:nvSpPr>
        <p:spPr>
          <a:xfrm>
            <a:off x="424541" y="4657618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dirty="0" err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OSPrioTbl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800" b="1" i="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974D81-686B-4162-B7D8-6A4D61DA637B}"/>
              </a:ext>
            </a:extLst>
          </p:cNvPr>
          <p:cNvSpPr txBox="1"/>
          <p:nvPr/>
        </p:nvSpPr>
        <p:spPr>
          <a:xfrm>
            <a:off x="443650" y="5042380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dirty="0" err="1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OSPrioTbl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800" b="1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7EB1D9F-2228-4D8B-B867-D8641884A551}"/>
              </a:ext>
            </a:extLst>
          </p:cNvPr>
          <p:cNvSpPr txBox="1"/>
          <p:nvPr/>
        </p:nvSpPr>
        <p:spPr>
          <a:xfrm>
            <a:off x="442295" y="5474391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dirty="0" err="1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OSPrioTbl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800" b="1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1" name="表格 21">
            <a:extLst>
              <a:ext uri="{FF2B5EF4-FFF2-40B4-BE49-F238E27FC236}">
                <a16:creationId xmlns:a16="http://schemas.microsoft.com/office/drawing/2014/main" id="{A774062C-B611-4548-90F3-A815440A0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750428"/>
              </p:ext>
            </p:extLst>
          </p:nvPr>
        </p:nvGraphicFramePr>
        <p:xfrm>
          <a:off x="2110215" y="4665333"/>
          <a:ext cx="1733552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694">
                  <a:extLst>
                    <a:ext uri="{9D8B030D-6E8A-4147-A177-3AD203B41FA5}">
                      <a16:colId xmlns:a16="http://schemas.microsoft.com/office/drawing/2014/main" val="425815149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88316916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3014721406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50444181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395659122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84242226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98868917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587181508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603363"/>
                  </a:ext>
                </a:extLst>
              </a:tr>
            </a:tbl>
          </a:graphicData>
        </a:graphic>
      </p:graphicFrame>
      <p:graphicFrame>
        <p:nvGraphicFramePr>
          <p:cNvPr id="30" name="表格 21">
            <a:extLst>
              <a:ext uri="{FF2B5EF4-FFF2-40B4-BE49-F238E27FC236}">
                <a16:creationId xmlns:a16="http://schemas.microsoft.com/office/drawing/2014/main" id="{B1787E8A-5584-415C-9F16-074BB789DE57}"/>
              </a:ext>
            </a:extLst>
          </p:cNvPr>
          <p:cNvGraphicFramePr>
            <a:graphicFrameLocks noGrp="1"/>
          </p:cNvGraphicFramePr>
          <p:nvPr/>
        </p:nvGraphicFramePr>
        <p:xfrm>
          <a:off x="7225387" y="4677536"/>
          <a:ext cx="1733552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694">
                  <a:extLst>
                    <a:ext uri="{9D8B030D-6E8A-4147-A177-3AD203B41FA5}">
                      <a16:colId xmlns:a16="http://schemas.microsoft.com/office/drawing/2014/main" val="425815149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88316916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3014721406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50444181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395659122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84242226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98868917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587181508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603363"/>
                  </a:ext>
                </a:extLst>
              </a:tr>
            </a:tbl>
          </a:graphicData>
        </a:graphic>
      </p:graphicFrame>
      <p:sp>
        <p:nvSpPr>
          <p:cNvPr id="29" name="矩形 28">
            <a:extLst>
              <a:ext uri="{FF2B5EF4-FFF2-40B4-BE49-F238E27FC236}">
                <a16:creationId xmlns:a16="http://schemas.microsoft.com/office/drawing/2014/main" id="{0B381621-12BE-42B5-8976-B6E9FE85565B}"/>
              </a:ext>
            </a:extLst>
          </p:cNvPr>
          <p:cNvSpPr/>
          <p:nvPr/>
        </p:nvSpPr>
        <p:spPr>
          <a:xfrm>
            <a:off x="10126513" y="2079460"/>
            <a:ext cx="1718538" cy="4511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700" b="1" dirty="0">
                <a:solidFill>
                  <a:srgbClr val="FF0000"/>
                </a:solidFill>
              </a:rPr>
              <a:t>task1</a:t>
            </a:r>
          </a:p>
          <a:p>
            <a:pPr algn="ctr"/>
            <a:r>
              <a:rPr lang="zh-CN" altLang="en-US" sz="1700" b="1" dirty="0">
                <a:solidFill>
                  <a:srgbClr val="FF0000"/>
                </a:solidFill>
              </a:rPr>
              <a:t>任务控制块</a:t>
            </a:r>
            <a:endParaRPr lang="en-US" altLang="zh-CN" sz="1700" b="1" dirty="0">
              <a:solidFill>
                <a:srgbClr val="FF0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D0FF278-854F-4851-AE7B-7C6BC4897B93}"/>
              </a:ext>
            </a:extLst>
          </p:cNvPr>
          <p:cNvSpPr txBox="1"/>
          <p:nvPr/>
        </p:nvSpPr>
        <p:spPr>
          <a:xfrm>
            <a:off x="6969587" y="2702462"/>
            <a:ext cx="1642372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[2]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D165A4D-B097-4607-8C5B-AD2EAD586A18}"/>
              </a:ext>
            </a:extLst>
          </p:cNvPr>
          <p:cNvSpPr txBox="1"/>
          <p:nvPr/>
        </p:nvSpPr>
        <p:spPr>
          <a:xfrm>
            <a:off x="6969587" y="3018863"/>
            <a:ext cx="1642372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[3]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53E0124-E2F5-473E-8B93-7608C04F4EDE}"/>
              </a:ext>
            </a:extLst>
          </p:cNvPr>
          <p:cNvCxnSpPr>
            <a:cxnSpLocks/>
          </p:cNvCxnSpPr>
          <p:nvPr/>
        </p:nvCxnSpPr>
        <p:spPr>
          <a:xfrm>
            <a:off x="9655629" y="2726553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DDBAEE7-4EC5-4DAB-B10C-E5AAFD52352F}"/>
              </a:ext>
            </a:extLst>
          </p:cNvPr>
          <p:cNvCxnSpPr>
            <a:cxnSpLocks/>
          </p:cNvCxnSpPr>
          <p:nvPr/>
        </p:nvCxnSpPr>
        <p:spPr>
          <a:xfrm>
            <a:off x="9644742" y="2911611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D4A8BC32-93BB-47AE-9A1D-BC16B9DF0A2A}"/>
              </a:ext>
            </a:extLst>
          </p:cNvPr>
          <p:cNvSpPr/>
          <p:nvPr/>
        </p:nvSpPr>
        <p:spPr>
          <a:xfrm>
            <a:off x="10137402" y="2611646"/>
            <a:ext cx="1718538" cy="3954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ts val="1920"/>
              </a:lnSpc>
            </a:pPr>
            <a:r>
              <a:rPr lang="en-US" altLang="zh-CN" sz="1600" b="1" dirty="0">
                <a:solidFill>
                  <a:srgbClr val="0070C0"/>
                </a:solidFill>
              </a:rPr>
              <a:t>task2</a:t>
            </a:r>
          </a:p>
          <a:p>
            <a:pPr algn="ctr">
              <a:lnSpc>
                <a:spcPts val="1920"/>
              </a:lnSpc>
            </a:pPr>
            <a:r>
              <a:rPr lang="zh-CN" altLang="en-US" sz="1600" b="1" dirty="0">
                <a:solidFill>
                  <a:srgbClr val="0070C0"/>
                </a:solidFill>
              </a:rPr>
              <a:t>任务控制块</a:t>
            </a:r>
            <a:endParaRPr lang="en-US" altLang="zh-CN" sz="1600" b="1" dirty="0">
              <a:solidFill>
                <a:srgbClr val="0070C0"/>
              </a:solidFill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9A7DBBD-8065-4C22-99A7-A125E8F156E0}"/>
              </a:ext>
            </a:extLst>
          </p:cNvPr>
          <p:cNvCxnSpPr>
            <a:cxnSpLocks/>
          </p:cNvCxnSpPr>
          <p:nvPr/>
        </p:nvCxnSpPr>
        <p:spPr>
          <a:xfrm>
            <a:off x="9622972" y="3151094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6070D217-4E3E-405B-8B23-E149E401A4CB}"/>
              </a:ext>
            </a:extLst>
          </p:cNvPr>
          <p:cNvCxnSpPr>
            <a:cxnSpLocks/>
          </p:cNvCxnSpPr>
          <p:nvPr/>
        </p:nvCxnSpPr>
        <p:spPr>
          <a:xfrm>
            <a:off x="9612085" y="3336152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C0647CB6-89AD-4AD4-9397-476881D9D934}"/>
              </a:ext>
            </a:extLst>
          </p:cNvPr>
          <p:cNvSpPr/>
          <p:nvPr/>
        </p:nvSpPr>
        <p:spPr>
          <a:xfrm>
            <a:off x="10104745" y="3036187"/>
            <a:ext cx="1718538" cy="3954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ts val="1920"/>
              </a:lnSpc>
            </a:pPr>
            <a:r>
              <a:rPr lang="en-US" altLang="zh-CN" sz="1600" b="1" dirty="0">
                <a:solidFill>
                  <a:srgbClr val="0070C0"/>
                </a:solidFill>
              </a:rPr>
              <a:t>task3</a:t>
            </a:r>
          </a:p>
          <a:p>
            <a:pPr algn="ctr">
              <a:lnSpc>
                <a:spcPts val="1920"/>
              </a:lnSpc>
            </a:pPr>
            <a:r>
              <a:rPr lang="zh-CN" altLang="en-US" sz="1600" b="1" dirty="0">
                <a:solidFill>
                  <a:srgbClr val="0070C0"/>
                </a:solidFill>
              </a:rPr>
              <a:t>任务控制块</a:t>
            </a:r>
            <a:endParaRPr lang="en-US" altLang="zh-CN" sz="1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5968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45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修改 </a:t>
            </a:r>
            <a:r>
              <a:rPr lang="en-US" altLang="zh-CN" sz="4000" b="0" i="0" dirty="0" err="1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OSSched</a:t>
            </a:r>
            <a:r>
              <a:rPr lang="en-US" altLang="zh-CN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()</a:t>
            </a:r>
            <a:r>
              <a:rPr lang="zh-CN" altLang="en-US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40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zh-CN" altLang="en-US" sz="36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6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os_</a:t>
            </a:r>
            <a:r>
              <a:rPr lang="en-US" altLang="zh-CN" sz="3600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core</a:t>
            </a:r>
            <a:r>
              <a:rPr lang="en-US" altLang="zh-CN" sz="36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.c</a:t>
            </a:r>
            <a:r>
              <a:rPr lang="zh-CN" altLang="en-US" sz="36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36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241" y="1130439"/>
            <a:ext cx="10165510" cy="56323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void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OSSched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(void)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{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CPU_SR_ALLOC();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进入临界区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OS_CRITICAL_ENTER();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查找最高优先级的任务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OSPrioHighRdy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OS_PrioGetHighest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OSPrioHighRdy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如果最高优先级的任务是当前任务则直接返回，不进行任务切换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if (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退出临界区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OS_CRITICAL_EXIT();	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return;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退出临界区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OS_CRITICAL_EXIT();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任务切换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OS_TASK_SW();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1264143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28733"/>
            <a:ext cx="9315932" cy="635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修改 </a:t>
            </a:r>
            <a:r>
              <a:rPr lang="en-US" altLang="zh-CN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main </a:t>
            </a:r>
            <a:r>
              <a:rPr lang="zh-CN" altLang="en-US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40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zh-CN" altLang="en-US" sz="36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600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app</a:t>
            </a:r>
            <a:r>
              <a:rPr lang="en-US" altLang="zh-CN" sz="36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.c</a:t>
            </a:r>
            <a:r>
              <a:rPr lang="zh-CN" altLang="en-US" sz="36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36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240" y="1130439"/>
            <a:ext cx="10584609" cy="56323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int main(void)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{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… …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OSTaskCreate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( (OS_TCB*)&amp;Task1TCB, (OS_TASK_PTR )Task1, (void *)0,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(OS_PRIO)1,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                     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(CPU_STK*)&amp;Task1Stk[0],  (CPU_STK_SIZE)  TASK1_STK_SIZE,(OS_ERR *)&amp;err );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			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OSTaskCreate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( (OS_TCB*)&amp;Task2TCB, (OS_TASK_PTR )Task2, (void *)0,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(OS_PRIO)2,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        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(CPU_STK*)&amp;Task2Stk[0], (CPU_STK_SIZE)  TASK2_STK_SIZE,(OS_ERR *)&amp;err );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00B050"/>
                </a:solidFill>
                <a:effectLst/>
                <a:latin typeface="+mn-ea"/>
              </a:rPr>
              <a:t>#if 0				  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00B050"/>
                </a:solidFill>
                <a:effectLst/>
                <a:latin typeface="+mn-ea"/>
              </a:rPr>
              <a:t>	/* </a:t>
            </a:r>
            <a:r>
              <a:rPr lang="zh-CN" altLang="en-US" sz="2000" b="1" i="0" dirty="0">
                <a:solidFill>
                  <a:srgbClr val="00B050"/>
                </a:solidFill>
                <a:effectLst/>
                <a:latin typeface="+mn-ea"/>
              </a:rPr>
              <a:t>将任务加入到就绪列表 *</a:t>
            </a:r>
            <a:r>
              <a:rPr lang="en-US" altLang="zh-CN" sz="2000" b="1" i="0" dirty="0">
                <a:solidFill>
                  <a:srgbClr val="00B05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00B050"/>
                </a:solidFill>
                <a:effectLst/>
                <a:latin typeface="+mn-ea"/>
              </a:rPr>
              <a:t>	</a:t>
            </a:r>
            <a:r>
              <a:rPr lang="en-US" altLang="zh-CN" sz="2000" b="1" i="0" dirty="0" err="1">
                <a:solidFill>
                  <a:srgbClr val="00B050"/>
                </a:solidFill>
                <a:effectLst/>
                <a:latin typeface="+mn-ea"/>
              </a:rPr>
              <a:t>OSRdyList</a:t>
            </a:r>
            <a:r>
              <a:rPr lang="en-US" altLang="zh-CN" sz="2000" b="1" i="0" dirty="0">
                <a:solidFill>
                  <a:srgbClr val="00B050"/>
                </a:solidFill>
                <a:effectLst/>
                <a:latin typeface="+mn-ea"/>
              </a:rPr>
              <a:t>[0].</a:t>
            </a:r>
            <a:r>
              <a:rPr lang="en-US" altLang="zh-CN" sz="2000" b="1" i="0" dirty="0" err="1">
                <a:solidFill>
                  <a:srgbClr val="00B050"/>
                </a:solidFill>
                <a:effectLst/>
                <a:latin typeface="+mn-ea"/>
              </a:rPr>
              <a:t>HeadPtr</a:t>
            </a:r>
            <a:r>
              <a:rPr lang="en-US" altLang="zh-CN" sz="2000" b="1" i="0" dirty="0">
                <a:solidFill>
                  <a:srgbClr val="00B050"/>
                </a:solidFill>
                <a:effectLst/>
                <a:latin typeface="+mn-ea"/>
              </a:rPr>
              <a:t> = &amp;Task1TCB;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00B050"/>
                </a:solidFill>
                <a:effectLst/>
                <a:latin typeface="+mn-ea"/>
              </a:rPr>
              <a:t>	</a:t>
            </a:r>
            <a:r>
              <a:rPr lang="en-US" altLang="zh-CN" sz="2000" b="1" i="0" dirty="0" err="1">
                <a:solidFill>
                  <a:srgbClr val="00B050"/>
                </a:solidFill>
                <a:effectLst/>
                <a:latin typeface="+mn-ea"/>
              </a:rPr>
              <a:t>OSRdyList</a:t>
            </a:r>
            <a:r>
              <a:rPr lang="en-US" altLang="zh-CN" sz="2000" b="1" i="0" dirty="0">
                <a:solidFill>
                  <a:srgbClr val="00B050"/>
                </a:solidFill>
                <a:effectLst/>
                <a:latin typeface="+mn-ea"/>
              </a:rPr>
              <a:t>[1].</a:t>
            </a:r>
            <a:r>
              <a:rPr lang="en-US" altLang="zh-CN" sz="2000" b="1" i="0" dirty="0" err="1">
                <a:solidFill>
                  <a:srgbClr val="00B050"/>
                </a:solidFill>
                <a:effectLst/>
                <a:latin typeface="+mn-ea"/>
              </a:rPr>
              <a:t>HeadPtr</a:t>
            </a:r>
            <a:r>
              <a:rPr lang="en-US" altLang="zh-CN" sz="2000" b="1" i="0" dirty="0">
                <a:solidFill>
                  <a:srgbClr val="00B050"/>
                </a:solidFill>
                <a:effectLst/>
                <a:latin typeface="+mn-ea"/>
              </a:rPr>
              <a:t> = &amp;Task2TCB;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00B050"/>
                </a:solidFill>
                <a:effectLst/>
                <a:latin typeface="+mn-ea"/>
              </a:rPr>
              <a:t>#endif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			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启动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OS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，将不再返回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			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OSStart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(&amp;err);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}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35369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45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修改 </a:t>
            </a:r>
            <a:r>
              <a:rPr lang="en-US" altLang="zh-CN" sz="4000" b="0" i="0" dirty="0" err="1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OSTimeTick</a:t>
            </a:r>
            <a:r>
              <a:rPr lang="en-US" altLang="zh-CN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()</a:t>
            </a:r>
            <a:r>
              <a:rPr lang="zh-CN" altLang="en-US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40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zh-CN" altLang="en-US" sz="36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6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os_time.c</a:t>
            </a:r>
            <a:r>
              <a:rPr lang="zh-CN" altLang="en-US" sz="36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36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241" y="1130439"/>
            <a:ext cx="10165510" cy="56323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void 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OSTimeTick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(void)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{	unsigned int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i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	CPU_SR_ALLOC();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	OS_CRITICAL_ENTER();	/* 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+mn-ea"/>
              </a:rPr>
              <a:t>进入临界区 *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扫描就绪列表中所有任务的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TaskDelayTicks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，如果不为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0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，则减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1 */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for(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i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=0;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i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&lt;OS_CFG_PRIO_MAX;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i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++){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	if(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OSRdyList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[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i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].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HeadPtr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TaskDelayTicks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&gt; 0){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		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OSRdyList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[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i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].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HeadPtr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-&gt;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TaskDelayTicks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 --;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		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if(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OSRdyList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[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i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].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HeadPtr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-&gt;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TaskDelayTicks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 == 0){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				/* 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+mn-ea"/>
              </a:rPr>
              <a:t>为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0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+mn-ea"/>
              </a:rPr>
              <a:t>则表示延时时间到，让任务就绪 *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/						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OS_PrioInsert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(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+mn-ea"/>
              </a:rPr>
              <a:t>i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);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+mn-ea"/>
              </a:rPr>
              <a:t>			}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	}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}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	OS_CRITICAL_EXIT(); /* 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+mn-ea"/>
              </a:rPr>
              <a:t>退出临界区 *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+mn-ea"/>
              </a:rPr>
              <a:t>/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</a:rPr>
              <a:t>任务调度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	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+mn-ea"/>
              </a:rPr>
              <a:t>OSSched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();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}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64438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54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en-US" altLang="zh-CN" sz="4400" b="0" i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OSTimeTick()</a:t>
            </a:r>
            <a:endParaRPr lang="zh-CN" altLang="zh-CN" sz="4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FDC906-0389-4ED0-B10A-069AD752D215}"/>
              </a:ext>
            </a:extLst>
          </p:cNvPr>
          <p:cNvSpPr/>
          <p:nvPr/>
        </p:nvSpPr>
        <p:spPr>
          <a:xfrm>
            <a:off x="10035312" y="3765592"/>
            <a:ext cx="1718538" cy="636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IDLE(</a:t>
            </a:r>
            <a:r>
              <a:rPr lang="zh-CN" altLang="en-US" sz="1815" b="1" dirty="0">
                <a:solidFill>
                  <a:srgbClr val="0070C0"/>
                </a:solidFill>
              </a:rPr>
              <a:t>空闲任务</a:t>
            </a:r>
            <a:r>
              <a:rPr lang="en-US" altLang="zh-CN" sz="1815" b="1" dirty="0">
                <a:solidFill>
                  <a:srgbClr val="0070C0"/>
                </a:solidFill>
              </a:rPr>
              <a:t>)</a:t>
            </a:r>
            <a:r>
              <a:rPr lang="zh-CN" altLang="en-US" sz="1815" b="1" dirty="0">
                <a:solidFill>
                  <a:srgbClr val="0070C0"/>
                </a:solidFill>
              </a:rPr>
              <a:t>任务控制块</a:t>
            </a:r>
            <a:endParaRPr lang="en-US" altLang="zh-CN" sz="1815" b="1" dirty="0">
              <a:solidFill>
                <a:srgbClr val="0070C0"/>
              </a:solidFill>
            </a:endParaRPr>
          </a:p>
        </p:txBody>
      </p:sp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3ED56CAE-6B5E-48D9-AA50-8AC1B152FF3B}"/>
              </a:ext>
            </a:extLst>
          </p:cNvPr>
          <p:cNvGraphicFramePr>
            <a:graphicFrameLocks noGrp="1"/>
          </p:cNvGraphicFramePr>
          <p:nvPr/>
        </p:nvGraphicFramePr>
        <p:xfrm>
          <a:off x="8466364" y="1268187"/>
          <a:ext cx="1291318" cy="3159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318">
                  <a:extLst>
                    <a:ext uri="{9D8B030D-6E8A-4147-A177-3AD203B41FA5}">
                      <a16:colId xmlns:a16="http://schemas.microsoft.com/office/drawing/2014/main" val="71845556"/>
                    </a:ext>
                  </a:extLst>
                </a:gridCol>
              </a:tblGrid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699634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458859"/>
                  </a:ext>
                </a:extLst>
              </a:tr>
              <a:tr h="229180">
                <a:tc>
                  <a:txBody>
                    <a:bodyPr/>
                    <a:lstStyle/>
                    <a:p>
                      <a:pPr algn="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234437"/>
                  </a:ext>
                </a:extLst>
              </a:tr>
              <a:tr h="229181">
                <a:tc>
                  <a:txBody>
                    <a:bodyPr/>
                    <a:lstStyle/>
                    <a:p>
                      <a:pPr algn="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608294"/>
                  </a:ext>
                </a:extLst>
              </a:tr>
              <a:tr h="22918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… …   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897430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46294"/>
                  </a:ext>
                </a:extLst>
              </a:tr>
            </a:tbl>
          </a:graphicData>
        </a:graphic>
      </p:graphicFrame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2FE939F-9E23-4E83-8015-F053C712E6D6}"/>
              </a:ext>
            </a:extLst>
          </p:cNvPr>
          <p:cNvCxnSpPr>
            <a:cxnSpLocks/>
          </p:cNvCxnSpPr>
          <p:nvPr/>
        </p:nvCxnSpPr>
        <p:spPr>
          <a:xfrm>
            <a:off x="9655627" y="1463806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602113A-3D9C-4A4A-87CE-31C517C4069B}"/>
              </a:ext>
            </a:extLst>
          </p:cNvPr>
          <p:cNvCxnSpPr>
            <a:cxnSpLocks/>
          </p:cNvCxnSpPr>
          <p:nvPr/>
        </p:nvCxnSpPr>
        <p:spPr>
          <a:xfrm>
            <a:off x="9655626" y="1768610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A1354BB-B1A5-43DE-9328-CFD8A477C0C1}"/>
              </a:ext>
            </a:extLst>
          </p:cNvPr>
          <p:cNvCxnSpPr>
            <a:cxnSpLocks/>
          </p:cNvCxnSpPr>
          <p:nvPr/>
        </p:nvCxnSpPr>
        <p:spPr>
          <a:xfrm>
            <a:off x="9666516" y="2160493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4409F8B-60F4-4E94-ABCE-DA27E1B8C477}"/>
              </a:ext>
            </a:extLst>
          </p:cNvPr>
          <p:cNvCxnSpPr>
            <a:cxnSpLocks/>
          </p:cNvCxnSpPr>
          <p:nvPr/>
        </p:nvCxnSpPr>
        <p:spPr>
          <a:xfrm>
            <a:off x="9666515" y="2465297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A7C9CFB-F562-46D7-A427-6D92DD2A13FB}"/>
              </a:ext>
            </a:extLst>
          </p:cNvPr>
          <p:cNvCxnSpPr>
            <a:cxnSpLocks/>
          </p:cNvCxnSpPr>
          <p:nvPr/>
        </p:nvCxnSpPr>
        <p:spPr>
          <a:xfrm>
            <a:off x="9633858" y="3934861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1066381-A0BF-41F2-802C-9100F9F6F47E}"/>
              </a:ext>
            </a:extLst>
          </p:cNvPr>
          <p:cNvCxnSpPr>
            <a:cxnSpLocks/>
          </p:cNvCxnSpPr>
          <p:nvPr/>
        </p:nvCxnSpPr>
        <p:spPr>
          <a:xfrm>
            <a:off x="9633857" y="4239665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33CA6CF-D055-4DB3-BC23-905C7B3D257A}"/>
              </a:ext>
            </a:extLst>
          </p:cNvPr>
          <p:cNvSpPr txBox="1"/>
          <p:nvPr/>
        </p:nvSpPr>
        <p:spPr>
          <a:xfrm>
            <a:off x="9978814" y="1332162"/>
            <a:ext cx="470887" cy="681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</a:p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C5A86C1-8097-465B-B351-E22ECE06858F}"/>
              </a:ext>
            </a:extLst>
          </p:cNvPr>
          <p:cNvSpPr txBox="1"/>
          <p:nvPr/>
        </p:nvSpPr>
        <p:spPr>
          <a:xfrm>
            <a:off x="6958703" y="1383766"/>
            <a:ext cx="1642372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[0]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9E6720A-79F0-4278-A2FB-231E504C0955}"/>
              </a:ext>
            </a:extLst>
          </p:cNvPr>
          <p:cNvSpPr txBox="1"/>
          <p:nvPr/>
        </p:nvSpPr>
        <p:spPr>
          <a:xfrm>
            <a:off x="6969587" y="2134880"/>
            <a:ext cx="1642372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[1]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9BD2AE-EF97-4D40-BF9D-5AE18D576E59}"/>
              </a:ext>
            </a:extLst>
          </p:cNvPr>
          <p:cNvSpPr txBox="1"/>
          <p:nvPr/>
        </p:nvSpPr>
        <p:spPr>
          <a:xfrm>
            <a:off x="6875447" y="3921934"/>
            <a:ext cx="1710008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[31]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graphicFrame>
        <p:nvGraphicFramePr>
          <p:cNvPr id="5" name="表格 19">
            <a:extLst>
              <a:ext uri="{FF2B5EF4-FFF2-40B4-BE49-F238E27FC236}">
                <a16:creationId xmlns:a16="http://schemas.microsoft.com/office/drawing/2014/main" id="{C257A468-E337-4619-B890-20C1BCFD5F14}"/>
              </a:ext>
            </a:extLst>
          </p:cNvPr>
          <p:cNvGraphicFramePr>
            <a:graphicFrameLocks noGrp="1"/>
          </p:cNvGraphicFramePr>
          <p:nvPr/>
        </p:nvGraphicFramePr>
        <p:xfrm>
          <a:off x="2110215" y="4673048"/>
          <a:ext cx="684872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181">
                  <a:extLst>
                    <a:ext uri="{9D8B030D-6E8A-4147-A177-3AD203B41FA5}">
                      <a16:colId xmlns:a16="http://schemas.microsoft.com/office/drawing/2014/main" val="3545332923"/>
                    </a:ext>
                  </a:extLst>
                </a:gridCol>
                <a:gridCol w="1712181">
                  <a:extLst>
                    <a:ext uri="{9D8B030D-6E8A-4147-A177-3AD203B41FA5}">
                      <a16:colId xmlns:a16="http://schemas.microsoft.com/office/drawing/2014/main" val="2657926666"/>
                    </a:ext>
                  </a:extLst>
                </a:gridCol>
                <a:gridCol w="1712181">
                  <a:extLst>
                    <a:ext uri="{9D8B030D-6E8A-4147-A177-3AD203B41FA5}">
                      <a16:colId xmlns:a16="http://schemas.microsoft.com/office/drawing/2014/main" val="237098463"/>
                    </a:ext>
                  </a:extLst>
                </a:gridCol>
                <a:gridCol w="1712181">
                  <a:extLst>
                    <a:ext uri="{9D8B030D-6E8A-4147-A177-3AD203B41FA5}">
                      <a16:colId xmlns:a16="http://schemas.microsoft.com/office/drawing/2014/main" val="2022267327"/>
                    </a:ext>
                  </a:extLst>
                </a:gridCol>
              </a:tblGrid>
              <a:tr h="31273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……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… …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673279"/>
                  </a:ext>
                </a:extLst>
              </a:tr>
              <a:tr h="31273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9105615"/>
                  </a:ext>
                </a:extLst>
              </a:tr>
              <a:tr h="31273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2009821"/>
                  </a:ext>
                </a:extLst>
              </a:tr>
            </a:tbl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3AAC6CB5-65EE-4688-AF1E-36D12F90F362}"/>
              </a:ext>
            </a:extLst>
          </p:cNvPr>
          <p:cNvSpPr txBox="1"/>
          <p:nvPr/>
        </p:nvSpPr>
        <p:spPr>
          <a:xfrm>
            <a:off x="8388777" y="708452"/>
            <a:ext cx="2098247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3200" b="1" dirty="0">
                <a:solidFill>
                  <a:schemeClr val="accent1"/>
                </a:solidFill>
              </a:rPr>
              <a:t>就绪</a:t>
            </a:r>
            <a:r>
              <a:rPr lang="zh-CN" altLang="en-US" sz="3200" b="1" dirty="0">
                <a:solidFill>
                  <a:srgbClr val="FF0000"/>
                </a:solidFill>
              </a:rPr>
              <a:t>列</a:t>
            </a:r>
            <a:r>
              <a:rPr lang="zh-CN" altLang="en-US" sz="3200" b="1" dirty="0">
                <a:solidFill>
                  <a:schemeClr val="accent1"/>
                </a:solidFill>
              </a:rPr>
              <a:t>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3CEE1E1-6A1A-4F33-AAB4-73561276EF6D}"/>
              </a:ext>
            </a:extLst>
          </p:cNvPr>
          <p:cNvSpPr txBox="1"/>
          <p:nvPr/>
        </p:nvSpPr>
        <p:spPr>
          <a:xfrm>
            <a:off x="2510516" y="4067218"/>
            <a:ext cx="4219575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3200" b="1" dirty="0">
                <a:solidFill>
                  <a:schemeClr val="accent1"/>
                </a:solidFill>
              </a:rPr>
              <a:t>就绪</a:t>
            </a:r>
            <a:r>
              <a:rPr lang="zh-CN" altLang="en-US" sz="3200" b="1" dirty="0">
                <a:solidFill>
                  <a:srgbClr val="FF0000"/>
                </a:solidFill>
              </a:rPr>
              <a:t>位</a:t>
            </a:r>
            <a:r>
              <a:rPr lang="zh-CN" altLang="en-US" sz="3200" b="1" dirty="0">
                <a:solidFill>
                  <a:schemeClr val="accent1"/>
                </a:solidFill>
              </a:rPr>
              <a:t>表</a:t>
            </a:r>
            <a:r>
              <a:rPr lang="zh-CN" altLang="en-US" sz="32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（优先级表）</a:t>
            </a:r>
            <a:endParaRPr lang="zh-CN" altLang="en-US" sz="3200" b="1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631B216-838B-4825-B2C1-7CF0B2374B40}"/>
              </a:ext>
            </a:extLst>
          </p:cNvPr>
          <p:cNvSpPr txBox="1"/>
          <p:nvPr/>
        </p:nvSpPr>
        <p:spPr>
          <a:xfrm>
            <a:off x="424541" y="4657618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dirty="0" err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OSPrioTbl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800" b="1" i="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974D81-686B-4162-B7D8-6A4D61DA637B}"/>
              </a:ext>
            </a:extLst>
          </p:cNvPr>
          <p:cNvSpPr txBox="1"/>
          <p:nvPr/>
        </p:nvSpPr>
        <p:spPr>
          <a:xfrm>
            <a:off x="443650" y="5042380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dirty="0" err="1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OSPrioTbl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800" b="1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7EB1D9F-2228-4D8B-B867-D8641884A551}"/>
              </a:ext>
            </a:extLst>
          </p:cNvPr>
          <p:cNvSpPr txBox="1"/>
          <p:nvPr/>
        </p:nvSpPr>
        <p:spPr>
          <a:xfrm>
            <a:off x="442295" y="5474391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dirty="0" err="1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OSPrioTbl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800" b="1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800" b="0" i="0" dirty="0">
                <a:solidFill>
                  <a:schemeClr val="bg1">
                    <a:lumMod val="6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1" name="表格 21">
            <a:extLst>
              <a:ext uri="{FF2B5EF4-FFF2-40B4-BE49-F238E27FC236}">
                <a16:creationId xmlns:a16="http://schemas.microsoft.com/office/drawing/2014/main" id="{A774062C-B611-4548-90F3-A815440A0ED4}"/>
              </a:ext>
            </a:extLst>
          </p:cNvPr>
          <p:cNvGraphicFramePr>
            <a:graphicFrameLocks noGrp="1"/>
          </p:cNvGraphicFramePr>
          <p:nvPr/>
        </p:nvGraphicFramePr>
        <p:xfrm>
          <a:off x="2110215" y="4665333"/>
          <a:ext cx="1733552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694">
                  <a:extLst>
                    <a:ext uri="{9D8B030D-6E8A-4147-A177-3AD203B41FA5}">
                      <a16:colId xmlns:a16="http://schemas.microsoft.com/office/drawing/2014/main" val="425815149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88316916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3014721406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50444181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395659122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84242226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98868917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587181508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603363"/>
                  </a:ext>
                </a:extLst>
              </a:tr>
            </a:tbl>
          </a:graphicData>
        </a:graphic>
      </p:graphicFrame>
      <p:graphicFrame>
        <p:nvGraphicFramePr>
          <p:cNvPr id="30" name="表格 21">
            <a:extLst>
              <a:ext uri="{FF2B5EF4-FFF2-40B4-BE49-F238E27FC236}">
                <a16:creationId xmlns:a16="http://schemas.microsoft.com/office/drawing/2014/main" id="{B1787E8A-5584-415C-9F16-074BB789DE57}"/>
              </a:ext>
            </a:extLst>
          </p:cNvPr>
          <p:cNvGraphicFramePr>
            <a:graphicFrameLocks noGrp="1"/>
          </p:cNvGraphicFramePr>
          <p:nvPr/>
        </p:nvGraphicFramePr>
        <p:xfrm>
          <a:off x="7225387" y="4677536"/>
          <a:ext cx="1733552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694">
                  <a:extLst>
                    <a:ext uri="{9D8B030D-6E8A-4147-A177-3AD203B41FA5}">
                      <a16:colId xmlns:a16="http://schemas.microsoft.com/office/drawing/2014/main" val="425815149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88316916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3014721406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50444181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395659122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842422261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2988689178"/>
                    </a:ext>
                  </a:extLst>
                </a:gridCol>
                <a:gridCol w="216694">
                  <a:extLst>
                    <a:ext uri="{9D8B030D-6E8A-4147-A177-3AD203B41FA5}">
                      <a16:colId xmlns:a16="http://schemas.microsoft.com/office/drawing/2014/main" val="1587181508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603363"/>
                  </a:ext>
                </a:extLst>
              </a:tr>
            </a:tbl>
          </a:graphicData>
        </a:graphic>
      </p:graphicFrame>
      <p:sp>
        <p:nvSpPr>
          <p:cNvPr id="29" name="矩形 28">
            <a:extLst>
              <a:ext uri="{FF2B5EF4-FFF2-40B4-BE49-F238E27FC236}">
                <a16:creationId xmlns:a16="http://schemas.microsoft.com/office/drawing/2014/main" id="{0B381621-12BE-42B5-8976-B6E9FE85565B}"/>
              </a:ext>
            </a:extLst>
          </p:cNvPr>
          <p:cNvSpPr/>
          <p:nvPr/>
        </p:nvSpPr>
        <p:spPr>
          <a:xfrm>
            <a:off x="10126513" y="2079460"/>
            <a:ext cx="1718538" cy="4511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700" b="1" dirty="0">
                <a:solidFill>
                  <a:srgbClr val="FF0000"/>
                </a:solidFill>
              </a:rPr>
              <a:t>task1</a:t>
            </a:r>
          </a:p>
          <a:p>
            <a:pPr algn="ctr"/>
            <a:r>
              <a:rPr lang="zh-CN" altLang="en-US" sz="1700" b="1" dirty="0">
                <a:solidFill>
                  <a:srgbClr val="FF0000"/>
                </a:solidFill>
              </a:rPr>
              <a:t>任务控制块</a:t>
            </a:r>
            <a:endParaRPr lang="en-US" altLang="zh-CN" sz="1700" b="1" dirty="0">
              <a:solidFill>
                <a:srgbClr val="FF0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D0FF278-854F-4851-AE7B-7C6BC4897B93}"/>
              </a:ext>
            </a:extLst>
          </p:cNvPr>
          <p:cNvSpPr txBox="1"/>
          <p:nvPr/>
        </p:nvSpPr>
        <p:spPr>
          <a:xfrm>
            <a:off x="6969587" y="2702462"/>
            <a:ext cx="1642372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[2]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D165A4D-B097-4607-8C5B-AD2EAD586A18}"/>
              </a:ext>
            </a:extLst>
          </p:cNvPr>
          <p:cNvSpPr txBox="1"/>
          <p:nvPr/>
        </p:nvSpPr>
        <p:spPr>
          <a:xfrm>
            <a:off x="6969587" y="3018863"/>
            <a:ext cx="1642372" cy="38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[3]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53E0124-E2F5-473E-8B93-7608C04F4EDE}"/>
              </a:ext>
            </a:extLst>
          </p:cNvPr>
          <p:cNvCxnSpPr>
            <a:cxnSpLocks/>
          </p:cNvCxnSpPr>
          <p:nvPr/>
        </p:nvCxnSpPr>
        <p:spPr>
          <a:xfrm>
            <a:off x="9655629" y="2726553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DDBAEE7-4EC5-4DAB-B10C-E5AAFD52352F}"/>
              </a:ext>
            </a:extLst>
          </p:cNvPr>
          <p:cNvCxnSpPr>
            <a:cxnSpLocks/>
          </p:cNvCxnSpPr>
          <p:nvPr/>
        </p:nvCxnSpPr>
        <p:spPr>
          <a:xfrm>
            <a:off x="9644742" y="2911611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D4A8BC32-93BB-47AE-9A1D-BC16B9DF0A2A}"/>
              </a:ext>
            </a:extLst>
          </p:cNvPr>
          <p:cNvSpPr/>
          <p:nvPr/>
        </p:nvSpPr>
        <p:spPr>
          <a:xfrm>
            <a:off x="10137402" y="2611646"/>
            <a:ext cx="1718538" cy="3954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ts val="1920"/>
              </a:lnSpc>
            </a:pPr>
            <a:r>
              <a:rPr lang="en-US" altLang="zh-CN" sz="1600" b="1" dirty="0">
                <a:solidFill>
                  <a:srgbClr val="0070C0"/>
                </a:solidFill>
              </a:rPr>
              <a:t>task2</a:t>
            </a:r>
          </a:p>
          <a:p>
            <a:pPr algn="ctr">
              <a:lnSpc>
                <a:spcPts val="1920"/>
              </a:lnSpc>
            </a:pPr>
            <a:r>
              <a:rPr lang="zh-CN" altLang="en-US" sz="1600" b="1" dirty="0">
                <a:solidFill>
                  <a:srgbClr val="0070C0"/>
                </a:solidFill>
              </a:rPr>
              <a:t>任务控制块</a:t>
            </a:r>
            <a:endParaRPr lang="en-US" altLang="zh-CN" sz="1600" b="1" dirty="0">
              <a:solidFill>
                <a:srgbClr val="0070C0"/>
              </a:solidFill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9A7DBBD-8065-4C22-99A7-A125E8F156E0}"/>
              </a:ext>
            </a:extLst>
          </p:cNvPr>
          <p:cNvCxnSpPr>
            <a:cxnSpLocks/>
          </p:cNvCxnSpPr>
          <p:nvPr/>
        </p:nvCxnSpPr>
        <p:spPr>
          <a:xfrm>
            <a:off x="9622972" y="3151094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6070D217-4E3E-405B-8B23-E149E401A4CB}"/>
              </a:ext>
            </a:extLst>
          </p:cNvPr>
          <p:cNvCxnSpPr>
            <a:cxnSpLocks/>
          </p:cNvCxnSpPr>
          <p:nvPr/>
        </p:nvCxnSpPr>
        <p:spPr>
          <a:xfrm>
            <a:off x="9612085" y="3336152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C0647CB6-89AD-4AD4-9397-476881D9D934}"/>
              </a:ext>
            </a:extLst>
          </p:cNvPr>
          <p:cNvSpPr/>
          <p:nvPr/>
        </p:nvSpPr>
        <p:spPr>
          <a:xfrm>
            <a:off x="10104745" y="3036187"/>
            <a:ext cx="1718538" cy="3954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ts val="1920"/>
              </a:lnSpc>
            </a:pPr>
            <a:r>
              <a:rPr lang="en-US" altLang="zh-CN" sz="1600" b="1" dirty="0">
                <a:solidFill>
                  <a:srgbClr val="0070C0"/>
                </a:solidFill>
              </a:rPr>
              <a:t>task3</a:t>
            </a:r>
          </a:p>
          <a:p>
            <a:pPr algn="ctr">
              <a:lnSpc>
                <a:spcPts val="1920"/>
              </a:lnSpc>
            </a:pPr>
            <a:r>
              <a:rPr lang="zh-CN" altLang="en-US" sz="1600" b="1" dirty="0">
                <a:solidFill>
                  <a:srgbClr val="0070C0"/>
                </a:solidFill>
              </a:rPr>
              <a:t>任务控制块</a:t>
            </a:r>
            <a:endParaRPr lang="en-US" altLang="zh-CN" sz="1600" b="1" dirty="0">
              <a:solidFill>
                <a:srgbClr val="0070C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64B0205-21AD-431D-BB4B-70191925F2A9}"/>
              </a:ext>
            </a:extLst>
          </p:cNvPr>
          <p:cNvSpPr txBox="1"/>
          <p:nvPr/>
        </p:nvSpPr>
        <p:spPr>
          <a:xfrm>
            <a:off x="2758713" y="1552479"/>
            <a:ext cx="2775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 err="1">
                <a:solidFill>
                  <a:srgbClr val="FF0000"/>
                </a:solidFill>
                <a:effectLst/>
                <a:latin typeface="+mn-ea"/>
              </a:rPr>
              <a:t>TaskDelayTicks</a:t>
            </a:r>
            <a:r>
              <a:rPr lang="en-US" altLang="zh-CN" sz="2400" b="1" i="0" dirty="0">
                <a:solidFill>
                  <a:srgbClr val="FF0000"/>
                </a:solidFill>
                <a:effectLst/>
                <a:latin typeface="+mn-ea"/>
              </a:rPr>
              <a:t> --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F28D83E-5E5F-45BD-8948-BF3AEEF0D517}"/>
              </a:ext>
            </a:extLst>
          </p:cNvPr>
          <p:cNvCxnSpPr>
            <a:cxnSpLocks/>
            <a:stCxn id="29" idx="1"/>
            <a:endCxn id="39" idx="3"/>
          </p:cNvCxnSpPr>
          <p:nvPr/>
        </p:nvCxnSpPr>
        <p:spPr>
          <a:xfrm flipH="1" flipV="1">
            <a:off x="5534577" y="1783312"/>
            <a:ext cx="4591936" cy="5217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87451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26083</TotalTime>
  <Words>2699</Words>
  <Application>Microsoft Office PowerPoint</Application>
  <PresentationFormat>宽屏</PresentationFormat>
  <Paragraphs>449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PJMWDW+STZhongsong,Bold</vt:lpstr>
      <vt:lpstr>等线</vt:lpstr>
      <vt:lpstr>等线 Light</vt:lpstr>
      <vt:lpstr>黑体</vt:lpstr>
      <vt:lpstr>宋体</vt:lpstr>
      <vt:lpstr>Arial</vt:lpstr>
      <vt:lpstr>Calibri</vt:lpstr>
      <vt:lpstr>Courier New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thinkpad</dc:creator>
  <cp:lastModifiedBy>thinkpad</cp:lastModifiedBy>
  <cp:revision>305</cp:revision>
  <dcterms:created xsi:type="dcterms:W3CDTF">2020-11-10T10:12:45Z</dcterms:created>
  <dcterms:modified xsi:type="dcterms:W3CDTF">2021-11-04T07:15:29Z</dcterms:modified>
</cp:coreProperties>
</file>