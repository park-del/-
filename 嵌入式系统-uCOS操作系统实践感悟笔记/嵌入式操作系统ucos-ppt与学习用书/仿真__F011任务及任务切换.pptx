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2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3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4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69" r:id="rId3"/>
    <p:sldId id="296" r:id="rId4"/>
    <p:sldId id="490" r:id="rId5"/>
    <p:sldId id="489" r:id="rId6"/>
    <p:sldId id="472" r:id="rId7"/>
    <p:sldId id="491" r:id="rId8"/>
    <p:sldId id="474" r:id="rId9"/>
    <p:sldId id="477" r:id="rId10"/>
    <p:sldId id="478" r:id="rId11"/>
    <p:sldId id="479" r:id="rId12"/>
    <p:sldId id="480" r:id="rId13"/>
    <p:sldId id="482" r:id="rId14"/>
    <p:sldId id="492" r:id="rId15"/>
    <p:sldId id="493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826" autoAdjust="0"/>
  </p:normalViewPr>
  <p:slideViewPr>
    <p:cSldViewPr snapToGrid="0">
      <p:cViewPr varScale="1">
        <p:scale>
          <a:sx n="67" d="100"/>
          <a:sy n="67" d="100"/>
        </p:scale>
        <p:origin x="4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BE16AB-453D-4224-B0C8-022441C300AE}" type="datetimeFigureOut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0172AF-2797-4AC5-BC52-C6EAF0479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0218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68935" indent="-356870">
              <a:lnSpc>
                <a:spcPct val="100000"/>
              </a:lnSpc>
              <a:spcBef>
                <a:spcPts val="795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68935" algn="l"/>
                <a:tab pos="369570" algn="l"/>
              </a:tabLst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相比前后台系统，多任务系统的事件响应也是在中断中完成的，但是事件的处理是在任务中完成的。</a:t>
            </a:r>
            <a:endParaRPr lang="en-US" altLang="zh-CN" sz="1200" b="0" i="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68935" indent="-356870">
              <a:lnSpc>
                <a:spcPct val="100000"/>
              </a:lnSpc>
              <a:spcBef>
                <a:spcPts val="795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68935" algn="l"/>
                <a:tab pos="369570" algn="l"/>
              </a:tabLst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在多任务系统中，任务跟中断一样，也具有优先级，优先级高的任务会被优先执行。当一个紧急的事件在中断被标记之后，如果事件对应的任务的优先级足够高，就会立马得到响应。</a:t>
            </a:r>
            <a:endParaRPr lang="en-US" altLang="zh-CN" sz="1200" b="0" i="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68935" indent="-356870">
              <a:lnSpc>
                <a:spcPct val="100000"/>
              </a:lnSpc>
              <a:spcBef>
                <a:spcPts val="795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68935" algn="l"/>
                <a:tab pos="369570" algn="l"/>
              </a:tabLst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相比前后台系统，多任务系统的实时性又被提高了。</a:t>
            </a:r>
            <a:r>
              <a:rPr lang="zh-CN" altLang="en-US" sz="1200" dirty="0"/>
              <a:t> </a:t>
            </a:r>
            <a:endParaRPr lang="zh-CN" altLang="en-US" sz="1200" dirty="0">
              <a:latin typeface="Noto Sans CJK JP Black"/>
              <a:cs typeface="Noto Sans CJK JP Black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172AF-2797-4AC5-BC52-C6EAF0479E6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8843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172AF-2797-4AC5-BC52-C6EAF0479E6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35083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以大小的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OS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开</a:t>
            </a:r>
            <a:b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头，表示这是一个外部函数，可以由用户调用，以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OS_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开头的函数表示内部函数，只能由</a:t>
            </a:r>
            <a:b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uC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/OS-III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内部使用。紧接着是文件名，表示该函数放在哪个文件，最后是函数功能名称。</a:t>
            </a:r>
            <a:r>
              <a:rPr lang="zh-CN" altLang="en-US" dirty="0"/>
              <a:t>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172AF-2797-4AC5-BC52-C6EAF0479E6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323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0172AF-2797-4AC5-BC52-C6EAF0479E6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8604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FE94BA-B1A5-4ECC-B5B1-7FA78BEB86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7C39ADC-A550-4C3A-9AC2-CD52986979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DE12A6-846E-4071-AF36-F41D6CA10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28A229-06B4-4B51-88D1-1B59AD70E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851AAF-C4B9-4089-BDE8-07E932C81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830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815887-0E71-4103-85FD-8CDEE6F79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A2D7BF-D5A3-4694-8B87-0634500A2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2509E3-02EC-43D1-A1B8-7B546BC93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4BC617-4219-4B83-9A20-F3DB62BD0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15B740-6237-411D-B16D-742A66FBE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588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2AFA55-CE45-4512-9368-A6199B14A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094D45-4159-4800-8A5E-0A21E879C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15BC78-3D5C-4753-85AB-AF1434D27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9A96B6-B0E7-4F0E-AF0E-71E5D5253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6AF7A6-99C6-4C37-85D4-BFFF5C61E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869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98CA99-0307-44C6-8912-C7B500A2C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F5FF9F-2171-42F4-B8E1-E8688D4674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6040E7-974C-4556-8607-9775821A3F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B3FCB9-DD73-4B34-B330-D284702D8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F0194C-E502-4422-9D66-20ABF9DE1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B1A57C-9419-44C5-BA41-FE16C527D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7971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CC895A-2473-4092-B69C-61F607724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75E70D-9DBD-45FE-A8B7-5FFEE4338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3AE356-1D1C-49C8-BEF0-C645975F6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AF17F7B-9C33-480A-8884-6FE5E0C98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A31C870-79FD-4E9D-8CDC-FA5D4817C6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9B89B77-A81C-42DF-914F-8FDD7D120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EAA62C2-D794-4B33-98AB-1F6DD0484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001910E-B6BD-4213-81C5-70758008C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9256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08B822-43CE-49A6-894B-E6B591B9A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BE7D564-3E82-4F36-AEC0-EDF6E1CB2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E137A6B-A81E-42F5-86F5-63A4982E0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69ACE2D-6646-4A79-9062-02105E5F4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0667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A86B471-DBF8-41B0-8E8C-0CBF19EA5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4ADD16E-EC43-467B-9050-3BDC131FE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2C1FA3-91EF-46AC-A53F-0D3674274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933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C0E30B-7D98-4AE2-B249-3FE96362E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0A669B-ED10-4783-BFDA-296C57AE0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42F041B-38EB-4AD2-9E05-F0488AD087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175CAA6-8A71-4480-80D8-768C76AE3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DC111A-5A19-4A5B-897F-41D6D8A7B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852CB8-82CD-4492-A4B0-5A0EEDCBB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905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CB64D3-0394-4B6F-8374-E4F4DAFD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42427DC-FFCA-4E6B-91BD-13B9FB8BDE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DAC41D-6B44-4CE6-B772-2C1771BAF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61D53A6-17FE-4B06-B5C5-135600F8B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80E9588-B72D-4BC2-94C9-8986B162D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426FB7-51EB-4949-8A04-72ED55541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6014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72EAD3-DF79-41FB-A297-A00031B6B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52B2B1D-96BC-49C3-B3D5-351185CC60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02ABE4-6BBC-4A33-A377-1C063C60D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98C02D-408C-47CD-8C87-096FE1B12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4A4163-6869-4E1B-9FC8-8C8790CCD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072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7A9FBDB-9CC0-4519-8950-41B7804B26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6DB50AE-74FB-490C-84D9-F44BBB8305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6DFA88-3356-49A3-836C-A3EAE7F89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61C6CE-5C25-4ECA-8B82-2D95BD664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EFA314-0F46-442C-8459-6D27604FB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634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>
          <a:xfrm>
            <a:off x="430593" y="388197"/>
            <a:ext cx="7750680" cy="1552789"/>
          </a:xfrm>
        </p:spPr>
        <p:txBody>
          <a:bodyPr/>
          <a:lstStyle/>
          <a:p>
            <a:r>
              <a:rPr lang="en-US" noProof="0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>
          <a:xfrm>
            <a:off x="430593" y="2232135"/>
            <a:ext cx="7750680" cy="6405257"/>
          </a:xfrm>
        </p:spPr>
        <p:txBody>
          <a:bodyPr/>
          <a:lstStyle/>
          <a:p>
            <a:pPr lvl="0"/>
            <a:r>
              <a:rPr lang="en-US" noProof="0"/>
              <a:t>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6EEFA144-0481-4318-8D44-693A3A85446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DC368E29-8D5C-4805-A101-CCE9E7B8C74A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076C65-A18F-4D86-AA5C-5DFE165BDEB2}" type="datetime1">
              <a:rPr lang="en-US" altLang="zh-CN"/>
              <a:pPr>
                <a:defRPr/>
              </a:pPr>
              <a:t>9/15/2021</a:t>
            </a:fld>
            <a:endParaRPr lang="en-US" altLang="zh-CN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7EDC50C4-792F-49EB-8F41-BF6AD4BD3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B33EAC-60A0-4066-A8AE-F5749B32B4F9}" type="slidenum">
              <a:rPr lang="ru-RU" altLang="zh-CN"/>
              <a:pPr>
                <a:defRPr/>
              </a:pPr>
              <a:t>‹#›</a:t>
            </a:fld>
            <a:endParaRPr lang="ru-RU" altLang="zh-CN"/>
          </a:p>
        </p:txBody>
      </p:sp>
    </p:spTree>
    <p:extLst>
      <p:ext uri="{BB962C8B-B14F-4D97-AF65-F5344CB8AC3E}">
        <p14:creationId xmlns:p14="http://schemas.microsoft.com/office/powerpoint/2010/main" val="302488895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47B8A8D-7041-4600-8ED4-E8D852B27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A41A4E-6C33-4B95-85CE-7A662C881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E41D24-F87E-4CAF-9B07-2656566D9C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B61CB-0CBA-48E8-BB71-4F28376232DC}" type="datetimeFigureOut">
              <a:rPr lang="zh-CN" altLang="en-US" smtClean="0"/>
              <a:t>2021/9/15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CEDF12-62C0-417B-A990-D58E52A790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E541EC-86EB-4794-8905-E87716B34D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14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2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5" Type="http://schemas.openxmlformats.org/officeDocument/2006/relationships/image" Target="../media/image3.jp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7" Type="http://schemas.openxmlformats.org/officeDocument/2006/relationships/image" Target="../media/image4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7" Type="http://schemas.openxmlformats.org/officeDocument/2006/relationships/image" Target="../media/image2.jpe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7" Type="http://schemas.openxmlformats.org/officeDocument/2006/relationships/image" Target="../media/image2.jpeg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7" Type="http://schemas.openxmlformats.org/officeDocument/2006/relationships/image" Target="../media/image2.jpeg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object 1">
            <a:extLst>
              <a:ext uri="{FF2B5EF4-FFF2-40B4-BE49-F238E27FC236}">
                <a16:creationId xmlns:a16="http://schemas.microsoft.com/office/drawing/2014/main" id="{4DF71452-0B77-4493-AB39-DD147C9E1B0F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8611" name="object 2">
            <a:extLst>
              <a:ext uri="{FF2B5EF4-FFF2-40B4-BE49-F238E27FC236}">
                <a16:creationId xmlns:a16="http://schemas.microsoft.com/office/drawing/2014/main" id="{09051FC2-CFFD-44F2-860D-9F04F04D63B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315526"/>
            <a:ext cx="7767118" cy="956662"/>
          </a:xfrm>
          <a:prstGeom prst="rect">
            <a:avLst/>
          </a:prstGeom>
          <a:blipFill dpi="0" rotWithShape="0">
            <a:blip r:embed="rId7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8612" name="object 4">
            <a:extLst>
              <a:ext uri="{FF2B5EF4-FFF2-40B4-BE49-F238E27FC236}">
                <a16:creationId xmlns:a16="http://schemas.microsoft.com/office/drawing/2014/main" id="{53C7D0FB-BB93-4D66-95AA-B8A0DFBE1CF3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769180" y="1499828"/>
            <a:ext cx="5886930" cy="1782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7215"/>
              </a:lnSpc>
            </a:pPr>
            <a:r>
              <a:rPr lang="zh-CN" altLang="zh-CN" sz="5446" b="1" dirty="0">
                <a:solidFill>
                  <a:srgbClr val="FF0000"/>
                </a:solidFill>
                <a:latin typeface="PJMWDW+STZhongsong,Bold" charset="-122"/>
                <a:ea typeface="PJMWDW+STZhongsong,Bold" charset="-122"/>
                <a:sym typeface="Wingdings" panose="05000000000000000000" pitchFamily="2" charset="2"/>
              </a:rPr>
              <a:t>嵌入式操作系统</a:t>
            </a:r>
            <a:endParaRPr lang="en-US" altLang="zh-CN" sz="5446" b="1" dirty="0">
              <a:solidFill>
                <a:srgbClr val="FF0000"/>
              </a:solidFill>
              <a:latin typeface="PJMWDW+STZhongsong,Bold" charset="-122"/>
              <a:ea typeface="PJMWDW+STZhongsong,Bold" charset="-122"/>
              <a:sym typeface="Wingdings" panose="05000000000000000000" pitchFamily="2" charset="2"/>
            </a:endParaRPr>
          </a:p>
          <a:p>
            <a:pPr>
              <a:lnSpc>
                <a:spcPts val="7215"/>
              </a:lnSpc>
            </a:pPr>
            <a:r>
              <a:rPr lang="en-US" altLang="zh-CN" sz="5446" b="1" dirty="0">
                <a:solidFill>
                  <a:srgbClr val="FF0000"/>
                </a:solidFill>
                <a:latin typeface="PJMWDW+STZhongsong,Bold" charset="-122"/>
                <a:ea typeface="PJMWDW+STZhongsong,Bold" charset="-122"/>
                <a:sym typeface="Wingdings" panose="05000000000000000000" pitchFamily="2" charset="2"/>
              </a:rPr>
              <a:t>         --</a:t>
            </a:r>
            <a:r>
              <a:rPr lang="zh-CN" altLang="en-US" sz="3993" b="1" dirty="0">
                <a:solidFill>
                  <a:srgbClr val="FF0000"/>
                </a:solidFill>
                <a:latin typeface="PJMWDW+STZhongsong,Bold" charset="-122"/>
                <a:ea typeface="PJMWDW+STZhongsong,Bold" charset="-122"/>
                <a:sym typeface="Wingdings" panose="05000000000000000000" pitchFamily="2" charset="2"/>
              </a:rPr>
              <a:t>逐步构建</a:t>
            </a:r>
            <a:endParaRPr lang="zh-CN" altLang="zh-CN" sz="3993" b="1" dirty="0">
              <a:solidFill>
                <a:srgbClr val="FF0000"/>
              </a:solidFill>
              <a:latin typeface="PJMWDW+STZhongsong,Bold" charset="-122"/>
              <a:ea typeface="PJMWDW+STZhongsong,Bold" charset="-122"/>
              <a:sym typeface="Wingdings" panose="05000000000000000000" pitchFamily="2" charset="2"/>
            </a:endParaRPr>
          </a:p>
        </p:txBody>
      </p:sp>
      <p:sp>
        <p:nvSpPr>
          <p:cNvPr id="68613" name="object 6">
            <a:extLst>
              <a:ext uri="{FF2B5EF4-FFF2-40B4-BE49-F238E27FC236}">
                <a16:creationId xmlns:a16="http://schemas.microsoft.com/office/drawing/2014/main" id="{2247452C-94B6-4525-8F7E-3C0AA3AF037B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677984" y="3559704"/>
            <a:ext cx="5398244" cy="858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7215"/>
              </a:lnSpc>
            </a:pPr>
            <a:r>
              <a:rPr lang="zh-CN" altLang="zh-CN" sz="5446" b="1" dirty="0">
                <a:solidFill>
                  <a:srgbClr val="000000"/>
                </a:solidFill>
                <a:latin typeface="PJMWDW+STZhongsong,Bold" charset="-122"/>
                <a:ea typeface="PJMWDW+STZhongsong,Bold" charset="-122"/>
                <a:sym typeface="Wingdings" panose="05000000000000000000" pitchFamily="2" charset="2"/>
              </a:rPr>
              <a:t>任务</a:t>
            </a:r>
            <a:r>
              <a:rPr lang="zh-CN" altLang="en-US" sz="5446" b="1" dirty="0">
                <a:solidFill>
                  <a:srgbClr val="000000"/>
                </a:solidFill>
                <a:latin typeface="PJMWDW+STZhongsong,Bold" charset="-122"/>
                <a:ea typeface="PJMWDW+STZhongsong,Bold" charset="-122"/>
                <a:sym typeface="Wingdings" panose="05000000000000000000" pitchFamily="2" charset="2"/>
              </a:rPr>
              <a:t>和任务切换</a:t>
            </a:r>
            <a:endParaRPr lang="zh-CN" altLang="zh-CN" sz="5446" b="1" dirty="0">
              <a:solidFill>
                <a:srgbClr val="000000"/>
              </a:solidFill>
              <a:latin typeface="PJMWDW+STZhongsong,Bold" charset="-122"/>
              <a:ea typeface="PJMWDW+STZhongsong,Bold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315526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24465" y="226763"/>
            <a:ext cx="7220913" cy="64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993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本章目标</a:t>
            </a:r>
            <a:endParaRPr lang="zh-CN" altLang="zh-CN" sz="3267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3751" y="1442389"/>
            <a:ext cx="8952860" cy="304698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z="32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本章是我们真正从从 </a:t>
            </a:r>
            <a:r>
              <a:rPr lang="en-US" altLang="zh-C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 </a:t>
            </a:r>
            <a:r>
              <a:rPr lang="zh-CN" altLang="en-US" sz="32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到 </a:t>
            </a:r>
            <a:r>
              <a:rPr lang="en-US" altLang="zh-C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 </a:t>
            </a:r>
            <a:r>
              <a:rPr lang="zh-CN" altLang="en-US" sz="32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写 </a:t>
            </a:r>
            <a:r>
              <a:rPr lang="en-US" altLang="zh-C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RTOS </a:t>
            </a:r>
            <a:r>
              <a:rPr lang="zh-CN" altLang="en-US" sz="32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的第一章， 属于基础中的基础</a:t>
            </a:r>
            <a:endParaRPr lang="en-US" altLang="zh-CN" sz="3200" b="0" i="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endParaRPr lang="en-US" altLang="zh-CN" sz="3200" b="0" i="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zh-CN" altLang="en-US" sz="32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怎样创建任务</a:t>
            </a:r>
            <a:endParaRPr lang="en-US" altLang="zh-CN" sz="3200" b="0" i="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zh-CN" altLang="en-US" sz="32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重点掌握任务是如何切换的</a:t>
            </a:r>
            <a:r>
              <a:rPr lang="zh-CN" altLang="en-US" sz="3200" dirty="0"/>
              <a:t> </a:t>
            </a:r>
            <a:br>
              <a:rPr lang="zh-CN" altLang="en-US" sz="3200" dirty="0"/>
            </a:br>
            <a:endParaRPr lang="en-US" altLang="zh-CN" sz="32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E2DE1512-E774-401B-817E-E0931C7AC732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01410" y="179500"/>
            <a:ext cx="7767118" cy="956662"/>
          </a:xfrm>
          <a:prstGeom prst="rect">
            <a:avLst/>
          </a:prstGeom>
          <a:blipFill dpi="0" rotWithShape="0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AB52AA79-693E-4D30-8923-F6E7C7B28DFA}"/>
              </a:ext>
            </a:extLst>
          </p:cNvPr>
          <p:cNvSpPr/>
          <p:nvPr/>
        </p:nvSpPr>
        <p:spPr>
          <a:xfrm>
            <a:off x="6629399" y="1714499"/>
            <a:ext cx="5321757" cy="39719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05050" y="308300"/>
            <a:ext cx="6534150" cy="652638"/>
          </a:xfrm>
          <a:prstGeom prst="rect">
            <a:avLst/>
          </a:prstGeom>
        </p:spPr>
        <p:txBody>
          <a:bodyPr vert="horz" wrap="square" lIns="0" tIns="10373" rIns="0" bIns="0" rtlCol="0" anchor="ctr">
            <a:spAutoFit/>
          </a:bodyPr>
          <a:lstStyle/>
          <a:p>
            <a:pPr>
              <a:lnSpc>
                <a:spcPts val="5287"/>
              </a:lnSpc>
              <a:spcBef>
                <a:spcPts val="82"/>
              </a:spcBef>
            </a:pPr>
            <a:r>
              <a:rPr lang="zh-CN" altLang="en-US" sz="3993" b="1" dirty="0">
                <a:solidFill>
                  <a:srgbClr val="33339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前后台系统  </a:t>
            </a:r>
            <a:r>
              <a:rPr lang="en-US" altLang="zh-CN" sz="3993" b="1" dirty="0">
                <a:solidFill>
                  <a:srgbClr val="33339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vs </a:t>
            </a:r>
            <a:r>
              <a:rPr lang="zh-CN" altLang="en-US" sz="3993" b="1" dirty="0">
                <a:solidFill>
                  <a:srgbClr val="33339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多任务系统 </a:t>
            </a:r>
            <a:endParaRPr sz="3993" b="1" dirty="0">
              <a:solidFill>
                <a:srgbClr val="333399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4697A82-1D59-42E5-A1E7-25E8277511BD}"/>
              </a:ext>
            </a:extLst>
          </p:cNvPr>
          <p:cNvSpPr txBox="1"/>
          <p:nvPr/>
        </p:nvSpPr>
        <p:spPr>
          <a:xfrm>
            <a:off x="438151" y="1590675"/>
            <a:ext cx="1613128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/>
              <a:t>low </a:t>
            </a:r>
            <a:r>
              <a:rPr lang="en-US" altLang="zh-CN" dirty="0" err="1"/>
              <a:t>prio</a:t>
            </a:r>
            <a:r>
              <a:rPr lang="en-US" altLang="zh-CN" dirty="0"/>
              <a:t>  task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E7E4F6C-DEA0-4D49-A2A7-32404296E74B}"/>
              </a:ext>
            </a:extLst>
          </p:cNvPr>
          <p:cNvSpPr txBox="1"/>
          <p:nvPr/>
        </p:nvSpPr>
        <p:spPr>
          <a:xfrm>
            <a:off x="438151" y="2892318"/>
            <a:ext cx="1613128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altLang="zh-CN" dirty="0"/>
          </a:p>
          <a:p>
            <a:r>
              <a:rPr lang="en-US" altLang="zh-CN" dirty="0"/>
              <a:t>low </a:t>
            </a:r>
            <a:r>
              <a:rPr lang="en-US" altLang="zh-CN" dirty="0" err="1"/>
              <a:t>prio</a:t>
            </a:r>
            <a:r>
              <a:rPr lang="en-US" altLang="zh-CN" dirty="0"/>
              <a:t>  task</a:t>
            </a:r>
          </a:p>
          <a:p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D749123-B718-4F2B-9213-3F9E9B16F50D}"/>
              </a:ext>
            </a:extLst>
          </p:cNvPr>
          <p:cNvSpPr txBox="1"/>
          <p:nvPr/>
        </p:nvSpPr>
        <p:spPr>
          <a:xfrm>
            <a:off x="2381442" y="3816827"/>
            <a:ext cx="1613128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/>
              <a:t>high </a:t>
            </a:r>
            <a:r>
              <a:rPr lang="en-US" altLang="zh-CN" dirty="0" err="1"/>
              <a:t>prio</a:t>
            </a:r>
            <a:r>
              <a:rPr lang="en-US" altLang="zh-CN" dirty="0"/>
              <a:t>  task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479E92D-B43C-4C1F-BA64-A2B544B72ABD}"/>
              </a:ext>
            </a:extLst>
          </p:cNvPr>
          <p:cNvSpPr txBox="1"/>
          <p:nvPr/>
        </p:nvSpPr>
        <p:spPr>
          <a:xfrm>
            <a:off x="4070962" y="1968988"/>
            <a:ext cx="1613128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r>
              <a:rPr lang="en-US" altLang="zh-CN" dirty="0"/>
              <a:t>     </a:t>
            </a:r>
            <a:r>
              <a:rPr lang="en-US" altLang="zh-CN" sz="2400" dirty="0"/>
              <a:t>ISR</a:t>
            </a:r>
            <a:endParaRPr lang="en-US" altLang="zh-CN" dirty="0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D9B2C632-7212-4F3A-8AF2-C3CF50E051B6}"/>
              </a:ext>
            </a:extLst>
          </p:cNvPr>
          <p:cNvCxnSpPr/>
          <p:nvPr/>
        </p:nvCxnSpPr>
        <p:spPr>
          <a:xfrm>
            <a:off x="2051279" y="1968988"/>
            <a:ext cx="2019683" cy="0"/>
          </a:xfrm>
          <a:prstGeom prst="straightConnector1">
            <a:avLst/>
          </a:prstGeom>
          <a:ln w="28575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21390291-4DD7-48ED-814D-72FA850CCA5D}"/>
              </a:ext>
            </a:extLst>
          </p:cNvPr>
          <p:cNvCxnSpPr/>
          <p:nvPr/>
        </p:nvCxnSpPr>
        <p:spPr>
          <a:xfrm>
            <a:off x="2051279" y="2880106"/>
            <a:ext cx="2019683" cy="0"/>
          </a:xfrm>
          <a:prstGeom prst="straightConnector1">
            <a:avLst/>
          </a:prstGeom>
          <a:ln w="28575">
            <a:headEnd type="triangle" w="med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315526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24465" y="226763"/>
            <a:ext cx="7220913" cy="618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267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工作目标</a:t>
            </a:r>
            <a:endParaRPr lang="zh-CN" altLang="zh-CN" sz="3267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156" y="1346692"/>
            <a:ext cx="10668010" cy="20621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z="32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创建两个任务，并让这两个任务不断地切换，任务的主体都是让一个变量按照一定的频率翻转，通过 </a:t>
            </a:r>
            <a:r>
              <a:rPr lang="en-US" altLang="zh-C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KEIL </a:t>
            </a:r>
            <a:r>
              <a:rPr lang="zh-CN" altLang="en-US" sz="32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的软件仿真功能，在逻辑分析仪中观察变量的波形变化，最终的波形图具体见图</a:t>
            </a:r>
            <a:r>
              <a:rPr lang="zh-CN" altLang="en-US" sz="3200" dirty="0"/>
              <a:t> </a:t>
            </a:r>
            <a:endParaRPr lang="en-US" altLang="zh-CN" sz="32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BDF0557-8117-4516-93B6-669E0D0D60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5399" y="3472665"/>
            <a:ext cx="10399664" cy="3169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00414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315526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24465" y="226763"/>
            <a:ext cx="7220913" cy="64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993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裸机程序</a:t>
            </a:r>
            <a:r>
              <a:rPr lang="en-US" altLang="zh-CN" sz="3993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—</a:t>
            </a:r>
            <a:r>
              <a:rPr lang="zh-CN" altLang="en-US" sz="3267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没有多任务管理</a:t>
            </a:r>
            <a:endParaRPr lang="zh-CN" altLang="zh-CN" sz="3267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570" y="910761"/>
            <a:ext cx="8952860" cy="59577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1815" dirty="0">
                <a:solidFill>
                  <a:srgbClr val="000000"/>
                </a:solidFill>
                <a:latin typeface="Courier New" panose="02070309020205020404" pitchFamily="49" charset="0"/>
              </a:rPr>
              <a:t>uint32_t flag1;</a:t>
            </a:r>
            <a:br>
              <a:rPr lang="en-US" altLang="zh-CN" sz="1815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zh-CN" sz="1815" dirty="0">
                <a:solidFill>
                  <a:srgbClr val="000000"/>
                </a:solidFill>
                <a:latin typeface="Courier New" panose="02070309020205020404" pitchFamily="49" charset="0"/>
              </a:rPr>
              <a:t>uint32_t flag2;</a:t>
            </a:r>
            <a:br>
              <a:rPr lang="en-US" altLang="zh-CN" sz="1815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zh-CN" sz="1815" b="1" dirty="0">
                <a:solidFill>
                  <a:srgbClr val="0070C0"/>
                </a:solidFill>
                <a:latin typeface="Courier New" panose="02070309020205020404" pitchFamily="49" charset="0"/>
              </a:rPr>
              <a:t>void delay( uint32_t count )</a:t>
            </a:r>
            <a:r>
              <a:rPr lang="en-US" altLang="zh-CN" sz="1815" dirty="0">
                <a:solidFill>
                  <a:srgbClr val="000000"/>
                </a:solidFill>
                <a:latin typeface="Courier New" panose="02070309020205020404" pitchFamily="49" charset="0"/>
              </a:rPr>
              <a:t> /* </a:t>
            </a:r>
            <a:r>
              <a:rPr lang="zh-CN" altLang="en-US" sz="1815" dirty="0">
                <a:solidFill>
                  <a:srgbClr val="000000"/>
                </a:solidFill>
                <a:latin typeface="Courier New" panose="02070309020205020404" pitchFamily="49" charset="0"/>
              </a:rPr>
              <a:t>软件延时，不必纠结具体的时间 *</a:t>
            </a:r>
            <a:r>
              <a:rPr lang="en-US" altLang="zh-CN" sz="1815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  <a:br>
              <a:rPr lang="en-US" altLang="zh-CN" sz="1815" b="1" dirty="0">
                <a:solidFill>
                  <a:srgbClr val="0070C0"/>
                </a:solidFill>
                <a:latin typeface="Courier New" panose="02070309020205020404" pitchFamily="49" charset="0"/>
              </a:rPr>
            </a:br>
            <a:r>
              <a:rPr lang="en-US" altLang="zh-CN" sz="1815" b="1" dirty="0">
                <a:solidFill>
                  <a:srgbClr val="0070C0"/>
                </a:solidFill>
                <a:latin typeface="Courier New" panose="02070309020205020404" pitchFamily="49" charset="0"/>
              </a:rPr>
              <a:t>{</a:t>
            </a:r>
            <a:br>
              <a:rPr lang="en-US" altLang="zh-CN" sz="1815" b="1" dirty="0">
                <a:solidFill>
                  <a:srgbClr val="0070C0"/>
                </a:solidFill>
                <a:latin typeface="Courier New" panose="02070309020205020404" pitchFamily="49" charset="0"/>
              </a:rPr>
            </a:br>
            <a:r>
              <a:rPr lang="en-US" altLang="zh-CN" sz="1815" b="1" dirty="0">
                <a:solidFill>
                  <a:srgbClr val="0070C0"/>
                </a:solidFill>
                <a:latin typeface="Courier New" panose="02070309020205020404" pitchFamily="49" charset="0"/>
              </a:rPr>
              <a:t>   for (; count!=0; count--);</a:t>
            </a:r>
          </a:p>
          <a:p>
            <a:pPr>
              <a:defRPr/>
            </a:pPr>
            <a:r>
              <a:rPr lang="en-US" altLang="zh-CN" sz="1815" b="1" dirty="0">
                <a:solidFill>
                  <a:srgbClr val="0070C0"/>
                </a:solidFill>
                <a:latin typeface="Courier New" panose="02070309020205020404" pitchFamily="49" charset="0"/>
              </a:rPr>
              <a:t>}</a:t>
            </a:r>
            <a:br>
              <a:rPr lang="en-US" altLang="zh-CN" sz="1815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zh-CN" sz="1815" dirty="0">
                <a:solidFill>
                  <a:srgbClr val="000000"/>
                </a:solidFill>
                <a:latin typeface="Courier New" panose="02070309020205020404" pitchFamily="49" charset="0"/>
              </a:rPr>
              <a:t>int main(void)</a:t>
            </a:r>
            <a:br>
              <a:rPr lang="en-US" altLang="zh-CN" sz="1815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zh-CN" sz="1815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  <a:br>
              <a:rPr lang="en-US" altLang="zh-CN" sz="1815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zh-CN" sz="1815" dirty="0">
                <a:solidFill>
                  <a:srgbClr val="000000"/>
                </a:solidFill>
                <a:latin typeface="Courier New" panose="02070309020205020404" pitchFamily="49" charset="0"/>
              </a:rPr>
              <a:t> 	/* </a:t>
            </a:r>
            <a:r>
              <a:rPr lang="zh-CN" altLang="en-US" sz="1815" dirty="0">
                <a:solidFill>
                  <a:srgbClr val="000000"/>
                </a:solidFill>
                <a:latin typeface="Courier New" panose="02070309020205020404" pitchFamily="49" charset="0"/>
              </a:rPr>
              <a:t>无限循环，顺序执行 *</a:t>
            </a:r>
            <a:r>
              <a:rPr lang="en-US" altLang="zh-CN" sz="1815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  <a:br>
              <a:rPr lang="en-US" altLang="zh-CN" sz="1815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zh-CN" sz="1815" dirty="0">
                <a:solidFill>
                  <a:srgbClr val="000000"/>
                </a:solidFill>
                <a:latin typeface="Courier New" panose="02070309020205020404" pitchFamily="49" charset="0"/>
              </a:rPr>
              <a:t>	for (;;) {</a:t>
            </a:r>
            <a:br>
              <a:rPr lang="en-US" altLang="zh-CN" sz="1815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zh-CN" sz="1815" dirty="0">
                <a:solidFill>
                  <a:srgbClr val="000000"/>
                </a:solidFill>
                <a:latin typeface="Courier New" panose="02070309020205020404" pitchFamily="49" charset="0"/>
              </a:rPr>
              <a:t> 		flag1 = 1;</a:t>
            </a:r>
            <a:br>
              <a:rPr lang="en-US" altLang="zh-CN" sz="1815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zh-CN" sz="1815" dirty="0">
                <a:solidFill>
                  <a:srgbClr val="000000"/>
                </a:solidFill>
                <a:latin typeface="Courier New" panose="02070309020205020404" pitchFamily="49" charset="0"/>
              </a:rPr>
              <a:t>		delay( 100 );</a:t>
            </a:r>
            <a:br>
              <a:rPr lang="en-US" altLang="zh-CN" sz="1815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zh-CN" sz="1815" dirty="0">
                <a:solidFill>
                  <a:srgbClr val="000000"/>
                </a:solidFill>
                <a:latin typeface="Courier New" panose="02070309020205020404" pitchFamily="49" charset="0"/>
              </a:rPr>
              <a:t> 		flag1 = 0;</a:t>
            </a:r>
            <a:br>
              <a:rPr lang="en-US" altLang="zh-CN" sz="1815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zh-CN" sz="1815" dirty="0">
                <a:solidFill>
                  <a:srgbClr val="000000"/>
                </a:solidFill>
                <a:latin typeface="Courier New" panose="02070309020205020404" pitchFamily="49" charset="0"/>
              </a:rPr>
              <a:t> 		delay( 100 );</a:t>
            </a:r>
            <a:br>
              <a:rPr lang="en-US" altLang="zh-CN" sz="1815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br>
              <a:rPr lang="en-US" altLang="zh-CN" sz="1815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zh-CN" sz="1815" dirty="0">
                <a:solidFill>
                  <a:srgbClr val="000000"/>
                </a:solidFill>
                <a:latin typeface="Courier New" panose="02070309020205020404" pitchFamily="49" charset="0"/>
              </a:rPr>
              <a:t> 		flag2 = 1;</a:t>
            </a:r>
            <a:br>
              <a:rPr lang="en-US" altLang="zh-CN" sz="1815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zh-CN" sz="1815" dirty="0">
                <a:solidFill>
                  <a:srgbClr val="000000"/>
                </a:solidFill>
                <a:latin typeface="Courier New" panose="02070309020205020404" pitchFamily="49" charset="0"/>
              </a:rPr>
              <a:t> 		delay( 100 );</a:t>
            </a:r>
            <a:br>
              <a:rPr lang="en-US" altLang="zh-CN" sz="1815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zh-CN" sz="1815" dirty="0">
                <a:solidFill>
                  <a:srgbClr val="000000"/>
                </a:solidFill>
                <a:latin typeface="Courier New" panose="02070309020205020404" pitchFamily="49" charset="0"/>
              </a:rPr>
              <a:t> 		flag2 = 0;</a:t>
            </a:r>
          </a:p>
          <a:p>
            <a:pPr>
              <a:defRPr/>
            </a:pPr>
            <a:r>
              <a:rPr lang="en-US" altLang="zh-CN" sz="1815" dirty="0">
                <a:solidFill>
                  <a:srgbClr val="000000"/>
                </a:solidFill>
                <a:latin typeface="Courier New" panose="02070309020205020404" pitchFamily="49" charset="0"/>
              </a:rPr>
              <a:t> 		delay( 100 ); </a:t>
            </a:r>
          </a:p>
          <a:p>
            <a:pPr>
              <a:defRPr/>
            </a:pPr>
            <a:r>
              <a:rPr lang="en-US" altLang="zh-CN" sz="1815" dirty="0">
                <a:solidFill>
                  <a:srgbClr val="000000"/>
                </a:solidFill>
                <a:latin typeface="Courier New" panose="02070309020205020404" pitchFamily="49" charset="0"/>
              </a:rPr>
              <a:t>  	}</a:t>
            </a:r>
            <a:br>
              <a:rPr lang="en-US" altLang="zh-CN" sz="1815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zh-CN" sz="1815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5FA3C1D-58B8-4E25-9B07-6D9C7E2F076D}"/>
              </a:ext>
            </a:extLst>
          </p:cNvPr>
          <p:cNvSpPr/>
          <p:nvPr/>
        </p:nvSpPr>
        <p:spPr>
          <a:xfrm>
            <a:off x="7206980" y="1729853"/>
            <a:ext cx="2744776" cy="1045629"/>
          </a:xfrm>
          <a:prstGeom prst="rect">
            <a:avLst/>
          </a:prstGeom>
          <a:solidFill>
            <a:srgbClr val="FA2812">
              <a:alpha val="5294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904" dirty="0"/>
              <a:t>cpu</a:t>
            </a:r>
          </a:p>
          <a:p>
            <a:pPr algn="ctr"/>
            <a:endParaRPr lang="en-US" altLang="zh-CN" sz="2904" dirty="0"/>
          </a:p>
          <a:p>
            <a:pPr algn="ctr"/>
            <a:endParaRPr lang="zh-CN" altLang="en-US" sz="1634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AA23C78-E721-44BB-B776-EDB7EA16BB0A}"/>
              </a:ext>
            </a:extLst>
          </p:cNvPr>
          <p:cNvSpPr/>
          <p:nvPr/>
        </p:nvSpPr>
        <p:spPr>
          <a:xfrm>
            <a:off x="7468388" y="2252668"/>
            <a:ext cx="2352665" cy="3921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178" b="1" dirty="0">
                <a:solidFill>
                  <a:schemeClr val="tx1"/>
                </a:solidFill>
              </a:rPr>
              <a:t>寄存器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C6326ED-82CE-4A28-8339-FB39DD8AAD7A}"/>
              </a:ext>
            </a:extLst>
          </p:cNvPr>
          <p:cNvSpPr/>
          <p:nvPr/>
        </p:nvSpPr>
        <p:spPr>
          <a:xfrm>
            <a:off x="6226704" y="3038309"/>
            <a:ext cx="3921108" cy="3855756"/>
          </a:xfrm>
          <a:prstGeom prst="rect">
            <a:avLst/>
          </a:prstGeom>
          <a:solidFill>
            <a:schemeClr val="accent1">
              <a:lumMod val="40000"/>
              <a:lumOff val="60000"/>
              <a:alpha val="5294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904" dirty="0">
                <a:solidFill>
                  <a:srgbClr val="FF0000"/>
                </a:solidFill>
              </a:rPr>
              <a:t>内存</a:t>
            </a:r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/>
          </a:p>
          <a:p>
            <a:pPr algn="ctr"/>
            <a:endParaRPr lang="zh-CN" altLang="en-US" sz="1634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79EEC78-FA37-44E5-80C3-06B3067C4C3D}"/>
              </a:ext>
            </a:extLst>
          </p:cNvPr>
          <p:cNvSpPr/>
          <p:nvPr/>
        </p:nvSpPr>
        <p:spPr>
          <a:xfrm>
            <a:off x="6488111" y="3558284"/>
            <a:ext cx="1829850" cy="26363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178" b="1" dirty="0">
                <a:solidFill>
                  <a:srgbClr val="00B050"/>
                </a:solidFill>
              </a:rPr>
              <a:t>void delay()</a:t>
            </a:r>
          </a:p>
          <a:p>
            <a:r>
              <a:rPr lang="en-US" altLang="zh-CN" sz="2178" b="1" dirty="0">
                <a:solidFill>
                  <a:srgbClr val="00B050"/>
                </a:solidFill>
              </a:rPr>
              <a:t>{    }</a:t>
            </a:r>
          </a:p>
          <a:p>
            <a:r>
              <a:rPr lang="en-US" altLang="zh-CN" sz="2178" b="1" dirty="0">
                <a:solidFill>
                  <a:schemeClr val="tx1"/>
                </a:solidFill>
              </a:rPr>
              <a:t>int main()</a:t>
            </a:r>
          </a:p>
          <a:p>
            <a:r>
              <a:rPr lang="en-US" altLang="zh-CN" sz="2178" b="1" dirty="0">
                <a:solidFill>
                  <a:schemeClr val="tx1"/>
                </a:solidFill>
              </a:rPr>
              <a:t>{</a:t>
            </a:r>
          </a:p>
          <a:p>
            <a:r>
              <a:rPr lang="en-US" altLang="zh-CN" sz="2178" b="1" dirty="0">
                <a:solidFill>
                  <a:schemeClr val="tx1"/>
                </a:solidFill>
              </a:rPr>
              <a:t>    …</a:t>
            </a:r>
          </a:p>
          <a:p>
            <a:r>
              <a:rPr lang="en-US" altLang="zh-CN" sz="2178" b="1" dirty="0">
                <a:solidFill>
                  <a:schemeClr val="tx1"/>
                </a:solidFill>
              </a:rPr>
              <a:t>    </a:t>
            </a:r>
            <a:r>
              <a:rPr lang="en-US" altLang="zh-CN" sz="2178" b="1" dirty="0">
                <a:solidFill>
                  <a:srgbClr val="00B050"/>
                </a:solidFill>
              </a:rPr>
              <a:t>delay();</a:t>
            </a:r>
          </a:p>
          <a:p>
            <a:r>
              <a:rPr lang="en-US" altLang="zh-CN" sz="2178" b="1" dirty="0">
                <a:solidFill>
                  <a:schemeClr val="tx1"/>
                </a:solidFill>
              </a:rPr>
              <a:t>    …</a:t>
            </a:r>
          </a:p>
          <a:p>
            <a:r>
              <a:rPr lang="en-US" altLang="zh-CN" sz="2178" b="1" dirty="0">
                <a:solidFill>
                  <a:schemeClr val="tx1"/>
                </a:solidFill>
              </a:rPr>
              <a:t>}</a:t>
            </a:r>
            <a:endParaRPr lang="zh-CN" altLang="en-US" sz="2178" b="1" dirty="0">
              <a:solidFill>
                <a:schemeClr val="tx1"/>
              </a:solidFill>
            </a:endParaRPr>
          </a:p>
        </p:txBody>
      </p:sp>
      <p:sp>
        <p:nvSpPr>
          <p:cNvPr id="5" name="箭头: 上下 4">
            <a:extLst>
              <a:ext uri="{FF2B5EF4-FFF2-40B4-BE49-F238E27FC236}">
                <a16:creationId xmlns:a16="http://schemas.microsoft.com/office/drawing/2014/main" id="{7257FBE3-1203-4B39-A4C2-4B4086AE11E1}"/>
              </a:ext>
            </a:extLst>
          </p:cNvPr>
          <p:cNvSpPr/>
          <p:nvPr/>
        </p:nvSpPr>
        <p:spPr>
          <a:xfrm>
            <a:off x="9036831" y="2410568"/>
            <a:ext cx="588166" cy="980277"/>
          </a:xfrm>
          <a:prstGeom prst="upDown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4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7B4E56-1873-4266-8203-710C830B2984}"/>
              </a:ext>
            </a:extLst>
          </p:cNvPr>
          <p:cNvSpPr/>
          <p:nvPr/>
        </p:nvSpPr>
        <p:spPr>
          <a:xfrm>
            <a:off x="6488111" y="6304479"/>
            <a:ext cx="3463645" cy="4156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815" b="1" dirty="0"/>
              <a:t>栈空间</a:t>
            </a:r>
          </a:p>
        </p:txBody>
      </p:sp>
    </p:spTree>
    <p:extLst>
      <p:ext uri="{BB962C8B-B14F-4D97-AF65-F5344CB8AC3E}">
        <p14:creationId xmlns:p14="http://schemas.microsoft.com/office/powerpoint/2010/main" val="171285215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267628"/>
            <a:ext cx="7767118" cy="956662"/>
          </a:xfrm>
          <a:prstGeom prst="rect">
            <a:avLst/>
          </a:prstGeom>
          <a:blipFill dpi="0" rotWithShape="0">
            <a:blip r:embed="rId7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24465" y="226763"/>
            <a:ext cx="7220913" cy="64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993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多任务应用程序</a:t>
            </a:r>
            <a:endParaRPr lang="zh-CN" altLang="zh-CN" sz="3267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8610" y="21168"/>
            <a:ext cx="8952860" cy="68822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int main(void)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{	OS_ERR err;	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1634" dirty="0" err="1">
                <a:solidFill>
                  <a:srgbClr val="000000"/>
                </a:solidFill>
                <a:latin typeface="Courier New" panose="02070309020205020404" pitchFamily="49" charset="0"/>
              </a:rPr>
              <a:t>OSInit</a:t>
            </a: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(&amp;err); /* </a:t>
            </a:r>
            <a:r>
              <a:rPr lang="zh-CN" altLang="en-US" sz="1634" dirty="0">
                <a:solidFill>
                  <a:srgbClr val="000000"/>
                </a:solidFill>
                <a:latin typeface="Courier New" panose="02070309020205020404" pitchFamily="49" charset="0"/>
              </a:rPr>
              <a:t>初始化相关的全局变量 *</a:t>
            </a: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/	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1634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OSTaskCreate</a:t>
            </a: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 (…, Task1, …); /* </a:t>
            </a:r>
            <a:r>
              <a:rPr lang="zh-CN" altLang="en-US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创建任务</a:t>
            </a: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1</a:t>
            </a:r>
            <a:r>
              <a:rPr lang="zh-CN" altLang="en-US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 *</a:t>
            </a: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1634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OSTaskCreate</a:t>
            </a: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 (…, Task2, …); /* </a:t>
            </a:r>
            <a:r>
              <a:rPr lang="zh-CN" altLang="en-US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创建任务</a:t>
            </a: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2</a:t>
            </a:r>
            <a:r>
              <a:rPr lang="zh-CN" altLang="en-US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 *</a:t>
            </a: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/ </a:t>
            </a: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1634" dirty="0" err="1">
                <a:solidFill>
                  <a:srgbClr val="000000"/>
                </a:solidFill>
                <a:latin typeface="Courier New" panose="02070309020205020404" pitchFamily="49" charset="0"/>
              </a:rPr>
              <a:t>OSStart</a:t>
            </a: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(&amp;err);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>
              <a:defRPr/>
            </a:pPr>
            <a:r>
              <a:rPr lang="en-US" altLang="zh-CN" sz="1634" b="1" dirty="0">
                <a:solidFill>
                  <a:srgbClr val="00B050"/>
                </a:solidFill>
                <a:latin typeface="Courier New" panose="02070309020205020404" pitchFamily="49" charset="0"/>
              </a:rPr>
              <a:t>void delay (uint32_t count) /* </a:t>
            </a:r>
            <a:r>
              <a:rPr lang="zh-CN" altLang="en-US" sz="1634" b="1" dirty="0">
                <a:solidFill>
                  <a:srgbClr val="00B050"/>
                </a:solidFill>
                <a:latin typeface="Courier New" panose="02070309020205020404" pitchFamily="49" charset="0"/>
              </a:rPr>
              <a:t>延时函数 *</a:t>
            </a:r>
            <a:r>
              <a:rPr lang="en-US" altLang="zh-CN" sz="1634" b="1" dirty="0">
                <a:solidFill>
                  <a:srgbClr val="00B05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1634" b="1" dirty="0">
                <a:solidFill>
                  <a:srgbClr val="00B050"/>
                </a:solidFill>
                <a:latin typeface="Courier New" panose="02070309020205020404" pitchFamily="49" charset="0"/>
              </a:rPr>
              <a:t>{	for(; count!=0; count--);}</a:t>
            </a:r>
          </a:p>
          <a:p>
            <a:pPr>
              <a:defRPr/>
            </a:pP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void Task1( void *</a:t>
            </a:r>
            <a:r>
              <a:rPr lang="en-US" altLang="zh-CN" sz="1634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p_arg</a:t>
            </a: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 ) /* </a:t>
            </a:r>
            <a:r>
              <a:rPr lang="zh-CN" altLang="en-US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任务</a:t>
            </a: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1 */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{	for( ;; )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{	flag1 = 1;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1634" b="1" dirty="0">
                <a:solidFill>
                  <a:srgbClr val="00B050"/>
                </a:solidFill>
                <a:latin typeface="Courier New" panose="02070309020205020404" pitchFamily="49" charset="0"/>
              </a:rPr>
              <a:t>delay( 100 );</a:t>
            </a: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	flag1 = 0;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1634" b="1" dirty="0">
                <a:solidFill>
                  <a:srgbClr val="00B050"/>
                </a:solidFill>
                <a:latin typeface="Courier New" panose="02070309020205020404" pitchFamily="49" charset="0"/>
              </a:rPr>
              <a:t>delay( 100 );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1634" dirty="0" err="1">
                <a:solidFill>
                  <a:srgbClr val="000000"/>
                </a:solidFill>
                <a:latin typeface="Courier New" panose="02070309020205020404" pitchFamily="49" charset="0"/>
              </a:rPr>
              <a:t>OSSched</a:t>
            </a: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(); /* </a:t>
            </a:r>
            <a:r>
              <a:rPr lang="zh-CN" altLang="en-US" sz="1634" dirty="0">
                <a:solidFill>
                  <a:srgbClr val="000000"/>
                </a:solidFill>
                <a:latin typeface="Courier New" panose="02070309020205020404" pitchFamily="49" charset="0"/>
              </a:rPr>
              <a:t>任务切换，这里是手动切换 *</a:t>
            </a: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}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>
              <a:defRPr/>
            </a:pP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void Task2( void *</a:t>
            </a:r>
            <a:r>
              <a:rPr lang="en-US" altLang="zh-CN" sz="1634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p_arg</a:t>
            </a: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 ) /* </a:t>
            </a:r>
            <a:r>
              <a:rPr lang="zh-CN" altLang="en-US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任务</a:t>
            </a: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</a:rPr>
              <a:t>2 */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{	for( ;; )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{	flag2 = 1;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1634" b="1" dirty="0">
                <a:solidFill>
                  <a:srgbClr val="00B050"/>
                </a:solidFill>
                <a:latin typeface="Courier New" panose="02070309020205020404" pitchFamily="49" charset="0"/>
              </a:rPr>
              <a:t>delay( 100 );</a:t>
            </a: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	flag2 = 0;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1634" b="1" dirty="0">
                <a:solidFill>
                  <a:srgbClr val="00B050"/>
                </a:solidFill>
                <a:latin typeface="Courier New" panose="02070309020205020404" pitchFamily="49" charset="0"/>
              </a:rPr>
              <a:t>delay( 100 );</a:t>
            </a: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1634" dirty="0" err="1">
                <a:solidFill>
                  <a:srgbClr val="000000"/>
                </a:solidFill>
                <a:latin typeface="Courier New" panose="02070309020205020404" pitchFamily="49" charset="0"/>
              </a:rPr>
              <a:t>OSSched</a:t>
            </a: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(); /* </a:t>
            </a:r>
            <a:r>
              <a:rPr lang="zh-CN" altLang="en-US" sz="1634" dirty="0">
                <a:solidFill>
                  <a:srgbClr val="000000"/>
                </a:solidFill>
                <a:latin typeface="Courier New" panose="02070309020205020404" pitchFamily="49" charset="0"/>
              </a:rPr>
              <a:t>任务切换，这里是手动切换 *</a:t>
            </a: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	}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5FA3C1D-58B8-4E25-9B07-6D9C7E2F076D}"/>
              </a:ext>
            </a:extLst>
          </p:cNvPr>
          <p:cNvSpPr/>
          <p:nvPr/>
        </p:nvSpPr>
        <p:spPr>
          <a:xfrm>
            <a:off x="7742057" y="1533798"/>
            <a:ext cx="2744776" cy="1045629"/>
          </a:xfrm>
          <a:prstGeom prst="rect">
            <a:avLst/>
          </a:prstGeom>
          <a:solidFill>
            <a:srgbClr val="FA2812">
              <a:alpha val="5294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904" dirty="0"/>
              <a:t>cpu</a:t>
            </a:r>
          </a:p>
          <a:p>
            <a:pPr algn="ctr"/>
            <a:endParaRPr lang="en-US" altLang="zh-CN" sz="2904" dirty="0"/>
          </a:p>
          <a:p>
            <a:pPr algn="ctr"/>
            <a:endParaRPr lang="zh-CN" altLang="en-US" sz="1634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AA23C78-E721-44BB-B776-EDB7EA16BB0A}"/>
              </a:ext>
            </a:extLst>
          </p:cNvPr>
          <p:cNvSpPr/>
          <p:nvPr/>
        </p:nvSpPr>
        <p:spPr>
          <a:xfrm>
            <a:off x="8003464" y="2094768"/>
            <a:ext cx="2352665" cy="3921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178" b="1" dirty="0">
                <a:solidFill>
                  <a:schemeClr val="tx1"/>
                </a:solidFill>
              </a:rPr>
              <a:t>寄存器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C6326ED-82CE-4A28-8339-FB39DD8AAD7A}"/>
              </a:ext>
            </a:extLst>
          </p:cNvPr>
          <p:cNvSpPr/>
          <p:nvPr/>
        </p:nvSpPr>
        <p:spPr>
          <a:xfrm>
            <a:off x="5912207" y="2842201"/>
            <a:ext cx="5195299" cy="3855756"/>
          </a:xfrm>
          <a:prstGeom prst="rect">
            <a:avLst/>
          </a:prstGeom>
          <a:solidFill>
            <a:schemeClr val="accent1">
              <a:lumMod val="40000"/>
              <a:lumOff val="60000"/>
              <a:alpha val="5294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904" dirty="0">
                <a:solidFill>
                  <a:srgbClr val="FF0000"/>
                </a:solidFill>
              </a:rPr>
              <a:t>内存</a:t>
            </a:r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/>
          </a:p>
          <a:p>
            <a:pPr algn="ctr"/>
            <a:endParaRPr lang="zh-CN" altLang="en-US" sz="1634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79EEC78-FA37-44E5-80C3-06B3067C4C3D}"/>
              </a:ext>
            </a:extLst>
          </p:cNvPr>
          <p:cNvSpPr/>
          <p:nvPr/>
        </p:nvSpPr>
        <p:spPr>
          <a:xfrm>
            <a:off x="6200289" y="3363650"/>
            <a:ext cx="1999231" cy="21730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178" b="1" dirty="0">
                <a:solidFill>
                  <a:srgbClr val="00B050"/>
                </a:solidFill>
              </a:rPr>
              <a:t>void Task1()</a:t>
            </a:r>
          </a:p>
          <a:p>
            <a:r>
              <a:rPr lang="en-US" altLang="zh-CN" sz="2178" b="1" dirty="0">
                <a:solidFill>
                  <a:srgbClr val="00B050"/>
                </a:solidFill>
              </a:rPr>
              <a:t>{  for(;;){</a:t>
            </a:r>
          </a:p>
          <a:p>
            <a:r>
              <a:rPr lang="en-US" altLang="zh-CN" sz="2178" b="1" dirty="0">
                <a:solidFill>
                  <a:srgbClr val="00B050"/>
                </a:solidFill>
              </a:rPr>
              <a:t>    flag1 =1;</a:t>
            </a:r>
          </a:p>
          <a:p>
            <a:r>
              <a:rPr lang="en-US" altLang="zh-CN" sz="2178" b="1" dirty="0">
                <a:solidFill>
                  <a:srgbClr val="00B050"/>
                </a:solidFill>
              </a:rPr>
              <a:t>    delay();</a:t>
            </a:r>
          </a:p>
          <a:p>
            <a:r>
              <a:rPr lang="en-US" altLang="zh-CN" sz="2178" b="1" dirty="0">
                <a:solidFill>
                  <a:srgbClr val="00B050"/>
                </a:solidFill>
              </a:rPr>
              <a:t>    </a:t>
            </a:r>
            <a:r>
              <a:rPr lang="en-US" altLang="zh-CN" sz="2178" b="1" dirty="0" err="1">
                <a:solidFill>
                  <a:srgbClr val="00B050"/>
                </a:solidFill>
              </a:rPr>
              <a:t>OSSched</a:t>
            </a:r>
            <a:r>
              <a:rPr lang="en-US" altLang="zh-CN" sz="2178" b="1" dirty="0">
                <a:solidFill>
                  <a:srgbClr val="00B050"/>
                </a:solidFill>
              </a:rPr>
              <a:t>();}</a:t>
            </a:r>
          </a:p>
          <a:p>
            <a:r>
              <a:rPr lang="en-US" altLang="zh-CN" sz="2178" b="1" dirty="0">
                <a:solidFill>
                  <a:srgbClr val="00B050"/>
                </a:solidFill>
              </a:rPr>
              <a:t>}</a:t>
            </a:r>
            <a:endParaRPr lang="zh-CN" altLang="en-US" sz="2178" b="1" dirty="0">
              <a:solidFill>
                <a:srgbClr val="00B050"/>
              </a:solidFill>
            </a:endParaRPr>
          </a:p>
        </p:txBody>
      </p:sp>
      <p:sp>
        <p:nvSpPr>
          <p:cNvPr id="5" name="箭头: 上下 4">
            <a:extLst>
              <a:ext uri="{FF2B5EF4-FFF2-40B4-BE49-F238E27FC236}">
                <a16:creationId xmlns:a16="http://schemas.microsoft.com/office/drawing/2014/main" id="{7257FBE3-1203-4B39-A4C2-4B4086AE11E1}"/>
              </a:ext>
            </a:extLst>
          </p:cNvPr>
          <p:cNvSpPr/>
          <p:nvPr/>
        </p:nvSpPr>
        <p:spPr>
          <a:xfrm>
            <a:off x="9571908" y="2252669"/>
            <a:ext cx="588166" cy="980277"/>
          </a:xfrm>
          <a:prstGeom prst="upDown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4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7B4E56-1873-4266-8203-710C830B2984}"/>
              </a:ext>
            </a:extLst>
          </p:cNvPr>
          <p:cNvSpPr/>
          <p:nvPr/>
        </p:nvSpPr>
        <p:spPr>
          <a:xfrm>
            <a:off x="6278617" y="5724926"/>
            <a:ext cx="1463441" cy="3594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rgbClr val="00B050"/>
                </a:solidFill>
              </a:rPr>
              <a:t>Task1</a:t>
            </a:r>
            <a:r>
              <a:rPr lang="zh-CN" altLang="en-US" sz="1815" b="1" dirty="0">
                <a:solidFill>
                  <a:srgbClr val="00B050"/>
                </a:solidFill>
              </a:rPr>
              <a:t>堆栈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F4F728A-0425-49C7-B642-0C0CA8582E38}"/>
              </a:ext>
            </a:extLst>
          </p:cNvPr>
          <p:cNvSpPr/>
          <p:nvPr/>
        </p:nvSpPr>
        <p:spPr>
          <a:xfrm>
            <a:off x="8866860" y="3352692"/>
            <a:ext cx="1999231" cy="21730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178" b="1" dirty="0">
                <a:solidFill>
                  <a:srgbClr val="0070C0"/>
                </a:solidFill>
              </a:rPr>
              <a:t>void Task2()</a:t>
            </a:r>
          </a:p>
          <a:p>
            <a:r>
              <a:rPr lang="en-US" altLang="zh-CN" sz="2178" b="1" dirty="0">
                <a:solidFill>
                  <a:srgbClr val="0070C0"/>
                </a:solidFill>
              </a:rPr>
              <a:t>{  for(;;){</a:t>
            </a:r>
          </a:p>
          <a:p>
            <a:r>
              <a:rPr lang="en-US" altLang="zh-CN" sz="2178" b="1" dirty="0">
                <a:solidFill>
                  <a:srgbClr val="0070C0"/>
                </a:solidFill>
              </a:rPr>
              <a:t>    flag1 =1;</a:t>
            </a:r>
          </a:p>
          <a:p>
            <a:r>
              <a:rPr lang="en-US" altLang="zh-CN" sz="2178" b="1" dirty="0">
                <a:solidFill>
                  <a:srgbClr val="0070C0"/>
                </a:solidFill>
              </a:rPr>
              <a:t>    delay(); </a:t>
            </a:r>
          </a:p>
          <a:p>
            <a:r>
              <a:rPr lang="en-US" altLang="zh-CN" sz="2178" b="1" dirty="0">
                <a:solidFill>
                  <a:srgbClr val="0070C0"/>
                </a:solidFill>
              </a:rPr>
              <a:t>    </a:t>
            </a:r>
            <a:r>
              <a:rPr lang="en-US" altLang="zh-CN" sz="2178" b="1" dirty="0" err="1">
                <a:solidFill>
                  <a:srgbClr val="0070C0"/>
                </a:solidFill>
              </a:rPr>
              <a:t>OSSched</a:t>
            </a:r>
            <a:r>
              <a:rPr lang="en-US" altLang="zh-CN" sz="2178" b="1" dirty="0">
                <a:solidFill>
                  <a:srgbClr val="0070C0"/>
                </a:solidFill>
              </a:rPr>
              <a:t>();}</a:t>
            </a:r>
          </a:p>
          <a:p>
            <a:r>
              <a:rPr lang="en-US" altLang="zh-CN" sz="2178" b="1" dirty="0">
                <a:solidFill>
                  <a:srgbClr val="0070C0"/>
                </a:solidFill>
              </a:rPr>
              <a:t>}</a:t>
            </a:r>
            <a:endParaRPr lang="zh-CN" altLang="en-US" sz="2178" b="1" dirty="0">
              <a:solidFill>
                <a:srgbClr val="0070C0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D4AFD27-9C45-4E1F-8A84-35EF4678409E}"/>
              </a:ext>
            </a:extLst>
          </p:cNvPr>
          <p:cNvSpPr/>
          <p:nvPr/>
        </p:nvSpPr>
        <p:spPr>
          <a:xfrm>
            <a:off x="9317014" y="5739585"/>
            <a:ext cx="1463441" cy="3594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rgbClr val="0070C0"/>
                </a:solidFill>
              </a:rPr>
              <a:t>Task2</a:t>
            </a:r>
            <a:r>
              <a:rPr lang="zh-CN" altLang="en-US" sz="1815" b="1" dirty="0">
                <a:solidFill>
                  <a:srgbClr val="0070C0"/>
                </a:solidFill>
              </a:rPr>
              <a:t>堆栈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C024810-07A4-4CA9-A3E9-DC646D0FF3E9}"/>
              </a:ext>
            </a:extLst>
          </p:cNvPr>
          <p:cNvSpPr/>
          <p:nvPr/>
        </p:nvSpPr>
        <p:spPr>
          <a:xfrm>
            <a:off x="6274456" y="6255104"/>
            <a:ext cx="4591636" cy="3352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815" b="1" dirty="0">
                <a:solidFill>
                  <a:schemeClr val="accent6">
                    <a:lumMod val="75000"/>
                  </a:schemeClr>
                </a:solidFill>
              </a:rPr>
              <a:t>系统栈空间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E9A5109-3675-4AED-A662-C7E1633D6576}"/>
              </a:ext>
            </a:extLst>
          </p:cNvPr>
          <p:cNvSpPr/>
          <p:nvPr/>
        </p:nvSpPr>
        <p:spPr>
          <a:xfrm>
            <a:off x="464744" y="372501"/>
            <a:ext cx="11495096" cy="17876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chemeClr val="tx1"/>
                </a:solidFill>
              </a:rPr>
              <a:t>在裸机系统中，只有一个程序运行，它会按顺序完成整个工作。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chemeClr val="tx1"/>
                </a:solidFill>
              </a:rPr>
              <a:t>在多任务系统中，有多个程序运行，可以把任务划分成若干子任务交给这些程序共同完成。使得这些程序能相互配合完成既定目标，并且协同工作设计难度不高，容易理解，这些都是我们设计操作系统的核心指标。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35355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10" grpId="0" animBg="1"/>
      <p:bldP spid="11" grpId="0" animBg="1"/>
      <p:bldP spid="5" grpId="0" animBg="1"/>
      <p:bldP spid="7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272994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24465" y="184231"/>
            <a:ext cx="7220913" cy="618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267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什么是任务</a:t>
            </a:r>
            <a:endParaRPr lang="zh-CN" altLang="zh-CN" sz="3267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8867" y="1633504"/>
            <a:ext cx="8952860" cy="23083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400" b="1" dirty="0">
                <a:solidFill>
                  <a:srgbClr val="0070C0"/>
                </a:solidFill>
                <a:latin typeface="Courier New" panose="02070309020205020404" pitchFamily="49" charset="0"/>
              </a:rPr>
              <a:t>void Task( void *</a:t>
            </a:r>
            <a:r>
              <a:rPr lang="en-US" altLang="zh-CN" sz="24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p_arg</a:t>
            </a:r>
            <a:r>
              <a:rPr lang="en-US" altLang="zh-CN" sz="2400" b="1" dirty="0">
                <a:solidFill>
                  <a:srgbClr val="0070C0"/>
                </a:solidFill>
                <a:latin typeface="Courier New" panose="02070309020205020404" pitchFamily="49" charset="0"/>
              </a:rPr>
              <a:t> ) </a:t>
            </a:r>
          </a:p>
          <a:p>
            <a:pPr>
              <a:defRPr/>
            </a:pP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{	for( ;; )</a:t>
            </a:r>
            <a:r>
              <a:rPr lang="zh-CN" alt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/*</a:t>
            </a:r>
            <a:r>
              <a:rPr lang="zh-CN" alt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任务主体，无限循环且不能返回*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	{	</a:t>
            </a:r>
          </a:p>
          <a:p>
            <a:pPr>
              <a:defRPr/>
            </a:pP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2400" b="1" dirty="0">
                <a:solidFill>
                  <a:srgbClr val="00B050"/>
                </a:solidFill>
                <a:latin typeface="Courier New" panose="02070309020205020404" pitchFamily="49" charset="0"/>
              </a:rPr>
              <a:t>/*</a:t>
            </a:r>
            <a:r>
              <a:rPr lang="zh-CN" altLang="en-US" sz="2400" b="1" dirty="0">
                <a:solidFill>
                  <a:srgbClr val="00B050"/>
                </a:solidFill>
                <a:latin typeface="Courier New" panose="02070309020205020404" pitchFamily="49" charset="0"/>
              </a:rPr>
              <a:t>任务主体代码*</a:t>
            </a:r>
            <a:r>
              <a:rPr lang="en-US" altLang="zh-CN" sz="2400" b="1" dirty="0">
                <a:solidFill>
                  <a:srgbClr val="00B05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	}</a:t>
            </a:r>
          </a:p>
          <a:p>
            <a:pPr>
              <a:defRPr/>
            </a:pP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7732181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267628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24465" y="348683"/>
            <a:ext cx="7220913" cy="64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993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任务构成</a:t>
            </a:r>
            <a:endParaRPr lang="zh-CN" altLang="zh-CN" sz="3267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A90B5875-E5FE-4FD0-9B72-EA130F00848F}"/>
              </a:ext>
            </a:extLst>
          </p:cNvPr>
          <p:cNvGrpSpPr/>
          <p:nvPr/>
        </p:nvGrpSpPr>
        <p:grpSpPr>
          <a:xfrm>
            <a:off x="6814870" y="161410"/>
            <a:ext cx="3725053" cy="1045629"/>
            <a:chOff x="6282804" y="177850"/>
            <a:chExt cx="3024336" cy="1152128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35FA3C1D-58B8-4E25-9B07-6D9C7E2F076D}"/>
                </a:ext>
              </a:extLst>
            </p:cNvPr>
            <p:cNvSpPr/>
            <p:nvPr/>
          </p:nvSpPr>
          <p:spPr>
            <a:xfrm>
              <a:off x="6282804" y="177850"/>
              <a:ext cx="3024336" cy="1152128"/>
            </a:xfrm>
            <a:prstGeom prst="rect">
              <a:avLst/>
            </a:prstGeom>
            <a:solidFill>
              <a:srgbClr val="FA2812">
                <a:alpha val="52941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904" dirty="0"/>
                <a:t>cpu</a:t>
              </a:r>
            </a:p>
            <a:p>
              <a:pPr algn="ctr"/>
              <a:endParaRPr lang="en-US" altLang="zh-CN" sz="2904" dirty="0"/>
            </a:p>
            <a:p>
              <a:pPr algn="ctr"/>
              <a:endParaRPr lang="zh-CN" altLang="en-US" sz="1634" dirty="0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AAA23C78-E721-44BB-B776-EDB7EA16BB0A}"/>
                </a:ext>
              </a:extLst>
            </p:cNvPr>
            <p:cNvSpPr/>
            <p:nvPr/>
          </p:nvSpPr>
          <p:spPr>
            <a:xfrm>
              <a:off x="6498828" y="681906"/>
              <a:ext cx="2592288" cy="4320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178" b="1" dirty="0">
                  <a:solidFill>
                    <a:schemeClr val="tx1"/>
                  </a:solidFill>
                </a:rPr>
                <a:t>寄存器</a:t>
              </a:r>
            </a:p>
          </p:txBody>
        </p: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5C6326ED-82CE-4A28-8339-FB39DD8AAD7A}"/>
              </a:ext>
            </a:extLst>
          </p:cNvPr>
          <p:cNvSpPr/>
          <p:nvPr/>
        </p:nvSpPr>
        <p:spPr>
          <a:xfrm>
            <a:off x="1586726" y="1393466"/>
            <a:ext cx="9018547" cy="5196906"/>
          </a:xfrm>
          <a:prstGeom prst="rect">
            <a:avLst/>
          </a:prstGeom>
          <a:solidFill>
            <a:schemeClr val="accent1">
              <a:lumMod val="40000"/>
              <a:lumOff val="60000"/>
              <a:alpha val="5294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904" dirty="0">
                <a:solidFill>
                  <a:srgbClr val="FF0000"/>
                </a:solidFill>
              </a:rPr>
              <a:t>内存</a:t>
            </a:r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/>
          </a:p>
          <a:p>
            <a:pPr algn="ctr"/>
            <a:endParaRPr lang="zh-CN" altLang="en-US" sz="1634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79EEC78-FA37-44E5-80C3-06B3067C4C3D}"/>
              </a:ext>
            </a:extLst>
          </p:cNvPr>
          <p:cNvSpPr/>
          <p:nvPr/>
        </p:nvSpPr>
        <p:spPr>
          <a:xfrm>
            <a:off x="2567003" y="2342495"/>
            <a:ext cx="1999231" cy="21730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178" b="1" dirty="0">
                <a:solidFill>
                  <a:srgbClr val="FF0000"/>
                </a:solidFill>
              </a:rPr>
              <a:t>void Task1()</a:t>
            </a:r>
          </a:p>
          <a:p>
            <a:r>
              <a:rPr lang="en-US" altLang="zh-CN" sz="2178" b="1" dirty="0">
                <a:solidFill>
                  <a:srgbClr val="FF0000"/>
                </a:solidFill>
              </a:rPr>
              <a:t>{  for(;;){</a:t>
            </a:r>
          </a:p>
          <a:p>
            <a:r>
              <a:rPr lang="en-US" altLang="zh-CN" sz="2178" b="1" dirty="0">
                <a:solidFill>
                  <a:srgbClr val="FF0000"/>
                </a:solidFill>
              </a:rPr>
              <a:t>    flag1 =1;</a:t>
            </a:r>
          </a:p>
          <a:p>
            <a:r>
              <a:rPr lang="en-US" altLang="zh-CN" sz="2178" b="1" dirty="0">
                <a:solidFill>
                  <a:srgbClr val="FF0000"/>
                </a:solidFill>
              </a:rPr>
              <a:t>    delay();</a:t>
            </a:r>
          </a:p>
          <a:p>
            <a:r>
              <a:rPr lang="en-US" altLang="zh-CN" sz="2178" b="1" dirty="0">
                <a:solidFill>
                  <a:srgbClr val="FF0000"/>
                </a:solidFill>
              </a:rPr>
              <a:t>    </a:t>
            </a:r>
            <a:r>
              <a:rPr lang="en-US" altLang="zh-CN" sz="2178" b="1" dirty="0" err="1">
                <a:solidFill>
                  <a:srgbClr val="FF0000"/>
                </a:solidFill>
              </a:rPr>
              <a:t>OSSched</a:t>
            </a:r>
            <a:r>
              <a:rPr lang="en-US" altLang="zh-CN" sz="2178" b="1" dirty="0">
                <a:solidFill>
                  <a:srgbClr val="FF0000"/>
                </a:solidFill>
              </a:rPr>
              <a:t>();}</a:t>
            </a:r>
          </a:p>
          <a:p>
            <a:r>
              <a:rPr lang="en-US" altLang="zh-CN" sz="2178" b="1" dirty="0">
                <a:solidFill>
                  <a:srgbClr val="FF0000"/>
                </a:solidFill>
              </a:rPr>
              <a:t>}</a:t>
            </a:r>
            <a:endParaRPr lang="zh-CN" altLang="en-US" sz="2178" b="1" dirty="0">
              <a:solidFill>
                <a:srgbClr val="FF0000"/>
              </a:solidFill>
            </a:endParaRPr>
          </a:p>
        </p:txBody>
      </p:sp>
      <p:sp>
        <p:nvSpPr>
          <p:cNvPr id="5" name="箭头: 上下 4">
            <a:extLst>
              <a:ext uri="{FF2B5EF4-FFF2-40B4-BE49-F238E27FC236}">
                <a16:creationId xmlns:a16="http://schemas.microsoft.com/office/drawing/2014/main" id="{7257FBE3-1203-4B39-A4C2-4B4086AE11E1}"/>
              </a:ext>
            </a:extLst>
          </p:cNvPr>
          <p:cNvSpPr/>
          <p:nvPr/>
        </p:nvSpPr>
        <p:spPr>
          <a:xfrm>
            <a:off x="9624997" y="806809"/>
            <a:ext cx="588166" cy="1249803"/>
          </a:xfrm>
          <a:prstGeom prst="upDown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4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7B4E56-1873-4266-8203-710C830B2984}"/>
              </a:ext>
            </a:extLst>
          </p:cNvPr>
          <p:cNvSpPr/>
          <p:nvPr/>
        </p:nvSpPr>
        <p:spPr>
          <a:xfrm>
            <a:off x="2893763" y="1528676"/>
            <a:ext cx="1437740" cy="7239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rgbClr val="FF0000"/>
                </a:solidFill>
              </a:rPr>
              <a:t>Task1</a:t>
            </a:r>
            <a:r>
              <a:rPr lang="zh-CN" altLang="en-US" sz="1815" b="1" dirty="0">
                <a:solidFill>
                  <a:srgbClr val="FF0000"/>
                </a:solidFill>
              </a:rPr>
              <a:t>堆栈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F4F728A-0425-49C7-B642-0C0CA8582E38}"/>
              </a:ext>
            </a:extLst>
          </p:cNvPr>
          <p:cNvSpPr/>
          <p:nvPr/>
        </p:nvSpPr>
        <p:spPr>
          <a:xfrm>
            <a:off x="7043280" y="1606029"/>
            <a:ext cx="1887360" cy="10398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178" b="1" dirty="0">
                <a:solidFill>
                  <a:srgbClr val="0070C0"/>
                </a:solidFill>
              </a:rPr>
              <a:t>任务就绪位表</a:t>
            </a:r>
            <a:endParaRPr lang="en-US" altLang="zh-CN" sz="2178" b="1" dirty="0">
              <a:solidFill>
                <a:srgbClr val="0070C0"/>
              </a:solidFill>
            </a:endParaRPr>
          </a:p>
          <a:p>
            <a:endParaRPr lang="en-US" altLang="zh-CN" sz="2178" b="1" dirty="0">
              <a:solidFill>
                <a:srgbClr val="0070C0"/>
              </a:solidFill>
            </a:endParaRPr>
          </a:p>
          <a:p>
            <a:endParaRPr lang="zh-CN" altLang="en-US" sz="2178" b="1" dirty="0">
              <a:solidFill>
                <a:srgbClr val="0070C0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C024810-07A4-4CA9-A3E9-DC646D0FF3E9}"/>
              </a:ext>
            </a:extLst>
          </p:cNvPr>
          <p:cNvSpPr/>
          <p:nvPr/>
        </p:nvSpPr>
        <p:spPr>
          <a:xfrm>
            <a:off x="2007307" y="5881447"/>
            <a:ext cx="8266541" cy="4574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815" b="1" dirty="0">
                <a:solidFill>
                  <a:schemeClr val="accent6">
                    <a:lumMod val="75000"/>
                  </a:schemeClr>
                </a:solidFill>
              </a:rPr>
              <a:t>系统栈空间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F0E97D1-6D2D-4AB8-BB45-0E3D2C2A6CE2}"/>
              </a:ext>
            </a:extLst>
          </p:cNvPr>
          <p:cNvSpPr/>
          <p:nvPr/>
        </p:nvSpPr>
        <p:spPr>
          <a:xfrm>
            <a:off x="4775626" y="2364174"/>
            <a:ext cx="1437740" cy="723992"/>
          </a:xfrm>
          <a:prstGeom prst="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rgbClr val="FF0000"/>
                </a:solidFill>
              </a:rPr>
              <a:t>Task1</a:t>
            </a:r>
          </a:p>
          <a:p>
            <a:pPr algn="ctr"/>
            <a:r>
              <a:rPr lang="en-US" altLang="zh-CN" sz="1815" b="1" dirty="0">
                <a:solidFill>
                  <a:srgbClr val="FF0000"/>
                </a:solidFill>
              </a:rPr>
              <a:t>TCB</a:t>
            </a:r>
            <a:endParaRPr lang="zh-CN" altLang="en-US" sz="1815" b="1" dirty="0">
              <a:solidFill>
                <a:srgbClr val="FF0000"/>
              </a:solidFill>
            </a:endParaRPr>
          </a:p>
        </p:txBody>
      </p:sp>
      <p:graphicFrame>
        <p:nvGraphicFramePr>
          <p:cNvPr id="8" name="表格 14">
            <a:extLst>
              <a:ext uri="{FF2B5EF4-FFF2-40B4-BE49-F238E27FC236}">
                <a16:creationId xmlns:a16="http://schemas.microsoft.com/office/drawing/2014/main" id="{961598D0-276A-4F9E-A51E-1A990FAFE9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761189"/>
              </p:ext>
            </p:extLst>
          </p:nvPr>
        </p:nvGraphicFramePr>
        <p:xfrm>
          <a:off x="2076577" y="4786514"/>
          <a:ext cx="8128000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6578">
                  <a:extLst>
                    <a:ext uri="{9D8B030D-6E8A-4147-A177-3AD203B41FA5}">
                      <a16:colId xmlns:a16="http://schemas.microsoft.com/office/drawing/2014/main" val="2110415963"/>
                    </a:ext>
                  </a:extLst>
                </a:gridCol>
                <a:gridCol w="1184622">
                  <a:extLst>
                    <a:ext uri="{9D8B030D-6E8A-4147-A177-3AD203B41FA5}">
                      <a16:colId xmlns:a16="http://schemas.microsoft.com/office/drawing/2014/main" val="156684374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78277248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92532111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01451586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系统调用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510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创建任务</a:t>
                      </a:r>
                      <a:r>
                        <a:rPr lang="en-US" altLang="zh-CN" sz="18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OSTaskCreate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 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del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wakeup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sleep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839410"/>
                  </a:ext>
                </a:extLst>
              </a:tr>
            </a:tbl>
          </a:graphicData>
        </a:graphic>
      </p:graphicFrame>
      <p:graphicFrame>
        <p:nvGraphicFramePr>
          <p:cNvPr id="15" name="表格 15">
            <a:extLst>
              <a:ext uri="{FF2B5EF4-FFF2-40B4-BE49-F238E27FC236}">
                <a16:creationId xmlns:a16="http://schemas.microsoft.com/office/drawing/2014/main" id="{528E0EAC-8632-447C-A563-4D98217968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4844912"/>
              </p:ext>
            </p:extLst>
          </p:nvPr>
        </p:nvGraphicFramePr>
        <p:xfrm>
          <a:off x="7080945" y="2747118"/>
          <a:ext cx="1767840" cy="1870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>
                  <a:extLst>
                    <a:ext uri="{9D8B030D-6E8A-4147-A177-3AD203B41FA5}">
                      <a16:colId xmlns:a16="http://schemas.microsoft.com/office/drawing/2014/main" val="361914019"/>
                    </a:ext>
                  </a:extLst>
                </a:gridCol>
              </a:tblGrid>
              <a:tr h="309332">
                <a:tc>
                  <a:txBody>
                    <a:bodyPr/>
                    <a:lstStyle/>
                    <a:p>
                      <a:r>
                        <a:rPr lang="zh-CN" altLang="en-US" sz="1800" b="1" dirty="0">
                          <a:solidFill>
                            <a:schemeClr val="bg1"/>
                          </a:solidFill>
                        </a:rPr>
                        <a:t>任务就绪列表</a:t>
                      </a:r>
                      <a:endParaRPr lang="en-US" altLang="zh-CN" sz="18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140824"/>
                  </a:ext>
                </a:extLst>
              </a:tr>
              <a:tr h="309332"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041042"/>
                  </a:ext>
                </a:extLst>
              </a:tr>
              <a:tr h="309332"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957176"/>
                  </a:ext>
                </a:extLst>
              </a:tr>
              <a:tr h="309332"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9420569"/>
                  </a:ext>
                </a:extLst>
              </a:tr>
              <a:tr h="40718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9887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191778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315526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24465" y="226763"/>
            <a:ext cx="7220913" cy="64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993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创建任务</a:t>
            </a:r>
            <a:r>
              <a:rPr lang="en-US" altLang="zh-CN" sz="3993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—</a:t>
            </a:r>
            <a:r>
              <a:rPr lang="zh-CN" altLang="en-US" sz="3993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定义任务堆栈</a:t>
            </a:r>
            <a:endParaRPr lang="zh-CN" altLang="zh-CN" sz="3267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3010" y="1226688"/>
            <a:ext cx="8952860" cy="14888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1815" dirty="0">
                <a:solidFill>
                  <a:srgbClr val="000000"/>
                </a:solidFill>
                <a:latin typeface="Courier New" panose="02070309020205020404" pitchFamily="49" charset="0"/>
              </a:rPr>
              <a:t>#define  TASK1_STK_SIZE       128</a:t>
            </a:r>
          </a:p>
          <a:p>
            <a:pPr>
              <a:defRPr/>
            </a:pPr>
            <a:r>
              <a:rPr lang="en-US" altLang="zh-CN" sz="1815" dirty="0">
                <a:solidFill>
                  <a:srgbClr val="000000"/>
                </a:solidFill>
                <a:latin typeface="Courier New" panose="02070309020205020404" pitchFamily="49" charset="0"/>
              </a:rPr>
              <a:t>#define  TASK2_STK_SIZE       128</a:t>
            </a:r>
          </a:p>
          <a:p>
            <a:pPr>
              <a:defRPr/>
            </a:pPr>
            <a:endParaRPr lang="en-US" altLang="zh-CN" sz="1815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1815" dirty="0">
                <a:solidFill>
                  <a:srgbClr val="000000"/>
                </a:solidFill>
                <a:latin typeface="Courier New" panose="02070309020205020404" pitchFamily="49" charset="0"/>
              </a:rPr>
              <a:t>static   CPU_STK   Task1Stk[TASK1_STK_SIZE];</a:t>
            </a:r>
          </a:p>
          <a:p>
            <a:pPr>
              <a:defRPr/>
            </a:pPr>
            <a:r>
              <a:rPr lang="en-US" altLang="zh-CN" sz="1815" dirty="0">
                <a:solidFill>
                  <a:srgbClr val="000000"/>
                </a:solidFill>
                <a:latin typeface="Courier New" panose="02070309020205020404" pitchFamily="49" charset="0"/>
              </a:rPr>
              <a:t>static   CPU_STK   Task2Stk[TASK2_STK_SIZE];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5FA3C1D-58B8-4E25-9B07-6D9C7E2F076D}"/>
              </a:ext>
            </a:extLst>
          </p:cNvPr>
          <p:cNvSpPr/>
          <p:nvPr/>
        </p:nvSpPr>
        <p:spPr>
          <a:xfrm>
            <a:off x="7206980" y="1729853"/>
            <a:ext cx="2744776" cy="1045629"/>
          </a:xfrm>
          <a:prstGeom prst="rect">
            <a:avLst/>
          </a:prstGeom>
          <a:solidFill>
            <a:srgbClr val="FA2812">
              <a:alpha val="5294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904" dirty="0"/>
              <a:t>cpu</a:t>
            </a:r>
          </a:p>
          <a:p>
            <a:pPr algn="ctr"/>
            <a:endParaRPr lang="en-US" altLang="zh-CN" sz="2904" dirty="0"/>
          </a:p>
          <a:p>
            <a:pPr algn="ctr"/>
            <a:endParaRPr lang="zh-CN" altLang="en-US" sz="1634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AA23C78-E721-44BB-B776-EDB7EA16BB0A}"/>
              </a:ext>
            </a:extLst>
          </p:cNvPr>
          <p:cNvSpPr/>
          <p:nvPr/>
        </p:nvSpPr>
        <p:spPr>
          <a:xfrm>
            <a:off x="7468388" y="2252668"/>
            <a:ext cx="2352665" cy="3921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178" b="1" dirty="0">
                <a:solidFill>
                  <a:schemeClr val="tx1"/>
                </a:solidFill>
              </a:rPr>
              <a:t>寄存器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C6326ED-82CE-4A28-8339-FB39DD8AAD7A}"/>
              </a:ext>
            </a:extLst>
          </p:cNvPr>
          <p:cNvSpPr/>
          <p:nvPr/>
        </p:nvSpPr>
        <p:spPr>
          <a:xfrm>
            <a:off x="5303520" y="2916389"/>
            <a:ext cx="5311652" cy="3855756"/>
          </a:xfrm>
          <a:prstGeom prst="rect">
            <a:avLst/>
          </a:prstGeom>
          <a:solidFill>
            <a:schemeClr val="accent1">
              <a:lumMod val="40000"/>
              <a:lumOff val="60000"/>
              <a:alpha val="5294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904" dirty="0">
                <a:solidFill>
                  <a:srgbClr val="FF0000"/>
                </a:solidFill>
              </a:rPr>
              <a:t>内存</a:t>
            </a:r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/>
          </a:p>
          <a:p>
            <a:pPr algn="ctr"/>
            <a:endParaRPr lang="zh-CN" altLang="en-US" sz="1634" dirty="0"/>
          </a:p>
        </p:txBody>
      </p:sp>
      <p:sp>
        <p:nvSpPr>
          <p:cNvPr id="5" name="箭头: 上下 4">
            <a:extLst>
              <a:ext uri="{FF2B5EF4-FFF2-40B4-BE49-F238E27FC236}">
                <a16:creationId xmlns:a16="http://schemas.microsoft.com/office/drawing/2014/main" id="{7257FBE3-1203-4B39-A4C2-4B4086AE11E1}"/>
              </a:ext>
            </a:extLst>
          </p:cNvPr>
          <p:cNvSpPr/>
          <p:nvPr/>
        </p:nvSpPr>
        <p:spPr>
          <a:xfrm>
            <a:off x="9036831" y="2410568"/>
            <a:ext cx="588166" cy="980277"/>
          </a:xfrm>
          <a:prstGeom prst="upDown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4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7B4E56-1873-4266-8203-710C830B2984}"/>
              </a:ext>
            </a:extLst>
          </p:cNvPr>
          <p:cNvSpPr/>
          <p:nvPr/>
        </p:nvSpPr>
        <p:spPr>
          <a:xfrm>
            <a:off x="6488111" y="6304479"/>
            <a:ext cx="3463645" cy="4156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815" b="1" dirty="0"/>
              <a:t>栈空间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18666AC-6B7D-456B-BC6B-593451621CD1}"/>
              </a:ext>
            </a:extLst>
          </p:cNvPr>
          <p:cNvSpPr/>
          <p:nvPr/>
        </p:nvSpPr>
        <p:spPr>
          <a:xfrm>
            <a:off x="5780777" y="5643646"/>
            <a:ext cx="1463441" cy="3594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rgbClr val="00B050"/>
                </a:solidFill>
              </a:rPr>
              <a:t>Task1</a:t>
            </a:r>
            <a:r>
              <a:rPr lang="zh-CN" altLang="en-US" sz="1815" b="1" dirty="0">
                <a:solidFill>
                  <a:srgbClr val="00B050"/>
                </a:solidFill>
              </a:rPr>
              <a:t>堆栈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B953604-F8AD-484E-952E-78A460FD8D85}"/>
              </a:ext>
            </a:extLst>
          </p:cNvPr>
          <p:cNvSpPr/>
          <p:nvPr/>
        </p:nvSpPr>
        <p:spPr>
          <a:xfrm>
            <a:off x="8819174" y="5658305"/>
            <a:ext cx="1463441" cy="3594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rgbClr val="0070C0"/>
                </a:solidFill>
              </a:rPr>
              <a:t>Task2</a:t>
            </a:r>
            <a:r>
              <a:rPr lang="zh-CN" altLang="en-US" sz="1815" b="1" dirty="0">
                <a:solidFill>
                  <a:srgbClr val="0070C0"/>
                </a:solidFill>
              </a:rPr>
              <a:t>堆栈</a:t>
            </a:r>
          </a:p>
        </p:txBody>
      </p:sp>
    </p:spTree>
    <p:extLst>
      <p:ext uri="{BB962C8B-B14F-4D97-AF65-F5344CB8AC3E}">
        <p14:creationId xmlns:p14="http://schemas.microsoft.com/office/powerpoint/2010/main" val="12418973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315526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24465" y="226763"/>
            <a:ext cx="7220913" cy="64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993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创建任务</a:t>
            </a:r>
            <a:r>
              <a:rPr lang="en-US" altLang="zh-CN" sz="3993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—</a:t>
            </a:r>
            <a:r>
              <a:rPr lang="zh-CN" altLang="en-US" sz="3993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定义任务函数</a:t>
            </a:r>
            <a:endParaRPr lang="zh-CN" altLang="zh-CN" sz="3267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656" y="640913"/>
            <a:ext cx="8952860" cy="62170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1800" b="0" i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uint32_t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flag1; 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1800" b="0" i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uint32_t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flag2;</a:t>
            </a:r>
            <a:r>
              <a:rPr lang="en-US" altLang="zh-CN" sz="2000" dirty="0"/>
              <a:t> </a:t>
            </a:r>
            <a:endParaRPr lang="en-US" altLang="zh-CN" sz="2000" b="1" dirty="0">
              <a:solidFill>
                <a:srgbClr val="00B050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void Task1( void *</a:t>
            </a:r>
            <a:r>
              <a:rPr lang="en-US" altLang="zh-CN" sz="20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p_arg</a:t>
            </a: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 ) /* </a:t>
            </a:r>
            <a:r>
              <a:rPr lang="zh-CN" altLang="en-US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任务</a:t>
            </a: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1 */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{	for( ;; )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{	flag1 = 1;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2000" b="1" dirty="0">
                <a:solidFill>
                  <a:srgbClr val="00B050"/>
                </a:solidFill>
                <a:latin typeface="Courier New" panose="02070309020205020404" pitchFamily="49" charset="0"/>
              </a:rPr>
              <a:t>delay( 100 );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flag1 = 0;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2000" b="1" dirty="0">
                <a:solidFill>
                  <a:srgbClr val="00B050"/>
                </a:solidFill>
                <a:latin typeface="Courier New" panose="02070309020205020404" pitchFamily="49" charset="0"/>
              </a:rPr>
              <a:t>delay( 100 );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OSSched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(); /*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任务切换，这里是手动切换 *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}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>
              <a:defRPr/>
            </a:pP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void Task2( void *</a:t>
            </a:r>
            <a:r>
              <a:rPr lang="en-US" altLang="zh-CN" sz="20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p_arg</a:t>
            </a: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 ) /* </a:t>
            </a:r>
            <a:r>
              <a:rPr lang="zh-CN" altLang="en-US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任务</a:t>
            </a: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2 */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{	for( ;; )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{	flag2 = 1;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2000" b="1" dirty="0">
                <a:solidFill>
                  <a:srgbClr val="00B050"/>
                </a:solidFill>
                <a:latin typeface="Courier New" panose="02070309020205020404" pitchFamily="49" charset="0"/>
              </a:rPr>
              <a:t>delay( 100 );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flag2 = 0;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2000" b="1" dirty="0">
                <a:solidFill>
                  <a:srgbClr val="00B050"/>
                </a:solidFill>
                <a:latin typeface="Courier New" panose="02070309020205020404" pitchFamily="49" charset="0"/>
              </a:rPr>
              <a:t>delay( 100 );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zh-CN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OSSched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(); /* </a:t>
            </a:r>
            <a:r>
              <a:rPr lang="zh-CN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任务切换，这里是手动切换 *</a:t>
            </a: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}</a:t>
            </a:r>
          </a:p>
          <a:p>
            <a:pPr>
              <a:defRPr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5FA3C1D-58B8-4E25-9B07-6D9C7E2F076D}"/>
              </a:ext>
            </a:extLst>
          </p:cNvPr>
          <p:cNvSpPr/>
          <p:nvPr/>
        </p:nvSpPr>
        <p:spPr>
          <a:xfrm>
            <a:off x="8426180" y="1648573"/>
            <a:ext cx="2744776" cy="1045629"/>
          </a:xfrm>
          <a:prstGeom prst="rect">
            <a:avLst/>
          </a:prstGeom>
          <a:solidFill>
            <a:srgbClr val="FA2812">
              <a:alpha val="5294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904" dirty="0"/>
              <a:t>cpu</a:t>
            </a:r>
          </a:p>
          <a:p>
            <a:pPr algn="ctr"/>
            <a:endParaRPr lang="en-US" altLang="zh-CN" sz="2904" dirty="0"/>
          </a:p>
          <a:p>
            <a:pPr algn="ctr"/>
            <a:endParaRPr lang="zh-CN" altLang="en-US" sz="1634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AA23C78-E721-44BB-B776-EDB7EA16BB0A}"/>
              </a:ext>
            </a:extLst>
          </p:cNvPr>
          <p:cNvSpPr/>
          <p:nvPr/>
        </p:nvSpPr>
        <p:spPr>
          <a:xfrm>
            <a:off x="8687588" y="2171388"/>
            <a:ext cx="2352665" cy="3921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178" b="1" dirty="0">
                <a:solidFill>
                  <a:schemeClr val="tx1"/>
                </a:solidFill>
              </a:rPr>
              <a:t>寄存器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C6326ED-82CE-4A28-8339-FB39DD8AAD7A}"/>
              </a:ext>
            </a:extLst>
          </p:cNvPr>
          <p:cNvSpPr/>
          <p:nvPr/>
        </p:nvSpPr>
        <p:spPr>
          <a:xfrm>
            <a:off x="6522720" y="2835109"/>
            <a:ext cx="5311652" cy="3855756"/>
          </a:xfrm>
          <a:prstGeom prst="rect">
            <a:avLst/>
          </a:prstGeom>
          <a:solidFill>
            <a:schemeClr val="accent1">
              <a:lumMod val="40000"/>
              <a:lumOff val="60000"/>
              <a:alpha val="5294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904" dirty="0">
                <a:solidFill>
                  <a:srgbClr val="FF0000"/>
                </a:solidFill>
              </a:rPr>
              <a:t>内存</a:t>
            </a:r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/>
          </a:p>
          <a:p>
            <a:pPr algn="ctr"/>
            <a:endParaRPr lang="zh-CN" altLang="en-US" sz="1634" dirty="0"/>
          </a:p>
        </p:txBody>
      </p:sp>
      <p:sp>
        <p:nvSpPr>
          <p:cNvPr id="5" name="箭头: 上下 4">
            <a:extLst>
              <a:ext uri="{FF2B5EF4-FFF2-40B4-BE49-F238E27FC236}">
                <a16:creationId xmlns:a16="http://schemas.microsoft.com/office/drawing/2014/main" id="{7257FBE3-1203-4B39-A4C2-4B4086AE11E1}"/>
              </a:ext>
            </a:extLst>
          </p:cNvPr>
          <p:cNvSpPr/>
          <p:nvPr/>
        </p:nvSpPr>
        <p:spPr>
          <a:xfrm>
            <a:off x="10256031" y="2329288"/>
            <a:ext cx="588166" cy="980277"/>
          </a:xfrm>
          <a:prstGeom prst="upDown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4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7B4E56-1873-4266-8203-710C830B2984}"/>
              </a:ext>
            </a:extLst>
          </p:cNvPr>
          <p:cNvSpPr/>
          <p:nvPr/>
        </p:nvSpPr>
        <p:spPr>
          <a:xfrm>
            <a:off x="7707311" y="6223199"/>
            <a:ext cx="3463645" cy="4156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815" b="1" dirty="0"/>
              <a:t>栈空间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18666AC-6B7D-456B-BC6B-593451621CD1}"/>
              </a:ext>
            </a:extLst>
          </p:cNvPr>
          <p:cNvSpPr/>
          <p:nvPr/>
        </p:nvSpPr>
        <p:spPr>
          <a:xfrm>
            <a:off x="6999977" y="5562366"/>
            <a:ext cx="1463441" cy="3594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rgbClr val="00B050"/>
                </a:solidFill>
              </a:rPr>
              <a:t>Task1</a:t>
            </a:r>
            <a:r>
              <a:rPr lang="zh-CN" altLang="en-US" sz="1815" b="1" dirty="0">
                <a:solidFill>
                  <a:srgbClr val="00B050"/>
                </a:solidFill>
              </a:rPr>
              <a:t>堆栈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B953604-F8AD-484E-952E-78A460FD8D85}"/>
              </a:ext>
            </a:extLst>
          </p:cNvPr>
          <p:cNvSpPr/>
          <p:nvPr/>
        </p:nvSpPr>
        <p:spPr>
          <a:xfrm>
            <a:off x="10038374" y="5577025"/>
            <a:ext cx="1463441" cy="3594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rgbClr val="0070C0"/>
                </a:solidFill>
              </a:rPr>
              <a:t>Task2</a:t>
            </a:r>
            <a:r>
              <a:rPr lang="zh-CN" altLang="en-US" sz="1815" b="1" dirty="0">
                <a:solidFill>
                  <a:srgbClr val="0070C0"/>
                </a:solidFill>
              </a:rPr>
              <a:t>堆栈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088E7B7-5699-40F6-9C28-3BB6831724D5}"/>
              </a:ext>
            </a:extLst>
          </p:cNvPr>
          <p:cNvSpPr/>
          <p:nvPr/>
        </p:nvSpPr>
        <p:spPr>
          <a:xfrm>
            <a:off x="6821813" y="3309565"/>
            <a:ext cx="1999231" cy="21730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178" b="1" dirty="0">
                <a:solidFill>
                  <a:srgbClr val="00B050"/>
                </a:solidFill>
              </a:rPr>
              <a:t>void Task1()</a:t>
            </a:r>
          </a:p>
          <a:p>
            <a:r>
              <a:rPr lang="en-US" altLang="zh-CN" sz="2178" b="1" dirty="0">
                <a:solidFill>
                  <a:srgbClr val="00B050"/>
                </a:solidFill>
              </a:rPr>
              <a:t>{  for(;;){</a:t>
            </a:r>
          </a:p>
          <a:p>
            <a:r>
              <a:rPr lang="en-US" altLang="zh-CN" sz="2178" b="1" dirty="0">
                <a:solidFill>
                  <a:srgbClr val="00B050"/>
                </a:solidFill>
              </a:rPr>
              <a:t>    flag1 =1;</a:t>
            </a:r>
          </a:p>
          <a:p>
            <a:r>
              <a:rPr lang="en-US" altLang="zh-CN" sz="2178" b="1" dirty="0">
                <a:solidFill>
                  <a:srgbClr val="00B050"/>
                </a:solidFill>
              </a:rPr>
              <a:t>    delay();</a:t>
            </a:r>
          </a:p>
          <a:p>
            <a:r>
              <a:rPr lang="en-US" altLang="zh-CN" sz="2178" b="1" dirty="0">
                <a:solidFill>
                  <a:srgbClr val="00B050"/>
                </a:solidFill>
              </a:rPr>
              <a:t>    </a:t>
            </a:r>
            <a:r>
              <a:rPr lang="en-US" altLang="zh-CN" sz="2178" b="1" dirty="0" err="1">
                <a:solidFill>
                  <a:srgbClr val="00B050"/>
                </a:solidFill>
              </a:rPr>
              <a:t>OSSched</a:t>
            </a:r>
            <a:r>
              <a:rPr lang="en-US" altLang="zh-CN" sz="2178" b="1" dirty="0">
                <a:solidFill>
                  <a:srgbClr val="00B050"/>
                </a:solidFill>
              </a:rPr>
              <a:t>();}</a:t>
            </a:r>
          </a:p>
          <a:p>
            <a:r>
              <a:rPr lang="en-US" altLang="zh-CN" sz="2178" b="1" dirty="0">
                <a:solidFill>
                  <a:srgbClr val="00B050"/>
                </a:solidFill>
              </a:rPr>
              <a:t>}</a:t>
            </a:r>
            <a:endParaRPr lang="zh-CN" altLang="en-US" sz="2178" b="1" dirty="0">
              <a:solidFill>
                <a:srgbClr val="00B05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034C60B-0030-4CE3-AF3A-AC7F67A59941}"/>
              </a:ext>
            </a:extLst>
          </p:cNvPr>
          <p:cNvSpPr/>
          <p:nvPr/>
        </p:nvSpPr>
        <p:spPr>
          <a:xfrm>
            <a:off x="9713740" y="3330738"/>
            <a:ext cx="1927329" cy="21730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178" b="1" dirty="0">
                <a:solidFill>
                  <a:srgbClr val="0070C0"/>
                </a:solidFill>
              </a:rPr>
              <a:t>void Task2()</a:t>
            </a:r>
          </a:p>
          <a:p>
            <a:r>
              <a:rPr lang="en-US" altLang="zh-CN" sz="2178" b="1" dirty="0">
                <a:solidFill>
                  <a:srgbClr val="0070C0"/>
                </a:solidFill>
              </a:rPr>
              <a:t>{  for(;;){</a:t>
            </a:r>
          </a:p>
          <a:p>
            <a:r>
              <a:rPr lang="en-US" altLang="zh-CN" sz="2178" b="1" dirty="0">
                <a:solidFill>
                  <a:srgbClr val="0070C0"/>
                </a:solidFill>
              </a:rPr>
              <a:t>    flag1 =1;</a:t>
            </a:r>
          </a:p>
          <a:p>
            <a:r>
              <a:rPr lang="en-US" altLang="zh-CN" sz="2178" b="1" dirty="0">
                <a:solidFill>
                  <a:srgbClr val="0070C0"/>
                </a:solidFill>
              </a:rPr>
              <a:t>    delay();</a:t>
            </a:r>
          </a:p>
          <a:p>
            <a:r>
              <a:rPr lang="en-US" altLang="zh-CN" sz="2178" b="1" dirty="0">
                <a:solidFill>
                  <a:srgbClr val="0070C0"/>
                </a:solidFill>
              </a:rPr>
              <a:t>    </a:t>
            </a:r>
            <a:r>
              <a:rPr lang="en-US" altLang="zh-CN" sz="2178" b="1" dirty="0" err="1">
                <a:solidFill>
                  <a:srgbClr val="0070C0"/>
                </a:solidFill>
              </a:rPr>
              <a:t>OSSched</a:t>
            </a:r>
            <a:r>
              <a:rPr lang="en-US" altLang="zh-CN" sz="2178" b="1" dirty="0">
                <a:solidFill>
                  <a:srgbClr val="0070C0"/>
                </a:solidFill>
              </a:rPr>
              <a:t>();}</a:t>
            </a:r>
          </a:p>
          <a:p>
            <a:r>
              <a:rPr lang="en-US" altLang="zh-CN" sz="2178" b="1" dirty="0">
                <a:solidFill>
                  <a:srgbClr val="0070C0"/>
                </a:solidFill>
              </a:rPr>
              <a:t>}</a:t>
            </a:r>
            <a:endParaRPr lang="zh-CN" altLang="en-US" sz="2178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03691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5">
            <a:extLst>
              <a:ext uri="{FF2B5EF4-FFF2-40B4-BE49-F238E27FC236}">
                <a16:creationId xmlns:a16="http://schemas.microsoft.com/office/drawing/2014/main" id="{4F744912-B074-4D12-B9AB-EEAB0DCC84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8710" y="4021120"/>
            <a:ext cx="5586410" cy="23083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typedef  struct  </a:t>
            </a:r>
            <a:r>
              <a:rPr lang="en-US" altLang="zh-CN" sz="24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os_tcb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OS_TCB;</a:t>
            </a:r>
          </a:p>
          <a:p>
            <a:pPr>
              <a:defRPr/>
            </a:pPr>
            <a:r>
              <a:rPr lang="en-US" altLang="zh-CN" sz="24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struct </a:t>
            </a:r>
            <a:r>
              <a:rPr lang="en-US" altLang="zh-CN" sz="2400" b="0" i="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os_tcb</a:t>
            </a:r>
            <a:endParaRPr lang="en-US" altLang="zh-CN" sz="2400" b="0" i="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4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>
              <a:defRPr/>
            </a:pPr>
            <a:r>
              <a:rPr lang="en-US" altLang="zh-CN" sz="24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	CPU_STK         *</a:t>
            </a:r>
            <a:r>
              <a:rPr lang="en-US" altLang="zh-CN" sz="2400" b="0" i="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StkPtr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>
              <a:defRPr/>
            </a:pPr>
            <a:r>
              <a:rPr lang="en-US" altLang="zh-CN" sz="24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	CPU_STK_SIZE    </a:t>
            </a:r>
            <a:r>
              <a:rPr lang="en-US" altLang="zh-CN" sz="2400" b="0" i="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StkSize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>
              <a:defRPr/>
            </a:pPr>
            <a:r>
              <a:rPr lang="en-US" altLang="zh-CN" sz="24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};</a:t>
            </a:r>
            <a:endParaRPr lang="en-US" altLang="zh-CN" sz="24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077941" y="315526"/>
            <a:ext cx="8460231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066277" y="360248"/>
            <a:ext cx="9626613" cy="1284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993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创建任务</a:t>
            </a:r>
            <a:r>
              <a:rPr lang="en-US" altLang="zh-CN" sz="3993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—</a:t>
            </a:r>
            <a:r>
              <a:rPr lang="zh-CN" altLang="en-US" sz="3993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定义任务</a:t>
            </a:r>
            <a:r>
              <a:rPr lang="zh-CN" altLang="en-US" sz="3993" b="1" dirty="0">
                <a:solidFill>
                  <a:srgbClr val="333399"/>
                </a:solidFill>
                <a:latin typeface="Arial" panose="020B0604020202020204" pitchFamily="34" charset="0"/>
              </a:rPr>
              <a:t>控制块 </a:t>
            </a:r>
            <a:r>
              <a:rPr lang="en-US" altLang="zh-CN" sz="3993" b="1" dirty="0">
                <a:solidFill>
                  <a:srgbClr val="333399"/>
                </a:solidFill>
                <a:latin typeface="Arial" panose="020B0604020202020204" pitchFamily="34" charset="0"/>
              </a:rPr>
              <a:t>TCB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</a:rPr>
              <a:t>（</a:t>
            </a:r>
            <a:r>
              <a:rPr lang="en-US" altLang="zh-CN" sz="2800" b="1" dirty="0" err="1">
                <a:solidFill>
                  <a:srgbClr val="FF0000"/>
                </a:solidFill>
                <a:latin typeface="Arial" panose="020B0604020202020204" pitchFamily="34" charset="0"/>
              </a:rPr>
              <a:t>os.h,app.c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  <a:r>
              <a:rPr lang="en-US" altLang="zh-CN" sz="3993" b="1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br>
              <a:rPr lang="en-US" altLang="zh-CN" sz="4000" dirty="0"/>
            </a:br>
            <a:endParaRPr lang="zh-CN" altLang="zh-CN" sz="3267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3010" y="1226688"/>
            <a:ext cx="10238132" cy="26776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z="2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在多任务系统中，任务的执行是由系统调度的。系统为了顺利的调度任务，为每个任务都额外定义了一个任务控制块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TCB</a:t>
            </a:r>
            <a:r>
              <a:rPr lang="zh-CN" altLang="en-US" sz="2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（ 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Task Control Block</a:t>
            </a:r>
            <a:r>
              <a:rPr lang="zh-CN" altLang="en-US" sz="2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），这个任务控制块就相当于任务的身份证，里面存有任务的所有信息，比如任务的堆栈，任务名称，任务的形参等。有了这个任务控制块之后，以后系统对任务的全部操作都可以通过这个 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TCB </a:t>
            </a:r>
            <a:r>
              <a:rPr lang="zh-CN" altLang="en-US" sz="28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来实现。 </a:t>
            </a:r>
            <a:endParaRPr lang="en-US" altLang="zh-CN" sz="28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A4ACB92-152C-4F5D-9DEF-3321FC96A4E3}"/>
              </a:ext>
            </a:extLst>
          </p:cNvPr>
          <p:cNvSpPr/>
          <p:nvPr/>
        </p:nvSpPr>
        <p:spPr>
          <a:xfrm>
            <a:off x="8426180" y="1648573"/>
            <a:ext cx="2744776" cy="1045629"/>
          </a:xfrm>
          <a:prstGeom prst="rect">
            <a:avLst/>
          </a:prstGeom>
          <a:solidFill>
            <a:srgbClr val="FA2812">
              <a:alpha val="5294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904" dirty="0"/>
              <a:t>cpu</a:t>
            </a:r>
          </a:p>
          <a:p>
            <a:pPr algn="ctr"/>
            <a:endParaRPr lang="en-US" altLang="zh-CN" sz="2904" dirty="0"/>
          </a:p>
          <a:p>
            <a:pPr algn="ctr"/>
            <a:endParaRPr lang="zh-CN" altLang="en-US" sz="1634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FC3137B-56E9-4858-AFC7-143AD6680769}"/>
              </a:ext>
            </a:extLst>
          </p:cNvPr>
          <p:cNvSpPr/>
          <p:nvPr/>
        </p:nvSpPr>
        <p:spPr>
          <a:xfrm>
            <a:off x="8687588" y="2171388"/>
            <a:ext cx="2352665" cy="3921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178" b="1" dirty="0">
                <a:solidFill>
                  <a:schemeClr val="tx1"/>
                </a:solidFill>
              </a:rPr>
              <a:t>寄存器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3CC8699-A68D-4116-98E4-458BF3EDA571}"/>
              </a:ext>
            </a:extLst>
          </p:cNvPr>
          <p:cNvSpPr/>
          <p:nvPr/>
        </p:nvSpPr>
        <p:spPr>
          <a:xfrm>
            <a:off x="5863590" y="2835109"/>
            <a:ext cx="5970782" cy="3855756"/>
          </a:xfrm>
          <a:prstGeom prst="rect">
            <a:avLst/>
          </a:prstGeom>
          <a:solidFill>
            <a:schemeClr val="accent1">
              <a:lumMod val="40000"/>
              <a:lumOff val="60000"/>
              <a:alpha val="5294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904" dirty="0">
                <a:solidFill>
                  <a:srgbClr val="FF0000"/>
                </a:solidFill>
              </a:rPr>
              <a:t>内存</a:t>
            </a:r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/>
          </a:p>
          <a:p>
            <a:pPr algn="ctr"/>
            <a:endParaRPr lang="zh-CN" altLang="en-US" sz="1634" dirty="0"/>
          </a:p>
        </p:txBody>
      </p:sp>
      <p:sp>
        <p:nvSpPr>
          <p:cNvPr id="18" name="箭头: 上下 17">
            <a:extLst>
              <a:ext uri="{FF2B5EF4-FFF2-40B4-BE49-F238E27FC236}">
                <a16:creationId xmlns:a16="http://schemas.microsoft.com/office/drawing/2014/main" id="{F2E2834F-A30E-46A1-9D9A-06C7989BF939}"/>
              </a:ext>
            </a:extLst>
          </p:cNvPr>
          <p:cNvSpPr/>
          <p:nvPr/>
        </p:nvSpPr>
        <p:spPr>
          <a:xfrm>
            <a:off x="10256031" y="2329288"/>
            <a:ext cx="588166" cy="980277"/>
          </a:xfrm>
          <a:prstGeom prst="upDown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4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26AC0A6-D9F0-4043-ACE8-6CA2E8898C7E}"/>
              </a:ext>
            </a:extLst>
          </p:cNvPr>
          <p:cNvSpPr/>
          <p:nvPr/>
        </p:nvSpPr>
        <p:spPr>
          <a:xfrm>
            <a:off x="7707311" y="6223199"/>
            <a:ext cx="3463645" cy="4156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815" b="1" dirty="0"/>
              <a:t>栈空间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34EC552-2CA7-49D0-9870-DEE1FE81AB29}"/>
              </a:ext>
            </a:extLst>
          </p:cNvPr>
          <p:cNvSpPr/>
          <p:nvPr/>
        </p:nvSpPr>
        <p:spPr>
          <a:xfrm>
            <a:off x="6337037" y="5562366"/>
            <a:ext cx="1463441" cy="3594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rgbClr val="00B050"/>
                </a:solidFill>
              </a:rPr>
              <a:t>Task1</a:t>
            </a:r>
            <a:r>
              <a:rPr lang="zh-CN" altLang="en-US" sz="1815" b="1" dirty="0">
                <a:solidFill>
                  <a:srgbClr val="00B050"/>
                </a:solidFill>
              </a:rPr>
              <a:t>堆栈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E00C2E0-36FB-46B6-B27A-A4268FD8CBA8}"/>
              </a:ext>
            </a:extLst>
          </p:cNvPr>
          <p:cNvSpPr/>
          <p:nvPr/>
        </p:nvSpPr>
        <p:spPr>
          <a:xfrm>
            <a:off x="10038374" y="5577025"/>
            <a:ext cx="1463441" cy="3594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rgbClr val="0070C0"/>
                </a:solidFill>
              </a:rPr>
              <a:t>Task2</a:t>
            </a:r>
            <a:r>
              <a:rPr lang="zh-CN" altLang="en-US" sz="1815" b="1" dirty="0">
                <a:solidFill>
                  <a:srgbClr val="0070C0"/>
                </a:solidFill>
              </a:rPr>
              <a:t>堆栈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8500467-C125-47D2-8D75-18AAC94EE79B}"/>
              </a:ext>
            </a:extLst>
          </p:cNvPr>
          <p:cNvSpPr/>
          <p:nvPr/>
        </p:nvSpPr>
        <p:spPr>
          <a:xfrm>
            <a:off x="6021713" y="3309565"/>
            <a:ext cx="1999231" cy="21730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178" b="1" dirty="0">
                <a:solidFill>
                  <a:srgbClr val="00B050"/>
                </a:solidFill>
              </a:rPr>
              <a:t>void Task1()</a:t>
            </a:r>
          </a:p>
          <a:p>
            <a:r>
              <a:rPr lang="en-US" altLang="zh-CN" sz="2178" b="1" dirty="0">
                <a:solidFill>
                  <a:srgbClr val="00B050"/>
                </a:solidFill>
              </a:rPr>
              <a:t>{  for(;;){</a:t>
            </a:r>
          </a:p>
          <a:p>
            <a:r>
              <a:rPr lang="en-US" altLang="zh-CN" sz="2178" b="1" dirty="0">
                <a:solidFill>
                  <a:srgbClr val="00B050"/>
                </a:solidFill>
              </a:rPr>
              <a:t>    flag1 =1;</a:t>
            </a:r>
          </a:p>
          <a:p>
            <a:r>
              <a:rPr lang="en-US" altLang="zh-CN" sz="2178" b="1" dirty="0">
                <a:solidFill>
                  <a:srgbClr val="00B050"/>
                </a:solidFill>
              </a:rPr>
              <a:t>    delay();</a:t>
            </a:r>
          </a:p>
          <a:p>
            <a:r>
              <a:rPr lang="en-US" altLang="zh-CN" sz="2178" b="1" dirty="0">
                <a:solidFill>
                  <a:srgbClr val="00B050"/>
                </a:solidFill>
              </a:rPr>
              <a:t>    </a:t>
            </a:r>
            <a:r>
              <a:rPr lang="en-US" altLang="zh-CN" sz="2178" b="1" dirty="0" err="1">
                <a:solidFill>
                  <a:srgbClr val="00B050"/>
                </a:solidFill>
              </a:rPr>
              <a:t>OSSched</a:t>
            </a:r>
            <a:r>
              <a:rPr lang="en-US" altLang="zh-CN" sz="2178" b="1" dirty="0">
                <a:solidFill>
                  <a:srgbClr val="00B050"/>
                </a:solidFill>
              </a:rPr>
              <a:t>();}</a:t>
            </a:r>
          </a:p>
          <a:p>
            <a:r>
              <a:rPr lang="en-US" altLang="zh-CN" sz="2178" b="1" dirty="0">
                <a:solidFill>
                  <a:srgbClr val="00B050"/>
                </a:solidFill>
              </a:rPr>
              <a:t>}</a:t>
            </a:r>
            <a:endParaRPr lang="zh-CN" altLang="en-US" sz="2178" b="1" dirty="0">
              <a:solidFill>
                <a:srgbClr val="00B050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FCF69A7-097F-4093-92D1-B5E5A54F178F}"/>
              </a:ext>
            </a:extLst>
          </p:cNvPr>
          <p:cNvSpPr/>
          <p:nvPr/>
        </p:nvSpPr>
        <p:spPr>
          <a:xfrm>
            <a:off x="9925519" y="3330738"/>
            <a:ext cx="1829850" cy="21730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178" b="1" dirty="0">
                <a:solidFill>
                  <a:srgbClr val="0070C0"/>
                </a:solidFill>
              </a:rPr>
              <a:t>void Task2()</a:t>
            </a:r>
          </a:p>
          <a:p>
            <a:r>
              <a:rPr lang="en-US" altLang="zh-CN" sz="2178" b="1" dirty="0">
                <a:solidFill>
                  <a:srgbClr val="0070C0"/>
                </a:solidFill>
              </a:rPr>
              <a:t>{  for(;;){</a:t>
            </a:r>
          </a:p>
          <a:p>
            <a:r>
              <a:rPr lang="en-US" altLang="zh-CN" sz="2178" b="1" dirty="0">
                <a:solidFill>
                  <a:srgbClr val="0070C0"/>
                </a:solidFill>
              </a:rPr>
              <a:t>    flag1 =1;</a:t>
            </a:r>
          </a:p>
          <a:p>
            <a:r>
              <a:rPr lang="en-US" altLang="zh-CN" sz="2178" b="1" dirty="0">
                <a:solidFill>
                  <a:srgbClr val="0070C0"/>
                </a:solidFill>
              </a:rPr>
              <a:t>    delay();</a:t>
            </a:r>
          </a:p>
          <a:p>
            <a:r>
              <a:rPr lang="en-US" altLang="zh-CN" sz="2178" b="1" dirty="0">
                <a:solidFill>
                  <a:srgbClr val="0070C0"/>
                </a:solidFill>
              </a:rPr>
              <a:t>    </a:t>
            </a:r>
            <a:r>
              <a:rPr lang="en-US" altLang="zh-CN" sz="2178" b="1" dirty="0" err="1">
                <a:solidFill>
                  <a:srgbClr val="0070C0"/>
                </a:solidFill>
              </a:rPr>
              <a:t>OSSched</a:t>
            </a:r>
            <a:r>
              <a:rPr lang="en-US" altLang="zh-CN" sz="2178" b="1" dirty="0">
                <a:solidFill>
                  <a:srgbClr val="0070C0"/>
                </a:solidFill>
              </a:rPr>
              <a:t>();}</a:t>
            </a:r>
          </a:p>
          <a:p>
            <a:r>
              <a:rPr lang="en-US" altLang="zh-CN" sz="2178" b="1" dirty="0">
                <a:solidFill>
                  <a:srgbClr val="0070C0"/>
                </a:solidFill>
              </a:rPr>
              <a:t>}</a:t>
            </a:r>
            <a:endParaRPr lang="zh-CN" altLang="en-US" sz="2178" b="1" dirty="0">
              <a:solidFill>
                <a:srgbClr val="0070C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4CA3858-D3E2-474C-9055-AA0D288DD937}"/>
              </a:ext>
            </a:extLst>
          </p:cNvPr>
          <p:cNvSpPr/>
          <p:nvPr/>
        </p:nvSpPr>
        <p:spPr>
          <a:xfrm>
            <a:off x="8236031" y="3409443"/>
            <a:ext cx="1437740" cy="723992"/>
          </a:xfrm>
          <a:prstGeom prst="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rgbClr val="FF0000"/>
                </a:solidFill>
              </a:rPr>
              <a:t>Task1</a:t>
            </a:r>
          </a:p>
          <a:p>
            <a:pPr algn="ctr"/>
            <a:r>
              <a:rPr lang="en-US" altLang="zh-CN" sz="1815" b="1" dirty="0">
                <a:solidFill>
                  <a:srgbClr val="FF0000"/>
                </a:solidFill>
              </a:rPr>
              <a:t>TCB</a:t>
            </a:r>
            <a:endParaRPr lang="zh-CN" altLang="en-US" sz="1815" b="1" dirty="0">
              <a:solidFill>
                <a:srgbClr val="FF0000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FCD85F6-D70F-41D6-8977-879BAC20278A}"/>
              </a:ext>
            </a:extLst>
          </p:cNvPr>
          <p:cNvSpPr/>
          <p:nvPr/>
        </p:nvSpPr>
        <p:spPr>
          <a:xfrm>
            <a:off x="8236031" y="4622826"/>
            <a:ext cx="1437740" cy="723992"/>
          </a:xfrm>
          <a:prstGeom prst="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rgbClr val="FF0000"/>
                </a:solidFill>
              </a:rPr>
              <a:t>Task2</a:t>
            </a:r>
          </a:p>
          <a:p>
            <a:pPr algn="ctr"/>
            <a:r>
              <a:rPr lang="en-US" altLang="zh-CN" sz="1815" b="1" dirty="0">
                <a:solidFill>
                  <a:srgbClr val="FF0000"/>
                </a:solidFill>
              </a:rPr>
              <a:t>TCB</a:t>
            </a:r>
            <a:endParaRPr lang="zh-CN" altLang="en-US" sz="1815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74739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6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706573" y="11430"/>
            <a:ext cx="11526" cy="11526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032222" y="279058"/>
            <a:ext cx="7767118" cy="956662"/>
          </a:xfrm>
          <a:prstGeom prst="rect">
            <a:avLst/>
          </a:prstGeom>
          <a:blipFill dpi="0" rotWithShape="0">
            <a:blip r:embed="rId7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110065" y="360113"/>
            <a:ext cx="7220913" cy="1284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993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创建任务</a:t>
            </a:r>
            <a:r>
              <a:rPr lang="en-US" altLang="zh-CN" sz="3993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--</a:t>
            </a:r>
            <a:r>
              <a:rPr lang="zh-CN" altLang="en-US" sz="3600" b="1" i="0" dirty="0">
                <a:solidFill>
                  <a:srgbClr val="0070C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实现任务创建函数</a:t>
            </a:r>
            <a:r>
              <a:rPr lang="zh-CN" altLang="en-US" sz="3600" b="1" dirty="0">
                <a:solidFill>
                  <a:srgbClr val="0070C0"/>
                </a:solidFill>
              </a:rPr>
              <a:t> </a:t>
            </a:r>
            <a:br>
              <a:rPr lang="zh-CN" altLang="en-US" sz="3600" b="1" dirty="0">
                <a:solidFill>
                  <a:srgbClr val="0070C0"/>
                </a:solidFill>
              </a:rPr>
            </a:br>
            <a:endParaRPr lang="zh-CN" altLang="zh-CN" sz="3600" b="1" dirty="0">
              <a:solidFill>
                <a:srgbClr val="0070C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A90B5875-E5FE-4FD0-9B72-EA130F00848F}"/>
              </a:ext>
            </a:extLst>
          </p:cNvPr>
          <p:cNvGrpSpPr/>
          <p:nvPr/>
        </p:nvGrpSpPr>
        <p:grpSpPr>
          <a:xfrm>
            <a:off x="8277910" y="47110"/>
            <a:ext cx="3725053" cy="1045629"/>
            <a:chOff x="6282804" y="177850"/>
            <a:chExt cx="3024336" cy="1152128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35FA3C1D-58B8-4E25-9B07-6D9C7E2F076D}"/>
                </a:ext>
              </a:extLst>
            </p:cNvPr>
            <p:cNvSpPr/>
            <p:nvPr/>
          </p:nvSpPr>
          <p:spPr>
            <a:xfrm>
              <a:off x="6282804" y="177850"/>
              <a:ext cx="3024336" cy="1152128"/>
            </a:xfrm>
            <a:prstGeom prst="rect">
              <a:avLst/>
            </a:prstGeom>
            <a:solidFill>
              <a:srgbClr val="FA2812">
                <a:alpha val="52941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904" dirty="0"/>
                <a:t>cpu</a:t>
              </a:r>
            </a:p>
            <a:p>
              <a:pPr algn="ctr"/>
              <a:endParaRPr lang="en-US" altLang="zh-CN" sz="2904" dirty="0"/>
            </a:p>
            <a:p>
              <a:pPr algn="ctr"/>
              <a:endParaRPr lang="zh-CN" altLang="en-US" sz="1634" dirty="0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AAA23C78-E721-44BB-B776-EDB7EA16BB0A}"/>
                </a:ext>
              </a:extLst>
            </p:cNvPr>
            <p:cNvSpPr/>
            <p:nvPr/>
          </p:nvSpPr>
          <p:spPr>
            <a:xfrm>
              <a:off x="6498828" y="681906"/>
              <a:ext cx="2592288" cy="4320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178" b="1" dirty="0">
                  <a:solidFill>
                    <a:schemeClr val="tx1"/>
                  </a:solidFill>
                </a:rPr>
                <a:t>寄存器</a:t>
              </a:r>
            </a:p>
          </p:txBody>
        </p: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5C6326ED-82CE-4A28-8339-FB39DD8AAD7A}"/>
              </a:ext>
            </a:extLst>
          </p:cNvPr>
          <p:cNvSpPr/>
          <p:nvPr/>
        </p:nvSpPr>
        <p:spPr>
          <a:xfrm>
            <a:off x="5589270" y="1404896"/>
            <a:ext cx="6479043" cy="5196906"/>
          </a:xfrm>
          <a:prstGeom prst="rect">
            <a:avLst/>
          </a:prstGeom>
          <a:solidFill>
            <a:schemeClr val="accent1">
              <a:lumMod val="40000"/>
              <a:lumOff val="60000"/>
              <a:alpha val="5294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904" dirty="0">
                <a:solidFill>
                  <a:srgbClr val="FF0000"/>
                </a:solidFill>
              </a:rPr>
              <a:t>内存</a:t>
            </a:r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>
              <a:solidFill>
                <a:srgbClr val="FF0000"/>
              </a:solidFill>
            </a:endParaRPr>
          </a:p>
          <a:p>
            <a:pPr algn="ctr"/>
            <a:endParaRPr lang="en-US" altLang="zh-CN" sz="2904" dirty="0"/>
          </a:p>
          <a:p>
            <a:pPr algn="ctr"/>
            <a:endParaRPr lang="zh-CN" altLang="en-US" sz="1634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79EEC78-FA37-44E5-80C3-06B3067C4C3D}"/>
              </a:ext>
            </a:extLst>
          </p:cNvPr>
          <p:cNvSpPr/>
          <p:nvPr/>
        </p:nvSpPr>
        <p:spPr>
          <a:xfrm>
            <a:off x="5813123" y="2353925"/>
            <a:ext cx="1999231" cy="21730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178" b="1" dirty="0">
                <a:solidFill>
                  <a:srgbClr val="FF0000"/>
                </a:solidFill>
              </a:rPr>
              <a:t>void Task1()</a:t>
            </a:r>
          </a:p>
          <a:p>
            <a:r>
              <a:rPr lang="en-US" altLang="zh-CN" sz="2178" b="1" dirty="0">
                <a:solidFill>
                  <a:srgbClr val="FF0000"/>
                </a:solidFill>
              </a:rPr>
              <a:t>{  for(;;){</a:t>
            </a:r>
          </a:p>
          <a:p>
            <a:r>
              <a:rPr lang="en-US" altLang="zh-CN" sz="2178" b="1" dirty="0">
                <a:solidFill>
                  <a:srgbClr val="FF0000"/>
                </a:solidFill>
              </a:rPr>
              <a:t>    flag1 =1;</a:t>
            </a:r>
          </a:p>
          <a:p>
            <a:r>
              <a:rPr lang="en-US" altLang="zh-CN" sz="2178" b="1" dirty="0">
                <a:solidFill>
                  <a:srgbClr val="FF0000"/>
                </a:solidFill>
              </a:rPr>
              <a:t>    delay();</a:t>
            </a:r>
          </a:p>
          <a:p>
            <a:r>
              <a:rPr lang="en-US" altLang="zh-CN" sz="2178" b="1" dirty="0">
                <a:solidFill>
                  <a:srgbClr val="FF0000"/>
                </a:solidFill>
              </a:rPr>
              <a:t>    </a:t>
            </a:r>
            <a:r>
              <a:rPr lang="en-US" altLang="zh-CN" sz="2178" b="1" dirty="0" err="1">
                <a:solidFill>
                  <a:srgbClr val="FF0000"/>
                </a:solidFill>
              </a:rPr>
              <a:t>OSSched</a:t>
            </a:r>
            <a:r>
              <a:rPr lang="en-US" altLang="zh-CN" sz="2178" b="1" dirty="0">
                <a:solidFill>
                  <a:srgbClr val="FF0000"/>
                </a:solidFill>
              </a:rPr>
              <a:t>();}</a:t>
            </a:r>
          </a:p>
          <a:p>
            <a:r>
              <a:rPr lang="en-US" altLang="zh-CN" sz="2178" b="1" dirty="0">
                <a:solidFill>
                  <a:srgbClr val="FF0000"/>
                </a:solidFill>
              </a:rPr>
              <a:t>}</a:t>
            </a:r>
            <a:endParaRPr lang="zh-CN" altLang="en-US" sz="2178" b="1" dirty="0">
              <a:solidFill>
                <a:srgbClr val="FF0000"/>
              </a:solidFill>
            </a:endParaRPr>
          </a:p>
        </p:txBody>
      </p:sp>
      <p:sp>
        <p:nvSpPr>
          <p:cNvPr id="5" name="箭头: 上下 4">
            <a:extLst>
              <a:ext uri="{FF2B5EF4-FFF2-40B4-BE49-F238E27FC236}">
                <a16:creationId xmlns:a16="http://schemas.microsoft.com/office/drawing/2014/main" id="{7257FBE3-1203-4B39-A4C2-4B4086AE11E1}"/>
              </a:ext>
            </a:extLst>
          </p:cNvPr>
          <p:cNvSpPr/>
          <p:nvPr/>
        </p:nvSpPr>
        <p:spPr>
          <a:xfrm>
            <a:off x="11088037" y="818239"/>
            <a:ext cx="588166" cy="1249803"/>
          </a:xfrm>
          <a:prstGeom prst="upDown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4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7B4E56-1873-4266-8203-710C830B2984}"/>
              </a:ext>
            </a:extLst>
          </p:cNvPr>
          <p:cNvSpPr/>
          <p:nvPr/>
        </p:nvSpPr>
        <p:spPr>
          <a:xfrm>
            <a:off x="6139883" y="1540106"/>
            <a:ext cx="1437740" cy="7239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rgbClr val="FF0000"/>
                </a:solidFill>
              </a:rPr>
              <a:t>Task1</a:t>
            </a:r>
            <a:r>
              <a:rPr lang="zh-CN" altLang="en-US" sz="1815" b="1" dirty="0">
                <a:solidFill>
                  <a:srgbClr val="FF0000"/>
                </a:solidFill>
              </a:rPr>
              <a:t>堆栈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F4F728A-0425-49C7-B642-0C0CA8582E38}"/>
              </a:ext>
            </a:extLst>
          </p:cNvPr>
          <p:cNvSpPr/>
          <p:nvPr/>
        </p:nvSpPr>
        <p:spPr>
          <a:xfrm>
            <a:off x="9672180" y="1617459"/>
            <a:ext cx="1887360" cy="10398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178" b="1" dirty="0">
                <a:solidFill>
                  <a:srgbClr val="0070C0"/>
                </a:solidFill>
              </a:rPr>
              <a:t>任务就绪位表</a:t>
            </a:r>
            <a:endParaRPr lang="en-US" altLang="zh-CN" sz="2178" b="1" dirty="0">
              <a:solidFill>
                <a:srgbClr val="0070C0"/>
              </a:solidFill>
            </a:endParaRPr>
          </a:p>
          <a:p>
            <a:endParaRPr lang="en-US" altLang="zh-CN" sz="2178" b="1" dirty="0">
              <a:solidFill>
                <a:srgbClr val="0070C0"/>
              </a:solidFill>
            </a:endParaRPr>
          </a:p>
          <a:p>
            <a:endParaRPr lang="zh-CN" altLang="en-US" sz="2178" b="1" dirty="0">
              <a:solidFill>
                <a:srgbClr val="0070C0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C024810-07A4-4CA9-A3E9-DC646D0FF3E9}"/>
              </a:ext>
            </a:extLst>
          </p:cNvPr>
          <p:cNvSpPr/>
          <p:nvPr/>
        </p:nvSpPr>
        <p:spPr>
          <a:xfrm>
            <a:off x="5682809" y="5892877"/>
            <a:ext cx="6054079" cy="4574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815" b="1" dirty="0">
                <a:solidFill>
                  <a:schemeClr val="accent6">
                    <a:lumMod val="75000"/>
                  </a:schemeClr>
                </a:solidFill>
              </a:rPr>
              <a:t>系统栈空间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F0E97D1-6D2D-4AB8-BB45-0E3D2C2A6CE2}"/>
              </a:ext>
            </a:extLst>
          </p:cNvPr>
          <p:cNvSpPr/>
          <p:nvPr/>
        </p:nvSpPr>
        <p:spPr>
          <a:xfrm>
            <a:off x="8021746" y="2375603"/>
            <a:ext cx="1437740" cy="1447037"/>
          </a:xfrm>
          <a:prstGeom prst="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15" b="1" dirty="0">
                <a:solidFill>
                  <a:srgbClr val="FF0000"/>
                </a:solidFill>
              </a:rPr>
              <a:t>Task1 TCB</a:t>
            </a:r>
          </a:p>
          <a:p>
            <a:pPr algn="ctr"/>
            <a:endParaRPr lang="en-US" altLang="zh-CN" sz="1815" b="1" dirty="0">
              <a:solidFill>
                <a:srgbClr val="FF0000"/>
              </a:solidFill>
            </a:endParaRPr>
          </a:p>
          <a:p>
            <a:pPr algn="ctr"/>
            <a:r>
              <a:rPr lang="en-US" altLang="zh-CN" sz="1800" dirty="0" err="1">
                <a:latin typeface="Courier New" panose="02070309020205020404" pitchFamily="49" charset="0"/>
              </a:rPr>
              <a:t>StkPtr</a:t>
            </a:r>
            <a:endParaRPr lang="en-US" altLang="zh-CN" sz="1815" b="1" dirty="0">
              <a:solidFill>
                <a:srgbClr val="FF0000"/>
              </a:solidFill>
            </a:endParaRPr>
          </a:p>
          <a:p>
            <a:pPr algn="ctr"/>
            <a:r>
              <a:rPr lang="en-US" altLang="zh-CN" sz="1800" dirty="0" err="1">
                <a:latin typeface="Courier New" panose="02070309020205020404" pitchFamily="49" charset="0"/>
              </a:rPr>
              <a:t>StkSize</a:t>
            </a:r>
            <a:endParaRPr lang="zh-CN" altLang="en-US" sz="1815" b="1" dirty="0">
              <a:solidFill>
                <a:srgbClr val="FF0000"/>
              </a:solidFill>
            </a:endParaRPr>
          </a:p>
        </p:txBody>
      </p:sp>
      <p:graphicFrame>
        <p:nvGraphicFramePr>
          <p:cNvPr id="8" name="表格 14">
            <a:extLst>
              <a:ext uri="{FF2B5EF4-FFF2-40B4-BE49-F238E27FC236}">
                <a16:creationId xmlns:a16="http://schemas.microsoft.com/office/drawing/2014/main" id="{961598D0-276A-4F9E-A51E-1A990FAFE9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78962"/>
              </p:ext>
            </p:extLst>
          </p:nvPr>
        </p:nvGraphicFramePr>
        <p:xfrm>
          <a:off x="5714999" y="4797944"/>
          <a:ext cx="5952616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3091">
                  <a:extLst>
                    <a:ext uri="{9D8B030D-6E8A-4147-A177-3AD203B41FA5}">
                      <a16:colId xmlns:a16="http://schemas.microsoft.com/office/drawing/2014/main" val="2110415963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156684374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782772480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925321111"/>
                    </a:ext>
                  </a:extLst>
                </a:gridCol>
                <a:gridCol w="843405">
                  <a:extLst>
                    <a:ext uri="{9D8B030D-6E8A-4147-A177-3AD203B41FA5}">
                      <a16:colId xmlns:a16="http://schemas.microsoft.com/office/drawing/2014/main" val="1001451586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系统调用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510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创建任务</a:t>
                      </a:r>
                      <a:r>
                        <a:rPr lang="en-US" altLang="zh-CN" sz="18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OSTaskCreate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 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839410"/>
                  </a:ext>
                </a:extLst>
              </a:tr>
            </a:tbl>
          </a:graphicData>
        </a:graphic>
      </p:graphicFrame>
      <p:graphicFrame>
        <p:nvGraphicFramePr>
          <p:cNvPr id="15" name="表格 15">
            <a:extLst>
              <a:ext uri="{FF2B5EF4-FFF2-40B4-BE49-F238E27FC236}">
                <a16:creationId xmlns:a16="http://schemas.microsoft.com/office/drawing/2014/main" id="{528E0EAC-8632-447C-A563-4D98217968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6982179"/>
              </p:ext>
            </p:extLst>
          </p:nvPr>
        </p:nvGraphicFramePr>
        <p:xfrm>
          <a:off x="9709845" y="2758548"/>
          <a:ext cx="1767840" cy="1870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>
                  <a:extLst>
                    <a:ext uri="{9D8B030D-6E8A-4147-A177-3AD203B41FA5}">
                      <a16:colId xmlns:a16="http://schemas.microsoft.com/office/drawing/2014/main" val="361914019"/>
                    </a:ext>
                  </a:extLst>
                </a:gridCol>
              </a:tblGrid>
              <a:tr h="309332">
                <a:tc>
                  <a:txBody>
                    <a:bodyPr/>
                    <a:lstStyle/>
                    <a:p>
                      <a:r>
                        <a:rPr lang="zh-CN" altLang="en-US" sz="1800" b="1" dirty="0">
                          <a:solidFill>
                            <a:schemeClr val="bg1"/>
                          </a:solidFill>
                        </a:rPr>
                        <a:t>任务就绪列表</a:t>
                      </a:r>
                      <a:endParaRPr lang="en-US" altLang="zh-CN" sz="18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140824"/>
                  </a:ext>
                </a:extLst>
              </a:tr>
              <a:tr h="309332"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041042"/>
                  </a:ext>
                </a:extLst>
              </a:tr>
              <a:tr h="309332"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957176"/>
                  </a:ext>
                </a:extLst>
              </a:tr>
              <a:tr h="309332"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9420569"/>
                  </a:ext>
                </a:extLst>
              </a:tr>
              <a:tr h="407180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9887659"/>
                  </a:ext>
                </a:extLst>
              </a:tr>
            </a:tbl>
          </a:graphicData>
        </a:graphic>
      </p:graphicFrame>
      <p:sp>
        <p:nvSpPr>
          <p:cNvPr id="17" name="文本框 5">
            <a:extLst>
              <a:ext uri="{FF2B5EF4-FFF2-40B4-BE49-F238E27FC236}">
                <a16:creationId xmlns:a16="http://schemas.microsoft.com/office/drawing/2014/main" id="{4D65C408-DBA2-473C-BD71-D0B19263B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546" y="1168820"/>
            <a:ext cx="6479043" cy="563231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000" dirty="0">
                <a:latin typeface="Courier New" panose="02070309020205020404" pitchFamily="49" charset="0"/>
              </a:rPr>
              <a:t>void </a:t>
            </a:r>
            <a:r>
              <a:rPr lang="en-US" altLang="zh-CN" sz="2000" dirty="0" err="1">
                <a:latin typeface="Courier New" panose="02070309020205020404" pitchFamily="49" charset="0"/>
              </a:rPr>
              <a:t>OSTaskCreate</a:t>
            </a:r>
            <a:r>
              <a:rPr lang="en-US" altLang="zh-CN" sz="2000" dirty="0">
                <a:latin typeface="Courier New" panose="02070309020205020404" pitchFamily="49" charset="0"/>
              </a:rPr>
              <a:t> (OS_TCB        *</a:t>
            </a:r>
            <a:r>
              <a:rPr lang="en-US" altLang="zh-CN" sz="2000" dirty="0" err="1">
                <a:latin typeface="Courier New" panose="02070309020205020404" pitchFamily="49" charset="0"/>
              </a:rPr>
              <a:t>p_tcb</a:t>
            </a:r>
            <a:r>
              <a:rPr lang="en-US" altLang="zh-CN" sz="2000" dirty="0">
                <a:latin typeface="Courier New" panose="02070309020205020404" pitchFamily="49" charset="0"/>
              </a:rPr>
              <a:t>, </a:t>
            </a:r>
          </a:p>
          <a:p>
            <a:pPr>
              <a:defRPr/>
            </a:pPr>
            <a:r>
              <a:rPr lang="en-US" altLang="zh-CN" sz="2000" dirty="0">
                <a:latin typeface="Courier New" panose="02070309020205020404" pitchFamily="49" charset="0"/>
              </a:rPr>
              <a:t>              OS_TASK_PTR   </a:t>
            </a:r>
            <a:r>
              <a:rPr lang="en-US" altLang="zh-CN" sz="2000" dirty="0" err="1">
                <a:latin typeface="Courier New" panose="02070309020205020404" pitchFamily="49" charset="0"/>
              </a:rPr>
              <a:t>p_task</a:t>
            </a:r>
            <a:r>
              <a:rPr lang="en-US" altLang="zh-CN" sz="2000" dirty="0">
                <a:latin typeface="Courier New" panose="02070309020205020404" pitchFamily="49" charset="0"/>
              </a:rPr>
              <a:t>, </a:t>
            </a:r>
          </a:p>
          <a:p>
            <a:pPr>
              <a:defRPr/>
            </a:pPr>
            <a:r>
              <a:rPr lang="en-US" altLang="zh-CN" sz="2000" dirty="0">
                <a:latin typeface="Courier New" panose="02070309020205020404" pitchFamily="49" charset="0"/>
              </a:rPr>
              <a:t>              void          *</a:t>
            </a:r>
            <a:r>
              <a:rPr lang="en-US" altLang="zh-CN" sz="2000" dirty="0" err="1">
                <a:latin typeface="Courier New" panose="02070309020205020404" pitchFamily="49" charset="0"/>
              </a:rPr>
              <a:t>p_arg</a:t>
            </a:r>
            <a:r>
              <a:rPr lang="en-US" altLang="zh-CN" sz="2000" dirty="0">
                <a:latin typeface="Courier New" panose="02070309020205020404" pitchFamily="49" charset="0"/>
              </a:rPr>
              <a:t>,</a:t>
            </a:r>
          </a:p>
          <a:p>
            <a:pPr>
              <a:defRPr/>
            </a:pPr>
            <a:r>
              <a:rPr lang="en-US" altLang="zh-CN" sz="2000" dirty="0">
                <a:latin typeface="Courier New" panose="02070309020205020404" pitchFamily="49" charset="0"/>
              </a:rPr>
              <a:t>              CPU_STK       *</a:t>
            </a:r>
            <a:r>
              <a:rPr lang="en-US" altLang="zh-CN" sz="2000" dirty="0" err="1">
                <a:latin typeface="Courier New" panose="02070309020205020404" pitchFamily="49" charset="0"/>
              </a:rPr>
              <a:t>p_stk_base</a:t>
            </a:r>
            <a:r>
              <a:rPr lang="en-US" altLang="zh-CN" sz="2000" dirty="0">
                <a:latin typeface="Courier New" panose="02070309020205020404" pitchFamily="49" charset="0"/>
              </a:rPr>
              <a:t>,</a:t>
            </a:r>
          </a:p>
          <a:p>
            <a:pPr>
              <a:defRPr/>
            </a:pPr>
            <a:r>
              <a:rPr lang="en-US" altLang="zh-CN" sz="2000" dirty="0">
                <a:latin typeface="Courier New" panose="02070309020205020404" pitchFamily="49" charset="0"/>
              </a:rPr>
              <a:t>              CPU_STK_SIZE  </a:t>
            </a:r>
            <a:r>
              <a:rPr lang="en-US" altLang="zh-CN" sz="2000" dirty="0" err="1">
                <a:latin typeface="Courier New" panose="02070309020205020404" pitchFamily="49" charset="0"/>
              </a:rPr>
              <a:t>stk_size</a:t>
            </a:r>
            <a:r>
              <a:rPr lang="en-US" altLang="zh-CN" sz="2000" dirty="0">
                <a:latin typeface="Courier New" panose="02070309020205020404" pitchFamily="49" charset="0"/>
              </a:rPr>
              <a:t>,</a:t>
            </a:r>
          </a:p>
          <a:p>
            <a:pPr>
              <a:defRPr/>
            </a:pPr>
            <a:r>
              <a:rPr lang="en-US" altLang="zh-CN" sz="2000" dirty="0">
                <a:latin typeface="Courier New" panose="02070309020205020404" pitchFamily="49" charset="0"/>
              </a:rPr>
              <a:t>              OS_ERR        *</a:t>
            </a:r>
            <a:r>
              <a:rPr lang="en-US" altLang="zh-CN" sz="2000" dirty="0" err="1">
                <a:latin typeface="Courier New" panose="02070309020205020404" pitchFamily="49" charset="0"/>
              </a:rPr>
              <a:t>p_err</a:t>
            </a:r>
            <a:r>
              <a:rPr lang="en-US" altLang="zh-CN" sz="2000" dirty="0">
                <a:latin typeface="Courier New" panose="02070309020205020404" pitchFamily="49" charset="0"/>
              </a:rPr>
              <a:t>)</a:t>
            </a:r>
          </a:p>
          <a:p>
            <a:pPr>
              <a:defRPr/>
            </a:pPr>
            <a:r>
              <a:rPr lang="en-US" altLang="zh-CN" sz="2000" dirty="0">
                <a:latin typeface="Courier New" panose="02070309020205020404" pitchFamily="49" charset="0"/>
              </a:rPr>
              <a:t>{</a:t>
            </a:r>
          </a:p>
          <a:p>
            <a:pPr>
              <a:defRPr/>
            </a:pPr>
            <a:r>
              <a:rPr lang="en-US" altLang="zh-CN" sz="2000" dirty="0">
                <a:latin typeface="Courier New" panose="02070309020205020404" pitchFamily="49" charset="0"/>
              </a:rPr>
              <a:t>	CPU_STK       *</a:t>
            </a:r>
            <a:r>
              <a:rPr lang="en-US" altLang="zh-CN" sz="2000" dirty="0" err="1">
                <a:latin typeface="Courier New" panose="02070309020205020404" pitchFamily="49" charset="0"/>
              </a:rPr>
              <a:t>p_sp</a:t>
            </a:r>
            <a:r>
              <a:rPr lang="en-US" altLang="zh-CN" sz="2000" dirty="0">
                <a:latin typeface="Courier New" panose="02070309020205020404" pitchFamily="49" charset="0"/>
              </a:rPr>
              <a:t>;</a:t>
            </a:r>
          </a:p>
          <a:p>
            <a:pPr>
              <a:defRPr/>
            </a:pPr>
            <a:endParaRPr lang="en-US" altLang="zh-CN" sz="2000" dirty="0"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dirty="0">
                <a:latin typeface="Courier New" panose="02070309020205020404" pitchFamily="49" charset="0"/>
              </a:rPr>
              <a:t>	</a:t>
            </a:r>
            <a:r>
              <a:rPr lang="en-US" altLang="zh-CN" sz="2000" dirty="0" err="1">
                <a:latin typeface="Courier New" panose="02070309020205020404" pitchFamily="49" charset="0"/>
              </a:rPr>
              <a:t>p_sp</a:t>
            </a:r>
            <a:r>
              <a:rPr lang="en-US" altLang="zh-CN" sz="2000" dirty="0">
                <a:latin typeface="Courier New" panose="02070309020205020404" pitchFamily="49" charset="0"/>
              </a:rPr>
              <a:t> = </a:t>
            </a:r>
            <a:r>
              <a:rPr lang="en-US" altLang="zh-CN" sz="2000" dirty="0" err="1">
                <a:solidFill>
                  <a:srgbClr val="FF0000"/>
                </a:solidFill>
                <a:latin typeface="Courier New" panose="02070309020205020404" pitchFamily="49" charset="0"/>
              </a:rPr>
              <a:t>OSTaskStkInit</a:t>
            </a:r>
            <a:r>
              <a:rPr lang="en-US" altLang="zh-CN" sz="2000" dirty="0">
                <a:latin typeface="Courier New" panose="02070309020205020404" pitchFamily="49" charset="0"/>
              </a:rPr>
              <a:t> (</a:t>
            </a:r>
            <a:r>
              <a:rPr lang="en-US" altLang="zh-CN" sz="2000" dirty="0" err="1">
                <a:latin typeface="Courier New" panose="02070309020205020404" pitchFamily="49" charset="0"/>
              </a:rPr>
              <a:t>p_task</a:t>
            </a:r>
            <a:r>
              <a:rPr lang="en-US" altLang="zh-CN" sz="2000" dirty="0">
                <a:latin typeface="Courier New" panose="02070309020205020404" pitchFamily="49" charset="0"/>
              </a:rPr>
              <a:t>,</a:t>
            </a:r>
          </a:p>
          <a:p>
            <a:pPr>
              <a:defRPr/>
            </a:pPr>
            <a:r>
              <a:rPr lang="en-US" altLang="zh-CN" sz="2000" dirty="0">
                <a:latin typeface="Courier New" panose="02070309020205020404" pitchFamily="49" charset="0"/>
              </a:rPr>
              <a:t>	            </a:t>
            </a:r>
            <a:r>
              <a:rPr lang="en-US" altLang="zh-CN" sz="2000" dirty="0" err="1">
                <a:latin typeface="Courier New" panose="02070309020205020404" pitchFamily="49" charset="0"/>
              </a:rPr>
              <a:t>p_arg</a:t>
            </a:r>
            <a:r>
              <a:rPr lang="en-US" altLang="zh-CN" sz="2000" dirty="0">
                <a:latin typeface="Courier New" panose="02070309020205020404" pitchFamily="49" charset="0"/>
              </a:rPr>
              <a:t>,</a:t>
            </a:r>
          </a:p>
          <a:p>
            <a:pPr>
              <a:defRPr/>
            </a:pPr>
            <a:r>
              <a:rPr lang="en-US" altLang="zh-CN" sz="2000" dirty="0">
                <a:latin typeface="Courier New" panose="02070309020205020404" pitchFamily="49" charset="0"/>
              </a:rPr>
              <a:t>	            </a:t>
            </a:r>
            <a:r>
              <a:rPr lang="en-US" altLang="zh-CN" sz="2000" dirty="0" err="1">
                <a:latin typeface="Courier New" panose="02070309020205020404" pitchFamily="49" charset="0"/>
              </a:rPr>
              <a:t>p_stk_base</a:t>
            </a:r>
            <a:r>
              <a:rPr lang="en-US" altLang="zh-CN" sz="2000" dirty="0">
                <a:latin typeface="Courier New" panose="02070309020205020404" pitchFamily="49" charset="0"/>
              </a:rPr>
              <a:t>,</a:t>
            </a:r>
          </a:p>
          <a:p>
            <a:pPr>
              <a:defRPr/>
            </a:pPr>
            <a:r>
              <a:rPr lang="en-US" altLang="zh-CN" sz="2000" dirty="0">
                <a:latin typeface="Courier New" panose="02070309020205020404" pitchFamily="49" charset="0"/>
              </a:rPr>
              <a:t>	            </a:t>
            </a:r>
            <a:r>
              <a:rPr lang="en-US" altLang="zh-CN" sz="2000" dirty="0" err="1">
                <a:latin typeface="Courier New" panose="02070309020205020404" pitchFamily="49" charset="0"/>
              </a:rPr>
              <a:t>stk_size</a:t>
            </a:r>
            <a:r>
              <a:rPr lang="en-US" altLang="zh-CN" sz="2000" dirty="0">
                <a:latin typeface="Courier New" panose="02070309020205020404" pitchFamily="49" charset="0"/>
              </a:rPr>
              <a:t>);</a:t>
            </a:r>
          </a:p>
          <a:p>
            <a:pPr>
              <a:defRPr/>
            </a:pPr>
            <a:r>
              <a:rPr lang="en-US" altLang="zh-CN" sz="2000" dirty="0">
                <a:latin typeface="Courier New" panose="02070309020205020404" pitchFamily="49" charset="0"/>
              </a:rPr>
              <a:t>	</a:t>
            </a:r>
            <a:r>
              <a:rPr lang="en-US" altLang="zh-CN" sz="2000" dirty="0" err="1">
                <a:latin typeface="Courier New" panose="02070309020205020404" pitchFamily="49" charset="0"/>
              </a:rPr>
              <a:t>p_tcb</a:t>
            </a:r>
            <a:r>
              <a:rPr lang="en-US" altLang="zh-CN" sz="2000" dirty="0">
                <a:latin typeface="Courier New" panose="02070309020205020404" pitchFamily="49" charset="0"/>
              </a:rPr>
              <a:t>-&gt;</a:t>
            </a:r>
            <a:r>
              <a:rPr lang="en-US" altLang="zh-CN" sz="2000" dirty="0" err="1">
                <a:latin typeface="Courier New" panose="02070309020205020404" pitchFamily="49" charset="0"/>
              </a:rPr>
              <a:t>StkPtr</a:t>
            </a:r>
            <a:r>
              <a:rPr lang="en-US" altLang="zh-CN" sz="2000" dirty="0">
                <a:latin typeface="Courier New" panose="02070309020205020404" pitchFamily="49" charset="0"/>
              </a:rPr>
              <a:t> = </a:t>
            </a:r>
            <a:r>
              <a:rPr lang="en-US" altLang="zh-CN" sz="2000" dirty="0" err="1">
                <a:latin typeface="Courier New" panose="02070309020205020404" pitchFamily="49" charset="0"/>
              </a:rPr>
              <a:t>p_sp</a:t>
            </a:r>
            <a:r>
              <a:rPr lang="en-US" altLang="zh-CN" sz="2000" dirty="0">
                <a:latin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US" altLang="zh-CN" sz="2000" dirty="0">
                <a:latin typeface="Courier New" panose="02070309020205020404" pitchFamily="49" charset="0"/>
              </a:rPr>
              <a:t>	</a:t>
            </a:r>
            <a:r>
              <a:rPr lang="en-US" altLang="zh-CN" sz="2000" dirty="0" err="1">
                <a:latin typeface="Courier New" panose="02070309020205020404" pitchFamily="49" charset="0"/>
              </a:rPr>
              <a:t>p_tcb</a:t>
            </a:r>
            <a:r>
              <a:rPr lang="en-US" altLang="zh-CN" sz="2000" dirty="0">
                <a:latin typeface="Courier New" panose="02070309020205020404" pitchFamily="49" charset="0"/>
              </a:rPr>
              <a:t>-&gt;</a:t>
            </a:r>
            <a:r>
              <a:rPr lang="en-US" altLang="zh-CN" sz="2000" dirty="0" err="1">
                <a:latin typeface="Courier New" panose="02070309020205020404" pitchFamily="49" charset="0"/>
              </a:rPr>
              <a:t>StkSize</a:t>
            </a:r>
            <a:r>
              <a:rPr lang="en-US" altLang="zh-CN" sz="2000" dirty="0">
                <a:latin typeface="Courier New" panose="02070309020205020404" pitchFamily="49" charset="0"/>
              </a:rPr>
              <a:t> = </a:t>
            </a:r>
            <a:r>
              <a:rPr lang="en-US" altLang="zh-CN" sz="2000" dirty="0" err="1">
                <a:latin typeface="Courier New" panose="02070309020205020404" pitchFamily="49" charset="0"/>
              </a:rPr>
              <a:t>stk_size</a:t>
            </a:r>
            <a:r>
              <a:rPr lang="en-US" altLang="zh-CN" sz="2000" dirty="0">
                <a:latin typeface="Courier New" panose="02070309020205020404" pitchFamily="49" charset="0"/>
              </a:rPr>
              <a:t>;</a:t>
            </a:r>
          </a:p>
          <a:p>
            <a:pPr>
              <a:defRPr/>
            </a:pPr>
            <a:endParaRPr lang="en-US" altLang="zh-CN" sz="2000" dirty="0"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US" altLang="zh-CN" sz="2000" dirty="0">
                <a:latin typeface="Courier New" panose="02070309020205020404" pitchFamily="49" charset="0"/>
              </a:rPr>
              <a:t>	*</a:t>
            </a:r>
            <a:r>
              <a:rPr lang="en-US" altLang="zh-CN" sz="2000" dirty="0" err="1">
                <a:latin typeface="Courier New" panose="02070309020205020404" pitchFamily="49" charset="0"/>
              </a:rPr>
              <a:t>p_err</a:t>
            </a:r>
            <a:r>
              <a:rPr lang="en-US" altLang="zh-CN" sz="2000" dirty="0">
                <a:latin typeface="Courier New" panose="02070309020205020404" pitchFamily="49" charset="0"/>
              </a:rPr>
              <a:t> = OS_ERR_NONE;</a:t>
            </a:r>
          </a:p>
          <a:p>
            <a:pPr>
              <a:defRPr/>
            </a:pPr>
            <a:r>
              <a:rPr lang="en-US" altLang="zh-CN" sz="2000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306738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315526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24465" y="226763"/>
            <a:ext cx="7220913" cy="64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993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创建任务</a:t>
            </a:r>
            <a:r>
              <a:rPr lang="en-US" altLang="zh-CN" sz="3993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—</a:t>
            </a:r>
            <a:r>
              <a:rPr lang="zh-CN" altLang="en-US" sz="3993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将任务加入就绪表</a:t>
            </a:r>
            <a:endParaRPr lang="zh-CN" altLang="zh-CN" sz="3267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3533" y="29776"/>
            <a:ext cx="9569150" cy="686341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int main(void)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	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OS_ERR err;	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OSInit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(&amp;err); /*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初始化相关的全局变量 *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/	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/*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创建任务 *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OSTaskCreate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((OS_TCB*)      &amp;Task1TCB, 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              (OS_TASK_PTR ) Task1, 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              (void *)       0,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              (CPU_STK*)     &amp;Task1Stk[0],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              (CPU_STK_SIZE) TASK1_STK_SIZE,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              (OS_ERR *)     &amp;err);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OSTaskCreate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((OS_TCB*)      &amp;Task2TCB, 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              (OS_TASK_PTR ) Task2, 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              (void *)       0,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              (CPU_STK*)     &amp;Task2Stk[0],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              (CPU_STK_SIZE) TASK2_STK_SIZE,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              (OS_ERR *)     &amp;err);			  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/*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将任务加入到就绪列表 *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OSRdyList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[0].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HeadPtr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= &amp;Task1TCB;</a:t>
            </a:r>
          </a:p>
          <a:p>
            <a:pPr>
              <a:defRPr/>
            </a:pPr>
            <a:r>
              <a:rPr lang="en-US" altLang="zh-CN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OSRdyList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[1].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HeadPtr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= &amp;Task2TCB;	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	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OSStart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(&amp;err); /*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启动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OS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，将不再返回 *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/</a:t>
            </a:r>
          </a:p>
          <a:p>
            <a:pPr>
              <a:defRPr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endParaRPr lang="en-US" altLang="zh-CN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2743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Calibri" panose="020F0502020204030204" pitchFamily="34" charset="0"/>
              <a:buNone/>
              <a:tabLst/>
              <a:defRPr/>
            </a:pPr>
            <a:endParaRPr kumimoji="0" lang="zh-CN" altLang="zh-CN" sz="163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267628"/>
            <a:ext cx="7767118" cy="956662"/>
          </a:xfrm>
          <a:prstGeom prst="rect">
            <a:avLst/>
          </a:prstGeom>
          <a:blipFill dpi="0" rotWithShape="0">
            <a:blip r:embed="rId7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Calibri" panose="020F0502020204030204" pitchFamily="34" charset="0"/>
              <a:buNone/>
              <a:tabLst/>
              <a:defRPr/>
            </a:pPr>
            <a:endParaRPr kumimoji="0" lang="zh-CN" altLang="zh-CN" sz="163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24465" y="226763"/>
            <a:ext cx="7220913" cy="64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528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993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多任务应用程序</a:t>
            </a:r>
            <a:endParaRPr kumimoji="0" lang="zh-CN" altLang="zh-CN" sz="3267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3131" y="160598"/>
            <a:ext cx="8952860" cy="66146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bIns="0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int main(void)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{	OS_ERR err;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	</a:t>
            </a:r>
            <a:r>
              <a:rPr kumimoji="0" lang="en-US" altLang="zh-CN" sz="1634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OSInit</a:t>
            </a: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(&amp;err); /* </a:t>
            </a:r>
            <a:r>
              <a:rPr kumimoji="0" lang="zh-CN" altLang="en-US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初始化相关的全局变量 *</a:t>
            </a: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/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	</a:t>
            </a:r>
            <a:r>
              <a:rPr kumimoji="0" lang="en-US" altLang="zh-CN" sz="1634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OSTaskCreate</a:t>
            </a:r>
            <a:r>
              <a:rPr kumimoji="0" lang="en-US" altLang="zh-CN" sz="1634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 (…, Task1, </a:t>
            </a: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…); /* </a:t>
            </a:r>
            <a:r>
              <a:rPr lang="zh-CN" altLang="en-US" sz="1634" b="1" dirty="0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创建任务</a:t>
            </a: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1</a:t>
            </a:r>
            <a:r>
              <a:rPr lang="zh-CN" altLang="en-US" sz="1634" b="1" dirty="0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 *</a:t>
            </a: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	</a:t>
            </a:r>
            <a:r>
              <a:rPr lang="en-US" altLang="zh-CN" sz="1634" b="1" dirty="0" err="1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OSTaskCreate</a:t>
            </a: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 (…, Task2, …); /* </a:t>
            </a:r>
            <a:r>
              <a:rPr lang="zh-CN" altLang="en-US" sz="1634" b="1" dirty="0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创建任务</a:t>
            </a: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2</a:t>
            </a:r>
            <a:r>
              <a:rPr lang="zh-CN" altLang="en-US" sz="1634" b="1" dirty="0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 *</a:t>
            </a:r>
            <a:r>
              <a:rPr lang="en-US" altLang="zh-CN" sz="1634" b="1" dirty="0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/ 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	</a:t>
            </a:r>
            <a:r>
              <a:rPr lang="en-US" altLang="zh-CN" sz="1634" dirty="0" err="1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OSRdyList</a:t>
            </a: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[0].</a:t>
            </a:r>
            <a:r>
              <a:rPr lang="en-US" altLang="zh-CN" sz="1634" dirty="0" err="1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HeadPtr</a:t>
            </a: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 = &amp;Task1TCB;</a:t>
            </a:r>
          </a:p>
          <a:p>
            <a:pPr>
              <a:defRPr/>
            </a:pP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	</a:t>
            </a:r>
            <a:r>
              <a:rPr lang="en-US" altLang="zh-CN" sz="1634" dirty="0" err="1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OSRdyList</a:t>
            </a: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[1].</a:t>
            </a:r>
            <a:r>
              <a:rPr lang="en-US" altLang="zh-CN" sz="1634" dirty="0" err="1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HeadPtr</a:t>
            </a:r>
            <a:r>
              <a:rPr lang="en-US" altLang="zh-CN" sz="1634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 = &amp;Task2TCB;	</a:t>
            </a: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	</a:t>
            </a:r>
            <a:r>
              <a:rPr kumimoji="0" lang="en-US" altLang="zh-CN" sz="1634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OSStart</a:t>
            </a: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(&amp;err);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34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void Task1( void *</a:t>
            </a:r>
            <a:r>
              <a:rPr kumimoji="0" lang="en-US" altLang="zh-CN" sz="1634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p_arg</a:t>
            </a:r>
            <a:r>
              <a:rPr kumimoji="0" lang="en-US" altLang="zh-CN" sz="1634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 ) /* </a:t>
            </a:r>
            <a:r>
              <a:rPr kumimoji="0" lang="zh-CN" altLang="en-US" sz="1634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任务</a:t>
            </a:r>
            <a:r>
              <a:rPr kumimoji="0" lang="en-US" altLang="zh-CN" sz="1634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1 */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{	for( ;; 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	{	flag1 = 1;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		</a:t>
            </a:r>
            <a:r>
              <a:rPr kumimoji="0" lang="en-US" altLang="zh-CN" sz="1634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delay( 100 );</a:t>
            </a: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	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		flag1 = 0;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		</a:t>
            </a:r>
            <a:r>
              <a:rPr kumimoji="0" lang="en-US" altLang="zh-CN" sz="1634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delay( 100 );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		</a:t>
            </a:r>
            <a:r>
              <a:rPr kumimoji="0" lang="en-US" altLang="zh-CN" sz="1634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OSSched</a:t>
            </a: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(); /* </a:t>
            </a:r>
            <a:r>
              <a:rPr kumimoji="0" lang="zh-CN" altLang="en-US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任务切换，这里是手动切换 *</a:t>
            </a: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34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void Task2( void *</a:t>
            </a:r>
            <a:r>
              <a:rPr kumimoji="0" lang="en-US" altLang="zh-CN" sz="1634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p_arg</a:t>
            </a:r>
            <a:r>
              <a:rPr kumimoji="0" lang="en-US" altLang="zh-CN" sz="1634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 ) /* </a:t>
            </a:r>
            <a:r>
              <a:rPr kumimoji="0" lang="zh-CN" altLang="en-US" sz="1634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任务</a:t>
            </a:r>
            <a:r>
              <a:rPr kumimoji="0" lang="en-US" altLang="zh-CN" sz="1634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2 */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{	for( ;; 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	{	flag2 = 1;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		</a:t>
            </a:r>
            <a:r>
              <a:rPr kumimoji="0" lang="en-US" altLang="zh-CN" sz="1634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delay( 100 );</a:t>
            </a: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	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		flag2 = 0;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		</a:t>
            </a:r>
            <a:r>
              <a:rPr kumimoji="0" lang="en-US" altLang="zh-CN" sz="1634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delay( 100 );</a:t>
            </a: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	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		</a:t>
            </a:r>
            <a:r>
              <a:rPr kumimoji="0" lang="en-US" altLang="zh-CN" sz="1634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OSSched</a:t>
            </a: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(); /* </a:t>
            </a:r>
            <a:r>
              <a:rPr kumimoji="0" lang="zh-CN" altLang="en-US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任务切换，这里是手动切换 *</a:t>
            </a: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/</a:t>
            </a:r>
          </a:p>
          <a:p>
            <a:pPr marL="0" marR="0" lvl="0" indent="0" algn="l" defTabSz="914400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	}</a:t>
            </a:r>
          </a:p>
          <a:p>
            <a:pPr marL="0" marR="0" lvl="0" indent="0" algn="l" defTabSz="914400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34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Arial" panose="020B0604020202020204" pitchFamily="34" charset="0"/>
              </a:rPr>
              <a:t>}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5FA3C1D-58B8-4E25-9B07-6D9C7E2F076D}"/>
              </a:ext>
            </a:extLst>
          </p:cNvPr>
          <p:cNvSpPr/>
          <p:nvPr/>
        </p:nvSpPr>
        <p:spPr>
          <a:xfrm>
            <a:off x="7742057" y="1533798"/>
            <a:ext cx="2744776" cy="1045629"/>
          </a:xfrm>
          <a:prstGeom prst="rect">
            <a:avLst/>
          </a:prstGeom>
          <a:solidFill>
            <a:srgbClr val="FA2812">
              <a:alpha val="5294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904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cpu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9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3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AA23C78-E721-44BB-B776-EDB7EA16BB0A}"/>
              </a:ext>
            </a:extLst>
          </p:cNvPr>
          <p:cNvSpPr/>
          <p:nvPr/>
        </p:nvSpPr>
        <p:spPr>
          <a:xfrm>
            <a:off x="8003464" y="2094768"/>
            <a:ext cx="2352665" cy="3921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78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寄存器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C6326ED-82CE-4A28-8339-FB39DD8AAD7A}"/>
              </a:ext>
            </a:extLst>
          </p:cNvPr>
          <p:cNvSpPr/>
          <p:nvPr/>
        </p:nvSpPr>
        <p:spPr>
          <a:xfrm>
            <a:off x="5912207" y="2842201"/>
            <a:ext cx="5195299" cy="3855756"/>
          </a:xfrm>
          <a:prstGeom prst="rect">
            <a:avLst/>
          </a:prstGeom>
          <a:solidFill>
            <a:schemeClr val="accent1">
              <a:lumMod val="40000"/>
              <a:lumOff val="60000"/>
              <a:alpha val="5294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904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内存</a:t>
            </a:r>
            <a:endParaRPr kumimoji="0" lang="en-US" altLang="zh-CN" sz="2904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904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904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904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904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904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904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9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3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79EEC78-FA37-44E5-80C3-06B3067C4C3D}"/>
              </a:ext>
            </a:extLst>
          </p:cNvPr>
          <p:cNvSpPr/>
          <p:nvPr/>
        </p:nvSpPr>
        <p:spPr>
          <a:xfrm>
            <a:off x="6200289" y="3363650"/>
            <a:ext cx="1999231" cy="21730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178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void Task1()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178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{  for(;;){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178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   flag1 =1;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178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   delay();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178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   </a:t>
            </a:r>
            <a:r>
              <a:rPr kumimoji="0" lang="en-US" altLang="zh-CN" sz="2178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OSSched</a:t>
            </a:r>
            <a:r>
              <a:rPr kumimoji="0" lang="en-US" altLang="zh-CN" sz="2178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();}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178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}</a:t>
            </a:r>
            <a:endParaRPr kumimoji="0" lang="zh-CN" altLang="en-US" sz="2178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箭头: 上下 4">
            <a:extLst>
              <a:ext uri="{FF2B5EF4-FFF2-40B4-BE49-F238E27FC236}">
                <a16:creationId xmlns:a16="http://schemas.microsoft.com/office/drawing/2014/main" id="{7257FBE3-1203-4B39-A4C2-4B4086AE11E1}"/>
              </a:ext>
            </a:extLst>
          </p:cNvPr>
          <p:cNvSpPr/>
          <p:nvPr/>
        </p:nvSpPr>
        <p:spPr>
          <a:xfrm>
            <a:off x="9571908" y="2252669"/>
            <a:ext cx="588166" cy="980277"/>
          </a:xfrm>
          <a:prstGeom prst="upDown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3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7B4E56-1873-4266-8203-710C830B2984}"/>
              </a:ext>
            </a:extLst>
          </p:cNvPr>
          <p:cNvSpPr/>
          <p:nvPr/>
        </p:nvSpPr>
        <p:spPr>
          <a:xfrm>
            <a:off x="6278617" y="5724926"/>
            <a:ext cx="1463441" cy="3594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15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Task1</a:t>
            </a:r>
            <a:r>
              <a:rPr kumimoji="0" lang="zh-CN" altLang="en-US" sz="1815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堆栈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F4F728A-0425-49C7-B642-0C0CA8582E38}"/>
              </a:ext>
            </a:extLst>
          </p:cNvPr>
          <p:cNvSpPr/>
          <p:nvPr/>
        </p:nvSpPr>
        <p:spPr>
          <a:xfrm>
            <a:off x="8866860" y="3352692"/>
            <a:ext cx="1999231" cy="21730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178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void Task2()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178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{  for(;;){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178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   flag1 =1;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178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   delay();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178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   </a:t>
            </a:r>
            <a:r>
              <a:rPr kumimoji="0" lang="en-US" altLang="zh-CN" sz="2178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OSSched</a:t>
            </a:r>
            <a:r>
              <a:rPr kumimoji="0" lang="en-US" altLang="zh-CN" sz="2178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();}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178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}</a:t>
            </a:r>
            <a:endParaRPr kumimoji="0" lang="zh-CN" altLang="en-US" sz="2178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D4AFD27-9C45-4E1F-8A84-35EF4678409E}"/>
              </a:ext>
            </a:extLst>
          </p:cNvPr>
          <p:cNvSpPr/>
          <p:nvPr/>
        </p:nvSpPr>
        <p:spPr>
          <a:xfrm>
            <a:off x="9317014" y="5739585"/>
            <a:ext cx="1463441" cy="3594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15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Task2</a:t>
            </a:r>
            <a:r>
              <a:rPr kumimoji="0" lang="zh-CN" altLang="en-US" sz="1815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堆栈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C024810-07A4-4CA9-A3E9-DC646D0FF3E9}"/>
              </a:ext>
            </a:extLst>
          </p:cNvPr>
          <p:cNvSpPr/>
          <p:nvPr/>
        </p:nvSpPr>
        <p:spPr>
          <a:xfrm>
            <a:off x="6274456" y="6255104"/>
            <a:ext cx="4591636" cy="3352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15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系统栈空间</a:t>
            </a:r>
          </a:p>
        </p:txBody>
      </p:sp>
    </p:spTree>
    <p:extLst>
      <p:ext uri="{BB962C8B-B14F-4D97-AF65-F5344CB8AC3E}">
        <p14:creationId xmlns:p14="http://schemas.microsoft.com/office/powerpoint/2010/main" val="19241424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10" grpId="0" animBg="1"/>
      <p:bldP spid="11" grpId="0" animBg="1"/>
      <p:bldP spid="5" grpId="0" animBg="1"/>
      <p:bldP spid="7" grpId="0" animBg="1"/>
      <p:bldP spid="12" grpId="0" animBg="1"/>
      <p:bldP spid="13" grpId="0" animBg="1"/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315526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24465" y="226763"/>
            <a:ext cx="7220913" cy="64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993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复习与预习</a:t>
            </a:r>
            <a:endParaRPr lang="zh-CN" altLang="zh-CN" sz="3267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3010" y="1226688"/>
            <a:ext cx="8952860" cy="107721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z="3200" b="0" i="0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5</a:t>
            </a:r>
            <a:r>
              <a:rPr lang="zh-CN" altLang="en-US" sz="3200" b="0" i="0" dirty="0">
                <a:solidFill>
                  <a:srgbClr val="0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章 任务的定义与任务切换的实现</a:t>
            </a:r>
            <a:endParaRPr lang="en-US" altLang="zh-CN" sz="3200" b="0" i="0" dirty="0">
              <a:solidFill>
                <a:srgbClr val="0000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defRPr/>
            </a:pPr>
            <a:endParaRPr lang="en-US" altLang="zh-CN" sz="32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7197992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8365</TotalTime>
  <Words>1928</Words>
  <Application>Microsoft Office PowerPoint</Application>
  <PresentationFormat>宽屏</PresentationFormat>
  <Paragraphs>361</Paragraphs>
  <Slides>15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Noto Sans CJK JP Black</vt:lpstr>
      <vt:lpstr>PJMWDW+STZhongsong,Bold</vt:lpstr>
      <vt:lpstr>等线</vt:lpstr>
      <vt:lpstr>等线 Light</vt:lpstr>
      <vt:lpstr>黑体</vt:lpstr>
      <vt:lpstr>宋体</vt:lpstr>
      <vt:lpstr>Arial</vt:lpstr>
      <vt:lpstr>Calibri</vt:lpstr>
      <vt:lpstr>Courier New</vt:lpstr>
      <vt:lpstr>Times New Roman</vt:lpstr>
      <vt:lpstr>Wingdings</vt:lpstr>
      <vt:lpstr>Office 主题​​</vt:lpstr>
      <vt:lpstr>PowerPoint 演示文稿</vt:lpstr>
      <vt:lpstr>PowerPoint 演示文稿</vt:lpstr>
      <vt:lpstr>前后台系统  vs 多任务系统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thinkpad</dc:creator>
  <cp:lastModifiedBy>thinkpad</cp:lastModifiedBy>
  <cp:revision>78</cp:revision>
  <dcterms:created xsi:type="dcterms:W3CDTF">2020-11-10T10:12:45Z</dcterms:created>
  <dcterms:modified xsi:type="dcterms:W3CDTF">2021-09-15T14:54:49Z</dcterms:modified>
</cp:coreProperties>
</file>