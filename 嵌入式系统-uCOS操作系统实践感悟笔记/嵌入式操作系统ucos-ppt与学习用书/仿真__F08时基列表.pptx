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484" r:id="rId3"/>
    <p:sldId id="474" r:id="rId4"/>
    <p:sldId id="485" r:id="rId5"/>
    <p:sldId id="486" r:id="rId6"/>
    <p:sldId id="511" r:id="rId7"/>
    <p:sldId id="510" r:id="rId8"/>
    <p:sldId id="512" r:id="rId9"/>
    <p:sldId id="513" r:id="rId10"/>
    <p:sldId id="514" r:id="rId11"/>
    <p:sldId id="51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3826" autoAdjust="0"/>
  </p:normalViewPr>
  <p:slideViewPr>
    <p:cSldViewPr snapToGrid="0">
      <p:cViewPr varScale="1">
        <p:scale>
          <a:sx n="67" d="100"/>
          <a:sy n="67" d="100"/>
        </p:scale>
        <p:origin x="4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E16AB-453D-4224-B0C8-022441C300AE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172AF-2797-4AC5-BC52-C6EAF0479E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2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94BA-B1A5-4ECC-B5B1-7FA78BEB8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C39ADC-A550-4C3A-9AC2-CD5298697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E12A6-846E-4071-AF36-F41D6CA1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28A229-06B4-4B51-88D1-1B59AD70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851AAF-C4B9-4089-BDE8-07E932C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0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15887-0E71-4103-85FD-8CDEE6F7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2D7BF-D5A3-4694-8B87-0634500A2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09E3-02EC-43D1-A1B8-7B546BC9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BC617-4219-4B83-9A20-F3DB62BD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15B740-6237-411D-B16D-742A66FB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58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FA55-CE45-4512-9368-A6199B14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94D45-4159-4800-8A5E-0A21E879C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15BC78-3D5C-4753-85AB-AF1434D2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A96B6-B0E7-4F0E-AF0E-71E5D525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6AF7A6-99C6-4C37-85D4-BFFF5C61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86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98CA99-0307-44C6-8912-C7B500A2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5FF9F-2171-42F4-B8E1-E8688D46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6040E7-974C-4556-8607-9775821A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B3FCB9-DD73-4B34-B330-D284702D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F0194C-E502-4422-9D66-20ABF9D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1A57C-9419-44C5-BA41-FE16C527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971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895A-2473-4092-B69C-61F60772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75E70D-9DBD-45FE-A8B7-5FFEE433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3AE356-1D1C-49C8-BEF0-C645975F6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F17F7B-9C33-480A-8884-6FE5E0C98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31C870-79FD-4E9D-8CDC-FA5D4817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B89B77-A81C-42DF-914F-8FDD7D12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AA62C2-D794-4B33-98AB-1F6DD048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01910E-B6BD-4213-81C5-70758008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5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8B822-43CE-49A6-894B-E6B591B9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E7D564-3E82-4F36-AEC0-EDF6E1CB2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137A6B-A81E-42F5-86F5-63A4982E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9ACE2D-6646-4A79-9062-02105E5F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667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6B471-DBF8-41B0-8E8C-0CBF19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ADD16E-EC43-467B-9050-3BDC131F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2C1FA3-91EF-46AC-A53F-0D367427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93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E30B-7D98-4AE2-B249-3FE9636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A669B-ED10-4783-BFDA-296C57AE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2F041B-38EB-4AD2-9E05-F0488AD08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5CAA6-8A71-4480-80D8-768C76AE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C111A-5A19-4A5B-897F-41D6D8A7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852CB8-82CD-4492-A4B0-5A0EEDCB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90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B64D3-0394-4B6F-8374-E4F4DAF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427DC-FFCA-4E6B-91BD-13B9FB8BDE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DAC41D-6B44-4CE6-B772-2C1771BAF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D53A6-17FE-4B06-B5C5-135600F8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0E9588-B72D-4BC2-94C9-8986B162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26FB7-51EB-4949-8A04-72ED5554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01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2EAD3-DF79-41FB-A297-A00031B6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2B2B1D-96BC-49C3-B3D5-351185CC6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02ABE4-6BBC-4A33-A377-1C063C6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C02D-408C-47CD-8C87-096FE1B1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A4163-6869-4E1B-9FC8-8C8790C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072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A9FBDB-9CC0-4519-8950-41B7804B2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DB50AE-74FB-490C-84D9-F44BBB830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FA88-3356-49A3-836C-A3EAE7F8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1C6CE-5C25-4ECA-8B82-2D95BD664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FA314-0F46-442C-8459-6D27604F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634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>
          <a:xfrm>
            <a:off x="430593" y="388197"/>
            <a:ext cx="7750680" cy="1552789"/>
          </a:xfrm>
        </p:spPr>
        <p:txBody>
          <a:bodyPr/>
          <a:lstStyle/>
          <a:p>
            <a:r>
              <a:rPr lang="en-US" noProof="0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30593" y="2232135"/>
            <a:ext cx="7750680" cy="6405257"/>
          </a:xfrm>
        </p:spPr>
        <p:txBody>
          <a:bodyPr/>
          <a:lstStyle/>
          <a:p>
            <a:pPr lvl="0"/>
            <a:r>
              <a:rPr lang="en-US" noProof="0"/>
              <a:t>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6EEFA144-0481-4318-8D44-693A3A854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DC368E29-8D5C-4805-A101-CCE9E7B8C7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C65-A18F-4D86-AA5C-5DFE165BDEB2}" type="datetime1">
              <a:rPr lang="en-US" altLang="zh-CN"/>
              <a:pPr>
                <a:defRPr/>
              </a:pPr>
              <a:t>11/11/2021</a:t>
            </a:fld>
            <a:endParaRPr lang="en-US" altLang="zh-C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DC50C4-792F-49EB-8F41-BF6AD4BD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33EAC-60A0-4066-A8AE-F5749B32B4F9}" type="slidenum">
              <a:rPr lang="ru-RU" altLang="zh-CN"/>
              <a:pPr>
                <a:defRPr/>
              </a:pPr>
              <a:t>‹#›</a:t>
            </a:fld>
            <a:endParaRPr lang="ru-RU" altLang="zh-CN"/>
          </a:p>
        </p:txBody>
      </p:sp>
    </p:spTree>
    <p:extLst>
      <p:ext uri="{BB962C8B-B14F-4D97-AF65-F5344CB8AC3E}">
        <p14:creationId xmlns:p14="http://schemas.microsoft.com/office/powerpoint/2010/main" val="302488895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7B8A8D-7041-4600-8ED4-E8D852B2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41A4E-6C33-4B95-85CE-7A662C881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41D24-F87E-4CAF-9B07-2656566D9C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61CB-0CBA-48E8-BB71-4F28376232DC}" type="datetimeFigureOut">
              <a:rPr lang="zh-CN" altLang="en-US" smtClean="0"/>
              <a:t>2021/11/11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EDF12-62C0-417B-A990-D58E52A79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541EC-86EB-4794-8905-E87716B34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EA79-1807-4BCF-ADBF-18CA7F0F8B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1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2.jpe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2.jpe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2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4.xml"/><Relationship Id="rId7" Type="http://schemas.openxmlformats.org/officeDocument/2006/relationships/image" Target="../media/image2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object 1">
            <a:extLst>
              <a:ext uri="{FF2B5EF4-FFF2-40B4-BE49-F238E27FC236}">
                <a16:creationId xmlns:a16="http://schemas.microsoft.com/office/drawing/2014/main" id="{4DF71452-0B77-4493-AB39-DD147C9E1B0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1" name="object 2">
            <a:extLst>
              <a:ext uri="{FF2B5EF4-FFF2-40B4-BE49-F238E27FC236}">
                <a16:creationId xmlns:a16="http://schemas.microsoft.com/office/drawing/2014/main" id="{09051FC2-CFFD-44F2-860D-9F04F04D63B2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315526"/>
            <a:ext cx="7767118" cy="956662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8612" name="object 4">
            <a:extLst>
              <a:ext uri="{FF2B5EF4-FFF2-40B4-BE49-F238E27FC236}">
                <a16:creationId xmlns:a16="http://schemas.microsoft.com/office/drawing/2014/main" id="{53C7D0FB-BB93-4D66-95AA-B8A0DFBE1CF3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69180" y="1499828"/>
            <a:ext cx="5886930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7215"/>
              </a:lnSpc>
            </a:pPr>
            <a:r>
              <a:rPr lang="zh-CN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嵌入式操作系统</a:t>
            </a:r>
            <a:endParaRPr lang="en-US" altLang="zh-CN" sz="5446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  <a:p>
            <a:pPr>
              <a:lnSpc>
                <a:spcPts val="7215"/>
              </a:lnSpc>
            </a:pPr>
            <a:r>
              <a:rPr lang="en-US" altLang="zh-CN" sz="5446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         --</a:t>
            </a:r>
            <a:r>
              <a:rPr lang="zh-CN" altLang="en-US" sz="3993" b="1" dirty="0">
                <a:solidFill>
                  <a:srgbClr val="FF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逐步构建</a:t>
            </a:r>
            <a:endParaRPr lang="zh-CN" altLang="zh-CN" sz="3993" b="1" dirty="0">
              <a:solidFill>
                <a:srgbClr val="FF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  <p:sp>
        <p:nvSpPr>
          <p:cNvPr id="68613" name="object 6">
            <a:extLst>
              <a:ext uri="{FF2B5EF4-FFF2-40B4-BE49-F238E27FC236}">
                <a16:creationId xmlns:a16="http://schemas.microsoft.com/office/drawing/2014/main" id="{2247452C-94B6-4525-8F7E-3C0AA3AF037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44584" y="3559704"/>
            <a:ext cx="7142416" cy="85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ts val="7215"/>
              </a:lnSpc>
            </a:pPr>
            <a:r>
              <a:rPr lang="zh-CN" altLang="en-US" sz="5446" b="1" dirty="0">
                <a:solidFill>
                  <a:srgbClr val="000000"/>
                </a:solidFill>
                <a:latin typeface="PJMWDW+STZhongsong,Bold" charset="-122"/>
                <a:ea typeface="PJMWDW+STZhongsong,Bold" charset="-122"/>
                <a:sym typeface="Wingdings" panose="05000000000000000000" pitchFamily="2" charset="2"/>
              </a:rPr>
              <a:t>时基列表</a:t>
            </a:r>
            <a:endParaRPr lang="zh-CN" altLang="zh-CN" sz="5446" b="1" dirty="0">
              <a:solidFill>
                <a:srgbClr val="000000"/>
              </a:solidFill>
              <a:latin typeface="PJMWDW+STZhongsong,Bold" charset="-122"/>
              <a:ea typeface="PJMWDW+STZhongsong,Bold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70C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时基列表</a:t>
            </a:r>
            <a:endParaRPr lang="zh-CN" altLang="zh-CN" sz="4400" b="1" dirty="0">
              <a:solidFill>
                <a:srgbClr val="0070C0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790" y="1086247"/>
            <a:ext cx="10579327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z="36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在本章之前， </a:t>
            </a:r>
            <a:r>
              <a:rPr lang="en-US" altLang="zh-CN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OS </a:t>
            </a:r>
            <a:r>
              <a:rPr lang="zh-CN" altLang="en-US" sz="3600" b="0" i="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中的任务休眠时无处可去，就赖在了就绪表中。从今开始，任务休眠后应该从就绪表中移除，把它加入到</a:t>
            </a:r>
            <a:r>
              <a:rPr lang="zh-CN" altLang="en-US" sz="3600" b="1" i="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时基列表（休眠表）。</a:t>
            </a:r>
            <a:endParaRPr lang="en-US" altLang="zh-CN" sz="36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EDDFE3-84BD-40D6-8273-FE0F3A837D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4530" y="2840573"/>
            <a:ext cx="8231871" cy="401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9839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46622" y="267628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24465" y="348683"/>
            <a:ext cx="7220913" cy="61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3267" b="1" dirty="0">
                <a:solidFill>
                  <a:srgbClr val="333399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添加和修改的功能模块</a:t>
            </a:r>
            <a:endParaRPr lang="zh-CN" altLang="zh-CN" sz="3267" b="1" dirty="0">
              <a:solidFill>
                <a:srgbClr val="333399"/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C2CF9C0F-C8C8-4A81-B576-4C83A2D18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390372"/>
              </p:ext>
            </p:extLst>
          </p:nvPr>
        </p:nvGraphicFramePr>
        <p:xfrm>
          <a:off x="201147" y="1402546"/>
          <a:ext cx="6501763" cy="44805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876618">
                  <a:extLst>
                    <a:ext uri="{9D8B030D-6E8A-4147-A177-3AD203B41FA5}">
                      <a16:colId xmlns:a16="http://schemas.microsoft.com/office/drawing/2014/main" val="3780354902"/>
                    </a:ext>
                  </a:extLst>
                </a:gridCol>
                <a:gridCol w="2682277">
                  <a:extLst>
                    <a:ext uri="{9D8B030D-6E8A-4147-A177-3AD203B41FA5}">
                      <a16:colId xmlns:a16="http://schemas.microsoft.com/office/drawing/2014/main" val="4041965599"/>
                    </a:ext>
                  </a:extLst>
                </a:gridCol>
                <a:gridCol w="2942868">
                  <a:extLst>
                    <a:ext uri="{9D8B030D-6E8A-4147-A177-3AD203B41FA5}">
                      <a16:colId xmlns:a16="http://schemas.microsoft.com/office/drawing/2014/main" val="4118546888"/>
                    </a:ext>
                  </a:extLst>
                </a:gridCol>
              </a:tblGrid>
              <a:tr h="422905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动作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功能作用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函数名称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5688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创建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定义时基列表变量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OSCfg_TickWheel</a:t>
                      </a:r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[] </a:t>
                      </a:r>
                    </a:p>
                    <a:p>
                      <a:r>
                        <a:rPr lang="en-US" altLang="zh-CN" sz="2400" b="1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OSTickCtr</a:t>
                      </a:r>
                      <a:r>
                        <a:rPr lang="en-US" altLang="zh-CN" sz="2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167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创建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初始化休眠表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OS_TickListInit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91707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创建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插入休眠表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FF0000"/>
                          </a:solidFill>
                        </a:rPr>
                        <a:t>OS_TickListInsert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577116"/>
                  </a:ext>
                </a:extLst>
              </a:tr>
              <a:tr h="422905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创建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休眠表删除节点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OS_TickListRemove</a:t>
                      </a:r>
                      <a:endParaRPr lang="zh-CN" altLang="en-US" sz="2400" b="1" kern="1200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351666"/>
                  </a:ext>
                </a:extLst>
              </a:tr>
              <a:tr h="422905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创建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rgbClr val="00B050"/>
                          </a:solidFill>
                        </a:rPr>
                        <a:t>更新休眠表</a:t>
                      </a:r>
                      <a:endParaRPr lang="zh-CN" altLang="en-US" sz="2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FF0000"/>
                          </a:solidFill>
                        </a:rPr>
                        <a:t>OS_TickListUpdate</a:t>
                      </a:r>
                      <a:endParaRPr lang="zh-CN" altLang="en-US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405815"/>
                  </a:ext>
                </a:extLst>
              </a:tr>
              <a:tr h="4229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修改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修改任务控制块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TCB </a:t>
                      </a:r>
                      <a:endParaRPr lang="zh-CN" altLang="en-US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487243"/>
                  </a:ext>
                </a:extLst>
              </a:tr>
              <a:tr h="422905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修改</a:t>
                      </a:r>
                      <a:endParaRPr lang="zh-CN" altLang="en-US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阻塞延时</a:t>
                      </a:r>
                      <a:endParaRPr lang="zh-CN" altLang="en-US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FF0000"/>
                          </a:solidFill>
                        </a:rPr>
                        <a:t>OSTimeDly</a:t>
                      </a:r>
                      <a:endParaRPr lang="en-US" altLang="zh-CN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775915"/>
                  </a:ext>
                </a:extLst>
              </a:tr>
              <a:tr h="422905"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修改</a:t>
                      </a:r>
                      <a:endParaRPr lang="zh-CN" altLang="en-US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时钟中断功能函数</a:t>
                      </a:r>
                      <a:endParaRPr lang="zh-CN" altLang="en-US" sz="24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 dirty="0" err="1">
                          <a:solidFill>
                            <a:srgbClr val="FF0000"/>
                          </a:solidFill>
                        </a:rPr>
                        <a:t>OSTimeTick</a:t>
                      </a:r>
                      <a:endParaRPr lang="en-US" altLang="zh-CN" sz="2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666182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828BD9D4-0EC0-49B2-80D4-889D9CE38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180" y="3946522"/>
            <a:ext cx="5569819" cy="271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177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15526"/>
            <a:ext cx="7767118" cy="956662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5543" y="315526"/>
            <a:ext cx="9315932" cy="1306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时基列表</a:t>
            </a:r>
            <a:r>
              <a:rPr lang="zh-CN" altLang="en-US" sz="40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相关全局变量</a:t>
            </a:r>
            <a: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br>
              <a:rPr lang="zh-CN" altLang="en-US" sz="4000" dirty="0">
                <a:solidFill>
                  <a:schemeClr val="accent5">
                    <a:lumMod val="50000"/>
                  </a:schemeClr>
                </a:solidFill>
              </a:rPr>
            </a:br>
            <a:endParaRPr lang="zh-CN" altLang="zh-CN" sz="40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" name="文本框 5">
            <a:extLst>
              <a:ext uri="{FF2B5EF4-FFF2-40B4-BE49-F238E27FC236}">
                <a16:creationId xmlns:a16="http://schemas.microsoft.com/office/drawing/2014/main" id="{1613239B-1098-45B5-B745-8F3BCA506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632" y="1424837"/>
            <a:ext cx="10236735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400" b="0" i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os_cfg_app.c</a:t>
            </a:r>
            <a:r>
              <a:rPr lang="en-US" altLang="zh-CN" sz="2400" dirty="0"/>
              <a:t> 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中定义 </a:t>
            </a:r>
            <a:r>
              <a:rPr lang="zh-CN" altLang="en-US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</a:t>
            </a:r>
            <a:br>
              <a:rPr lang="en-US" altLang="zh-CN" sz="24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</a:br>
            <a:r>
              <a:rPr lang="en-US" altLang="zh-CN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OS_TICK_SPOKE </a:t>
            </a:r>
            <a:r>
              <a:rPr lang="en-US" altLang="zh-CN" sz="2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OSCfg_TickWheel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OS_CFG_TICK_WHEEL_SIZE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];</a:t>
            </a:r>
          </a:p>
          <a:p>
            <a:pPr>
              <a:defRPr/>
            </a:pPr>
            <a:r>
              <a:rPr lang="en-US" altLang="zh-CN" sz="18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/* Tick </a:t>
            </a:r>
            <a:r>
              <a:rPr lang="zh-CN" altLang="en-US" sz="18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计数器，在 </a:t>
            </a:r>
            <a:r>
              <a:rPr lang="en-US" altLang="zh-CN" sz="1800" b="0" i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os.h</a:t>
            </a:r>
            <a:r>
              <a:rPr lang="en-US" altLang="zh-CN" sz="18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zh-CN" altLang="en-US" sz="1800" b="0" i="0" dirty="0">
                <a:solidFill>
                  <a:srgbClr val="008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中定义 </a:t>
            </a:r>
            <a:r>
              <a:rPr lang="zh-CN" altLang="en-US" sz="18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1800" b="0" i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zh-CN" altLang="en-US" sz="2400" dirty="0"/>
              <a:t> </a:t>
            </a:r>
            <a:endParaRPr lang="en-US" altLang="zh-CN" sz="2400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pt-BR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OS_EXT OS_TICK </a:t>
            </a:r>
            <a:r>
              <a:rPr lang="pt-BR" altLang="zh-CN" sz="2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pt-BR" altLang="zh-CN" sz="24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;</a:t>
            </a:r>
            <a:r>
              <a:rPr lang="pt-BR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cs typeface="+mn-cs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//</a:t>
            </a:r>
            <a:r>
              <a:rPr lang="en-US" altLang="zh-CN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SysTick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周期计数器 </a:t>
            </a:r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41D5A2-2F1C-491F-B66E-EDAB5E7CB9AD}"/>
              </a:ext>
            </a:extLst>
          </p:cNvPr>
          <p:cNvGrpSpPr/>
          <p:nvPr/>
        </p:nvGrpSpPr>
        <p:grpSpPr>
          <a:xfrm>
            <a:off x="1243533" y="3148356"/>
            <a:ext cx="9785539" cy="3348693"/>
            <a:chOff x="1243533" y="2599721"/>
            <a:chExt cx="9785539" cy="334869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2625567-61C4-4C08-81D8-931F43A19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43533" y="2599721"/>
              <a:ext cx="9785539" cy="3348693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C88DE76-72E8-4192-9CB7-92045A28B4FE}"/>
                </a:ext>
              </a:extLst>
            </p:cNvPr>
            <p:cNvSpPr/>
            <p:nvPr/>
          </p:nvSpPr>
          <p:spPr>
            <a:xfrm>
              <a:off x="3801979" y="4995512"/>
              <a:ext cx="5601903" cy="3080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12328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FDE6BA-3B80-45C8-B660-AB1519A91A4E}"/>
              </a:ext>
            </a:extLst>
          </p:cNvPr>
          <p:cNvGrpSpPr/>
          <p:nvPr/>
        </p:nvGrpSpPr>
        <p:grpSpPr>
          <a:xfrm>
            <a:off x="269506" y="2733894"/>
            <a:ext cx="10732100" cy="4086544"/>
            <a:chOff x="269506" y="2733892"/>
            <a:chExt cx="10732100" cy="4086544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0E5C63C-BB53-45B5-949B-2307BF0D1746}"/>
                </a:ext>
              </a:extLst>
            </p:cNvPr>
            <p:cNvGrpSpPr/>
            <p:nvPr/>
          </p:nvGrpSpPr>
          <p:grpSpPr>
            <a:xfrm>
              <a:off x="269506" y="2733892"/>
              <a:ext cx="10732100" cy="4086544"/>
              <a:chOff x="693017" y="2656889"/>
              <a:chExt cx="10732100" cy="4086544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8BED7B67-8FC7-4610-AF8E-FE377D1DE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017" y="2656889"/>
                <a:ext cx="10732100" cy="4086544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F9C5DE-EDF5-4ED8-BC22-82BEC7C92206}"/>
                  </a:ext>
                </a:extLst>
              </p:cNvPr>
              <p:cNvSpPr txBox="1"/>
              <p:nvPr/>
            </p:nvSpPr>
            <p:spPr>
              <a:xfrm>
                <a:off x="1047892" y="4408367"/>
                <a:ext cx="19483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9</a:t>
                </a:r>
              </a:p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247023A-C188-4EE0-A043-FE24A42FD673}"/>
                  </a:ext>
                </a:extLst>
              </p:cNvPr>
              <p:cNvSpPr txBox="1"/>
              <p:nvPr/>
            </p:nvSpPr>
            <p:spPr>
              <a:xfrm>
                <a:off x="5998583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401CD4-E2BC-43E7-8D93-1F63596925AE}"/>
                  </a:ext>
                </a:extLst>
              </p:cNvPr>
              <p:cNvSpPr txBox="1"/>
              <p:nvPr/>
            </p:nvSpPr>
            <p:spPr>
              <a:xfrm>
                <a:off x="8289396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21</a:t>
                </a:r>
                <a:endParaRPr lang="zh-CN" altLang="en-US" sz="1300" b="1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E1240BD-2C34-4A1B-AABF-A01E742909FD}"/>
                  </a:ext>
                </a:extLst>
              </p:cNvPr>
              <p:cNvSpPr txBox="1"/>
              <p:nvPr/>
            </p:nvSpPr>
            <p:spPr>
              <a:xfrm>
                <a:off x="10443856" y="52152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32</a:t>
                </a:r>
                <a:endParaRPr lang="zh-CN" altLang="en-US" sz="1300" b="1" dirty="0"/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2874773-63DF-4447-8F49-4BD3C0D355A8}"/>
                </a:ext>
              </a:extLst>
            </p:cNvPr>
            <p:cNvSpPr/>
            <p:nvPr/>
          </p:nvSpPr>
          <p:spPr>
            <a:xfrm>
              <a:off x="4424882" y="4038920"/>
              <a:ext cx="1345023" cy="2080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9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kern="1200" dirty="0">
                <a:solidFill>
                  <a:srgbClr val="00B050"/>
                </a:solidFill>
              </a:rPr>
              <a:t>插入休眠表</a:t>
            </a:r>
            <a:r>
              <a:rPr lang="en-US" altLang="zh-CN" sz="4400" b="1" kern="1200" dirty="0">
                <a:solidFill>
                  <a:srgbClr val="00B050"/>
                </a:solidFill>
              </a:rPr>
              <a:t>_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案例</a:t>
            </a:r>
            <a:r>
              <a:rPr lang="en-US" altLang="zh-CN" sz="4400" b="1" kern="1200" dirty="0">
                <a:solidFill>
                  <a:srgbClr val="FF0000"/>
                </a:solidFill>
              </a:rPr>
              <a:t>1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os_tick.c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B942C0-9116-4B82-9BF9-E0E7A6DB3F52}"/>
              </a:ext>
            </a:extLst>
          </p:cNvPr>
          <p:cNvSpPr txBox="1"/>
          <p:nvPr/>
        </p:nvSpPr>
        <p:spPr>
          <a:xfrm>
            <a:off x="221382" y="1210795"/>
            <a:ext cx="3599847" cy="138499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前提条件：</a:t>
            </a:r>
            <a:endParaRPr lang="en-US" altLang="zh-CN" sz="24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OS_CFG_TICK_WHEEL_SIZE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=11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OSTickCtr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= 9</a:t>
            </a:r>
          </a:p>
          <a:p>
            <a:r>
              <a:rPr lang="zh-CN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插入：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休眠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time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=1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E081CD-DD5B-470A-9D97-DB2F6EA41064}"/>
              </a:ext>
            </a:extLst>
          </p:cNvPr>
          <p:cNvSpPr txBox="1"/>
          <p:nvPr/>
        </p:nvSpPr>
        <p:spPr>
          <a:xfrm>
            <a:off x="4331839" y="1158605"/>
            <a:ext cx="7767118" cy="1631216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+ time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=9+1=10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= time 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</a:p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spoke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%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OSCfg_TickWheelSize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= 10 % 11 = 10</a:t>
            </a:r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AAD0B4D-2CF1-483F-906D-CBB486155669}"/>
              </a:ext>
            </a:extLst>
          </p:cNvPr>
          <p:cNvSpPr/>
          <p:nvPr/>
        </p:nvSpPr>
        <p:spPr>
          <a:xfrm>
            <a:off x="3811604" y="1673706"/>
            <a:ext cx="520235" cy="42460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076F2A-8AA0-4E97-B92A-0E3AA54DE0BE}"/>
              </a:ext>
            </a:extLst>
          </p:cNvPr>
          <p:cNvSpPr txBox="1"/>
          <p:nvPr/>
        </p:nvSpPr>
        <p:spPr>
          <a:xfrm>
            <a:off x="3702517" y="2904645"/>
            <a:ext cx="8489483" cy="107721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插入位置计算（依据剩余休眠时间）</a:t>
            </a:r>
            <a:endParaRPr lang="en-US" altLang="zh-CN" sz="24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p_tcb1-&gt;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= p_tcb1-&gt;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= 21 – 9 = 12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AFD5BD-8853-4E84-9F6B-77F6D3BEA1EA}"/>
              </a:ext>
            </a:extLst>
          </p:cNvPr>
          <p:cNvGrpSpPr/>
          <p:nvPr/>
        </p:nvGrpSpPr>
        <p:grpSpPr>
          <a:xfrm>
            <a:off x="2569849" y="4374733"/>
            <a:ext cx="3526151" cy="1547566"/>
            <a:chOff x="2569849" y="4365108"/>
            <a:chExt cx="3526151" cy="1547566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4664B632-B7AD-4626-8FC0-91017E9273BF}"/>
                </a:ext>
              </a:extLst>
            </p:cNvPr>
            <p:cNvGrpSpPr/>
            <p:nvPr/>
          </p:nvGrpSpPr>
          <p:grpSpPr>
            <a:xfrm>
              <a:off x="2569849" y="4365108"/>
              <a:ext cx="3526151" cy="1547566"/>
              <a:chOff x="2569849" y="4365108"/>
              <a:chExt cx="3526151" cy="1547566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BB4DD31-C936-4E2E-B890-0DE9F25EDDBD}"/>
                  </a:ext>
                </a:extLst>
              </p:cNvPr>
              <p:cNvSpPr/>
              <p:nvPr/>
            </p:nvSpPr>
            <p:spPr>
              <a:xfrm>
                <a:off x="3564556" y="4365108"/>
                <a:ext cx="2531444" cy="15475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EE3C511-34EF-4207-96E3-605EA5948B0B}"/>
                  </a:ext>
                </a:extLst>
              </p:cNvPr>
              <p:cNvSpPr/>
              <p:nvPr/>
            </p:nvSpPr>
            <p:spPr>
              <a:xfrm>
                <a:off x="2569849" y="4863437"/>
                <a:ext cx="2599225" cy="10492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00B0976-F477-4F67-9532-0B486DDDD896}"/>
                </a:ext>
              </a:extLst>
            </p:cNvPr>
            <p:cNvCxnSpPr/>
            <p:nvPr/>
          </p:nvCxnSpPr>
          <p:spPr>
            <a:xfrm>
              <a:off x="3564556" y="4745255"/>
              <a:ext cx="253144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107D5257-CD54-418A-8E0E-BD2009B6A10B}"/>
                </a:ext>
              </a:extLst>
            </p:cNvPr>
            <p:cNvCxnSpPr/>
            <p:nvPr/>
          </p:nvCxnSpPr>
          <p:spPr>
            <a:xfrm flipH="1">
              <a:off x="5852160" y="4976261"/>
              <a:ext cx="24384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1433756-8127-4A90-8613-E7B99DEF31EB}"/>
                </a:ext>
              </a:extLst>
            </p:cNvPr>
            <p:cNvSpPr txBox="1"/>
            <p:nvPr/>
          </p:nvSpPr>
          <p:spPr>
            <a:xfrm>
              <a:off x="5546265" y="4802314"/>
              <a:ext cx="305895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3DF3088-E7FB-4A56-AADB-25721892E1EF}"/>
              </a:ext>
            </a:extLst>
          </p:cNvPr>
          <p:cNvGrpSpPr/>
          <p:nvPr/>
        </p:nvGrpSpPr>
        <p:grpSpPr>
          <a:xfrm>
            <a:off x="8479858" y="1819175"/>
            <a:ext cx="1106904" cy="1828799"/>
            <a:chOff x="8787865" y="1442701"/>
            <a:chExt cx="6106900" cy="2339107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B366E07-3A4E-4B4A-9B18-C9FBCBE32D8A}"/>
                </a:ext>
              </a:extLst>
            </p:cNvPr>
            <p:cNvCxnSpPr/>
            <p:nvPr/>
          </p:nvCxnSpPr>
          <p:spPr>
            <a:xfrm flipH="1">
              <a:off x="8787865" y="1442701"/>
              <a:ext cx="2329314" cy="2339107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EF0482D-0160-49C0-957E-C0B6103272C6}"/>
                </a:ext>
              </a:extLst>
            </p:cNvPr>
            <p:cNvSpPr txBox="1"/>
            <p:nvPr/>
          </p:nvSpPr>
          <p:spPr>
            <a:xfrm>
              <a:off x="9955741" y="2312432"/>
              <a:ext cx="4939024" cy="905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FF0000"/>
                  </a:solidFill>
                </a:rPr>
                <a:t>PK</a:t>
              </a:r>
              <a:endParaRPr lang="zh-CN" altLang="en-US" sz="4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5624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FDE6BA-3B80-45C8-B660-AB1519A91A4E}"/>
              </a:ext>
            </a:extLst>
          </p:cNvPr>
          <p:cNvGrpSpPr/>
          <p:nvPr/>
        </p:nvGrpSpPr>
        <p:grpSpPr>
          <a:xfrm>
            <a:off x="269506" y="2791646"/>
            <a:ext cx="10732100" cy="4086544"/>
            <a:chOff x="269506" y="2733892"/>
            <a:chExt cx="10732100" cy="4086544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0E5C63C-BB53-45B5-949B-2307BF0D1746}"/>
                </a:ext>
              </a:extLst>
            </p:cNvPr>
            <p:cNvGrpSpPr/>
            <p:nvPr/>
          </p:nvGrpSpPr>
          <p:grpSpPr>
            <a:xfrm>
              <a:off x="269506" y="2733892"/>
              <a:ext cx="10732100" cy="4086544"/>
              <a:chOff x="693017" y="2656889"/>
              <a:chExt cx="10732100" cy="4086544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8BED7B67-8FC7-4610-AF8E-FE377D1DE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017" y="2656889"/>
                <a:ext cx="10732100" cy="4086544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F9C5DE-EDF5-4ED8-BC22-82BEC7C92206}"/>
                  </a:ext>
                </a:extLst>
              </p:cNvPr>
              <p:cNvSpPr txBox="1"/>
              <p:nvPr/>
            </p:nvSpPr>
            <p:spPr>
              <a:xfrm>
                <a:off x="1047892" y="4408367"/>
                <a:ext cx="19483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9</a:t>
                </a:r>
              </a:p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247023A-C188-4EE0-A043-FE24A42FD673}"/>
                  </a:ext>
                </a:extLst>
              </p:cNvPr>
              <p:cNvSpPr txBox="1"/>
              <p:nvPr/>
            </p:nvSpPr>
            <p:spPr>
              <a:xfrm>
                <a:off x="5998583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401CD4-E2BC-43E7-8D93-1F63596925AE}"/>
                  </a:ext>
                </a:extLst>
              </p:cNvPr>
              <p:cNvSpPr txBox="1"/>
              <p:nvPr/>
            </p:nvSpPr>
            <p:spPr>
              <a:xfrm>
                <a:off x="8289396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21</a:t>
                </a:r>
                <a:endParaRPr lang="zh-CN" altLang="en-US" sz="1300" b="1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E1240BD-2C34-4A1B-AABF-A01E742909FD}"/>
                  </a:ext>
                </a:extLst>
              </p:cNvPr>
              <p:cNvSpPr txBox="1"/>
              <p:nvPr/>
            </p:nvSpPr>
            <p:spPr>
              <a:xfrm>
                <a:off x="10443856" y="52152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32</a:t>
                </a:r>
                <a:endParaRPr lang="zh-CN" altLang="en-US" sz="1300" b="1" dirty="0"/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2874773-63DF-4447-8F49-4BD3C0D355A8}"/>
                </a:ext>
              </a:extLst>
            </p:cNvPr>
            <p:cNvSpPr/>
            <p:nvPr/>
          </p:nvSpPr>
          <p:spPr>
            <a:xfrm>
              <a:off x="4424882" y="4038920"/>
              <a:ext cx="1345023" cy="2080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9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kern="1200" dirty="0">
                <a:solidFill>
                  <a:srgbClr val="00B050"/>
                </a:solidFill>
              </a:rPr>
              <a:t>插入休眠表</a:t>
            </a:r>
            <a:r>
              <a:rPr lang="en-US" altLang="zh-CN" sz="4400" b="1" kern="1200" dirty="0">
                <a:solidFill>
                  <a:srgbClr val="00B050"/>
                </a:solidFill>
              </a:rPr>
              <a:t>_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案例</a:t>
            </a:r>
            <a:r>
              <a:rPr lang="en-US" altLang="zh-CN" sz="4400" b="1" kern="1200" dirty="0">
                <a:solidFill>
                  <a:srgbClr val="FF0000"/>
                </a:solidFill>
              </a:rPr>
              <a:t>2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os_tick.c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B942C0-9116-4B82-9BF9-E0E7A6DB3F52}"/>
              </a:ext>
            </a:extLst>
          </p:cNvPr>
          <p:cNvSpPr txBox="1"/>
          <p:nvPr/>
        </p:nvSpPr>
        <p:spPr>
          <a:xfrm>
            <a:off x="221382" y="1210795"/>
            <a:ext cx="3599847" cy="138499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前提条件：</a:t>
            </a:r>
            <a:endParaRPr lang="en-US" altLang="zh-CN" sz="24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OS_CFG_TICK_WHEEL_SIZE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=11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OSTickCtr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= 9</a:t>
            </a:r>
          </a:p>
          <a:p>
            <a:r>
              <a:rPr lang="zh-CN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插入：</a:t>
            </a:r>
            <a:r>
              <a:rPr lang="zh-CN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休眠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time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=34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E081CD-DD5B-470A-9D97-DB2F6EA41064}"/>
              </a:ext>
            </a:extLst>
          </p:cNvPr>
          <p:cNvSpPr txBox="1"/>
          <p:nvPr/>
        </p:nvSpPr>
        <p:spPr>
          <a:xfrm>
            <a:off x="4331839" y="1158605"/>
            <a:ext cx="7767118" cy="1323439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+ time</a:t>
            </a:r>
          </a:p>
          <a:p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  = time  	</a:t>
            </a:r>
          </a:p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spoke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%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OSCfg_TickWheelSize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AAD0B4D-2CF1-483F-906D-CBB486155669}"/>
              </a:ext>
            </a:extLst>
          </p:cNvPr>
          <p:cNvSpPr/>
          <p:nvPr/>
        </p:nvSpPr>
        <p:spPr>
          <a:xfrm>
            <a:off x="3811604" y="1673706"/>
            <a:ext cx="520235" cy="42460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076F2A-8AA0-4E97-B92A-0E3AA54DE0BE}"/>
              </a:ext>
            </a:extLst>
          </p:cNvPr>
          <p:cNvSpPr txBox="1"/>
          <p:nvPr/>
        </p:nvSpPr>
        <p:spPr>
          <a:xfrm>
            <a:off x="3702517" y="2904645"/>
            <a:ext cx="8489483" cy="1077218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插入位置计算（依据剩余休眠时间）</a:t>
            </a:r>
            <a:endParaRPr lang="en-US" altLang="zh-CN" sz="24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p_tcb1-&gt;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= p_tcb1-&gt;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  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60A152F-2DC8-4BCA-A298-D45D02DB867D}"/>
              </a:ext>
            </a:extLst>
          </p:cNvPr>
          <p:cNvGrpSpPr/>
          <p:nvPr/>
        </p:nvGrpSpPr>
        <p:grpSpPr>
          <a:xfrm>
            <a:off x="8479858" y="1819175"/>
            <a:ext cx="1106904" cy="1828799"/>
            <a:chOff x="8787865" y="1442701"/>
            <a:chExt cx="6106900" cy="2339107"/>
          </a:xfrm>
        </p:grpSpPr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AF4FB6FC-35F6-4998-8A3D-D9951C722F0C}"/>
                </a:ext>
              </a:extLst>
            </p:cNvPr>
            <p:cNvCxnSpPr/>
            <p:nvPr/>
          </p:nvCxnSpPr>
          <p:spPr>
            <a:xfrm flipH="1">
              <a:off x="8787865" y="1442701"/>
              <a:ext cx="2329314" cy="2339107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3A3AC2C-92E3-4DB1-B2D3-C6857FAB0C00}"/>
                </a:ext>
              </a:extLst>
            </p:cNvPr>
            <p:cNvSpPr txBox="1"/>
            <p:nvPr/>
          </p:nvSpPr>
          <p:spPr>
            <a:xfrm>
              <a:off x="9955741" y="2312432"/>
              <a:ext cx="4939024" cy="905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FF0000"/>
                  </a:solidFill>
                </a:rPr>
                <a:t>PK</a:t>
              </a:r>
              <a:endParaRPr lang="zh-CN" altLang="en-US" sz="4000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D7724A36-6F06-40C4-A4F0-9B7CDEA71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267993"/>
              </p:ext>
            </p:extLst>
          </p:nvPr>
        </p:nvGraphicFramePr>
        <p:xfrm>
          <a:off x="10857230" y="4662367"/>
          <a:ext cx="109735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352">
                  <a:extLst>
                    <a:ext uri="{9D8B030D-6E8A-4147-A177-3AD203B41FA5}">
                      <a16:colId xmlns:a16="http://schemas.microsoft.com/office/drawing/2014/main" val="1405248558"/>
                    </a:ext>
                  </a:extLst>
                </a:gridCol>
              </a:tblGrid>
              <a:tr h="215444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4839"/>
                  </a:ext>
                </a:extLst>
              </a:tr>
              <a:tr h="215444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63808"/>
                  </a:ext>
                </a:extLst>
              </a:tr>
              <a:tr h="215444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Remain=34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456293"/>
                  </a:ext>
                </a:extLst>
              </a:tr>
              <a:tr h="215444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Match = 43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454520"/>
                  </a:ext>
                </a:extLst>
              </a:tr>
              <a:tr h="215444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89887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49607A7-B9DD-41B7-BF4E-BFB5DCDB2FB3}"/>
              </a:ext>
            </a:extLst>
          </p:cNvPr>
          <p:cNvCxnSpPr/>
          <p:nvPr/>
        </p:nvCxnSpPr>
        <p:spPr>
          <a:xfrm flipH="1">
            <a:off x="10337533" y="5109149"/>
            <a:ext cx="73793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C2B7787-E04D-4825-8B00-C4081D30B61E}"/>
              </a:ext>
            </a:extLst>
          </p:cNvPr>
          <p:cNvSpPr txBox="1"/>
          <p:nvPr/>
        </p:nvSpPr>
        <p:spPr>
          <a:xfrm>
            <a:off x="10272965" y="1210795"/>
            <a:ext cx="160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=9+34=43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A32DD87-BB98-441B-B102-9176165042EA}"/>
              </a:ext>
            </a:extLst>
          </p:cNvPr>
          <p:cNvSpPr txBox="1"/>
          <p:nvPr/>
        </p:nvSpPr>
        <p:spPr>
          <a:xfrm>
            <a:off x="8512750" y="1443837"/>
            <a:ext cx="160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34</a:t>
            </a:r>
            <a:endParaRPr lang="en-US" altLang="zh-CN" sz="20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F557520-181C-4AE1-BF1A-7E7042D17612}"/>
              </a:ext>
            </a:extLst>
          </p:cNvPr>
          <p:cNvSpPr txBox="1"/>
          <p:nvPr/>
        </p:nvSpPr>
        <p:spPr>
          <a:xfrm>
            <a:off x="5097393" y="2110464"/>
            <a:ext cx="24294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= 43 % 11 = 10</a:t>
            </a:r>
            <a:endParaRPr lang="zh-CN" altLang="en-US" sz="2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DAA92E6-9CB7-42A9-8FC6-D0E28566A91A}"/>
              </a:ext>
            </a:extLst>
          </p:cNvPr>
          <p:cNvSpPr txBox="1"/>
          <p:nvPr/>
        </p:nvSpPr>
        <p:spPr>
          <a:xfrm>
            <a:off x="6610387" y="3640397"/>
            <a:ext cx="2291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= 32 – 9 = 23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71960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7FF4B77E-341F-4B03-8842-65F48C4343EC}"/>
              </a:ext>
            </a:extLst>
          </p:cNvPr>
          <p:cNvGrpSpPr/>
          <p:nvPr/>
        </p:nvGrpSpPr>
        <p:grpSpPr>
          <a:xfrm>
            <a:off x="268344" y="2849079"/>
            <a:ext cx="10732100" cy="4086544"/>
            <a:chOff x="269506" y="2733892"/>
            <a:chExt cx="10732100" cy="408654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8C869EF-4262-4280-A1F6-5FAD834FBF84}"/>
                </a:ext>
              </a:extLst>
            </p:cNvPr>
            <p:cNvGrpSpPr/>
            <p:nvPr/>
          </p:nvGrpSpPr>
          <p:grpSpPr>
            <a:xfrm>
              <a:off x="269506" y="2733892"/>
              <a:ext cx="10732100" cy="4086544"/>
              <a:chOff x="693017" y="2656889"/>
              <a:chExt cx="10732100" cy="4086544"/>
            </a:xfrm>
          </p:grpSpPr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57679DFB-4B0A-4B75-A838-0288226D10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017" y="2656889"/>
                <a:ext cx="10732100" cy="4086544"/>
              </a:xfrm>
              <a:prstGeom prst="rect">
                <a:avLst/>
              </a:prstGeom>
            </p:spPr>
          </p:pic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4F30375-0DD5-415B-83C1-D03A96DAA360}"/>
                  </a:ext>
                </a:extLst>
              </p:cNvPr>
              <p:cNvSpPr txBox="1"/>
              <p:nvPr/>
            </p:nvSpPr>
            <p:spPr>
              <a:xfrm>
                <a:off x="1047892" y="4408367"/>
                <a:ext cx="19483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9</a:t>
                </a:r>
              </a:p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4602F0A-52D3-4A65-86F7-F28FCD0FBE18}"/>
                  </a:ext>
                </a:extLst>
              </p:cNvPr>
              <p:cNvSpPr txBox="1"/>
              <p:nvPr/>
            </p:nvSpPr>
            <p:spPr>
              <a:xfrm>
                <a:off x="5998583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120F2F1-D200-4F58-AEAD-E3B478DFB12B}"/>
                  </a:ext>
                </a:extLst>
              </p:cNvPr>
              <p:cNvSpPr txBox="1"/>
              <p:nvPr/>
            </p:nvSpPr>
            <p:spPr>
              <a:xfrm>
                <a:off x="8289396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21</a:t>
                </a:r>
                <a:endParaRPr lang="zh-CN" altLang="en-US" sz="1300" b="1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08B87DB-5B5E-4EED-991B-3FE4C1B8D75B}"/>
                  </a:ext>
                </a:extLst>
              </p:cNvPr>
              <p:cNvSpPr txBox="1"/>
              <p:nvPr/>
            </p:nvSpPr>
            <p:spPr>
              <a:xfrm>
                <a:off x="10443856" y="52152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32</a:t>
                </a:r>
                <a:endParaRPr lang="zh-CN" altLang="en-US" sz="1300" b="1" dirty="0"/>
              </a:p>
            </p:txBody>
          </p:sp>
        </p:grp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090990D-4201-4BEF-B0F4-BDAECBA07889}"/>
                </a:ext>
              </a:extLst>
            </p:cNvPr>
            <p:cNvSpPr/>
            <p:nvPr/>
          </p:nvSpPr>
          <p:spPr>
            <a:xfrm>
              <a:off x="4424882" y="4038920"/>
              <a:ext cx="1345023" cy="2080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9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B050"/>
                </a:solidFill>
              </a:rPr>
              <a:t>更新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休眠表</a:t>
            </a:r>
            <a:r>
              <a:rPr lang="en-US" altLang="zh-CN" sz="4400" b="1" kern="1200" dirty="0">
                <a:solidFill>
                  <a:srgbClr val="00B050"/>
                </a:solidFill>
              </a:rPr>
              <a:t>_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案例</a:t>
            </a:r>
            <a:r>
              <a:rPr lang="en-US" altLang="zh-CN" sz="4400" b="1" kern="1200" dirty="0">
                <a:solidFill>
                  <a:srgbClr val="FF0000"/>
                </a:solidFill>
              </a:rPr>
              <a:t>1_1 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os_tick.c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B942C0-9116-4B82-9BF9-E0E7A6DB3F52}"/>
              </a:ext>
            </a:extLst>
          </p:cNvPr>
          <p:cNvSpPr txBox="1"/>
          <p:nvPr/>
        </p:nvSpPr>
        <p:spPr>
          <a:xfrm>
            <a:off x="221382" y="1210795"/>
            <a:ext cx="3599847" cy="101566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前提条件：</a:t>
            </a:r>
            <a:endParaRPr lang="en-US" altLang="zh-CN" sz="24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OS_CFG_TICK_WHEEL_SIZE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=11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OSTickCtr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= 9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E081CD-DD5B-470A-9D97-DB2F6EA41064}"/>
              </a:ext>
            </a:extLst>
          </p:cNvPr>
          <p:cNvSpPr txBox="1"/>
          <p:nvPr/>
        </p:nvSpPr>
        <p:spPr>
          <a:xfrm>
            <a:off x="4591721" y="1158605"/>
            <a:ext cx="3166241" cy="40011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OSTickCtr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++   (=10)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AAD0B4D-2CF1-483F-906D-CBB486155669}"/>
              </a:ext>
            </a:extLst>
          </p:cNvPr>
          <p:cNvSpPr/>
          <p:nvPr/>
        </p:nvSpPr>
        <p:spPr>
          <a:xfrm>
            <a:off x="3811604" y="1673706"/>
            <a:ext cx="520235" cy="42460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1EE634-7AA9-4CC6-A8B7-4E1864089710}"/>
              </a:ext>
            </a:extLst>
          </p:cNvPr>
          <p:cNvSpPr txBox="1"/>
          <p:nvPr/>
        </p:nvSpPr>
        <p:spPr>
          <a:xfrm>
            <a:off x="4331839" y="1673706"/>
            <a:ext cx="7767118" cy="40011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spoke =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%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OSCfg_TickWheelSize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=10%11=10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0B5C78-0BCC-4CF5-ABFB-73555B54B725}"/>
              </a:ext>
            </a:extLst>
          </p:cNvPr>
          <p:cNvSpPr txBox="1"/>
          <p:nvPr/>
        </p:nvSpPr>
        <p:spPr>
          <a:xfrm>
            <a:off x="3811604" y="2213298"/>
            <a:ext cx="8287353" cy="113877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 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if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chemeClr val="accent1"/>
                </a:solidFill>
              </a:rPr>
              <a:t>(</a:t>
            </a:r>
            <a:r>
              <a:rPr lang="en-US" altLang="zh-CN" sz="2000" b="1" dirty="0" err="1">
                <a:solidFill>
                  <a:schemeClr val="accent1"/>
                </a:solidFill>
              </a:rPr>
              <a:t>OSTickCtr</a:t>
            </a:r>
            <a:r>
              <a:rPr lang="en-US" altLang="zh-CN" sz="2000" b="1" dirty="0">
                <a:solidFill>
                  <a:schemeClr val="accent1"/>
                </a:solidFill>
              </a:rPr>
              <a:t> == </a:t>
            </a:r>
            <a:r>
              <a:rPr lang="en-US" altLang="zh-CN" sz="2000" b="1" dirty="0" err="1">
                <a:solidFill>
                  <a:schemeClr val="accent1"/>
                </a:solidFill>
              </a:rPr>
              <a:t>p_tcb</a:t>
            </a:r>
            <a:r>
              <a:rPr lang="en-US" altLang="zh-CN" sz="2000" b="1" dirty="0">
                <a:solidFill>
                  <a:schemeClr val="accent1"/>
                </a:solidFill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</a:rPr>
              <a:t>TickCtrMatch</a:t>
            </a:r>
            <a:r>
              <a:rPr lang="en-US" altLang="zh-CN" sz="2000" b="1" dirty="0">
                <a:solidFill>
                  <a:schemeClr val="accent1"/>
                </a:solidFill>
              </a:rPr>
              <a:t>) 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229FD7-160D-417D-AF52-8A565E72703F}"/>
              </a:ext>
            </a:extLst>
          </p:cNvPr>
          <p:cNvSpPr txBox="1"/>
          <p:nvPr/>
        </p:nvSpPr>
        <p:spPr>
          <a:xfrm>
            <a:off x="8568894" y="2946917"/>
            <a:ext cx="160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True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BEE1242-3C1F-4BFB-A75F-DBB5AD724A13}"/>
              </a:ext>
            </a:extLst>
          </p:cNvPr>
          <p:cNvSpPr txBox="1"/>
          <p:nvPr/>
        </p:nvSpPr>
        <p:spPr>
          <a:xfrm>
            <a:off x="6557607" y="2519833"/>
            <a:ext cx="160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10-10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=0</a:t>
            </a:r>
            <a:endParaRPr lang="zh-CN" altLang="en-US" sz="20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6807E30-B04D-4D0F-B7CD-5E614DF0C727}"/>
              </a:ext>
            </a:extLst>
          </p:cNvPr>
          <p:cNvCxnSpPr/>
          <p:nvPr/>
        </p:nvCxnSpPr>
        <p:spPr>
          <a:xfrm>
            <a:off x="4129238" y="3792354"/>
            <a:ext cx="365760" cy="11069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AD36BB3E-4AF6-4CDC-B9AC-D069AC93DBA3}"/>
              </a:ext>
            </a:extLst>
          </p:cNvPr>
          <p:cNvSpPr txBox="1"/>
          <p:nvPr/>
        </p:nvSpPr>
        <p:spPr>
          <a:xfrm>
            <a:off x="5524491" y="5198029"/>
            <a:ext cx="26349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endParaRPr lang="zh-CN" altLang="en-US" sz="16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92B9E54-B151-4D8E-B2C6-F0649A1D47C8}"/>
              </a:ext>
            </a:extLst>
          </p:cNvPr>
          <p:cNvGrpSpPr/>
          <p:nvPr/>
        </p:nvGrpSpPr>
        <p:grpSpPr>
          <a:xfrm>
            <a:off x="5029908" y="3429000"/>
            <a:ext cx="5596382" cy="1581889"/>
            <a:chOff x="5029908" y="3429000"/>
            <a:chExt cx="5596382" cy="158188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8D620B9-5B9E-4FC0-8BA2-F9FFE73014D6}"/>
                </a:ext>
              </a:extLst>
            </p:cNvPr>
            <p:cNvGrpSpPr/>
            <p:nvPr/>
          </p:nvGrpSpPr>
          <p:grpSpPr>
            <a:xfrm>
              <a:off x="5029908" y="3621499"/>
              <a:ext cx="1707778" cy="1389390"/>
              <a:chOff x="5106908" y="3496375"/>
              <a:chExt cx="1707778" cy="1389390"/>
            </a:xfrm>
          </p:grpSpPr>
          <p:sp>
            <p:nvSpPr>
              <p:cNvPr id="2" name="箭头: 右 1">
                <a:extLst>
                  <a:ext uri="{FF2B5EF4-FFF2-40B4-BE49-F238E27FC236}">
                    <a16:creationId xmlns:a16="http://schemas.microsoft.com/office/drawing/2014/main" id="{C9D69EE6-DF69-4D7C-9AC2-536DCBFEF935}"/>
                  </a:ext>
                </a:extLst>
              </p:cNvPr>
              <p:cNvSpPr/>
              <p:nvPr/>
            </p:nvSpPr>
            <p:spPr>
              <a:xfrm rot="17748230">
                <a:off x="5483868" y="4111477"/>
                <a:ext cx="1019449" cy="529127"/>
              </a:xfrm>
              <a:prstGeom prst="right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1561A8A-03AC-4F8B-BB6F-41ABA2A14E17}"/>
                  </a:ext>
                </a:extLst>
              </p:cNvPr>
              <p:cNvSpPr txBox="1"/>
              <p:nvPr/>
            </p:nvSpPr>
            <p:spPr>
              <a:xfrm>
                <a:off x="5106908" y="3496375"/>
                <a:ext cx="1707778" cy="400110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dirty="0" err="1">
                    <a:solidFill>
                      <a:schemeClr val="accent1"/>
                    </a:solidFill>
                    <a:latin typeface="Courier New" panose="02070309020205020404" pitchFamily="49" charset="0"/>
                  </a:rPr>
                  <a:t>OS_TaskRdy</a:t>
                </a:r>
                <a:endParaRPr lang="zh-CN" altLang="en-US" sz="2000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AA10458-26A6-450E-B048-5FFE36D0EA2F}"/>
                </a:ext>
              </a:extLst>
            </p:cNvPr>
            <p:cNvSpPr txBox="1"/>
            <p:nvPr/>
          </p:nvSpPr>
          <p:spPr>
            <a:xfrm>
              <a:off x="6737685" y="3429000"/>
              <a:ext cx="3888605" cy="70788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2000" b="1" dirty="0" err="1">
                  <a:solidFill>
                    <a:srgbClr val="FF0000"/>
                  </a:solidFill>
                  <a:latin typeface="Courier New" panose="02070309020205020404" pitchFamily="49" charset="0"/>
                </a:rPr>
                <a:t>OS_TickListRemove</a:t>
              </a:r>
              <a:r>
                <a:rPr lang="en-US" altLang="zh-CN" sz="20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zh-CN" sz="2000" b="1" dirty="0" err="1">
                  <a:solidFill>
                    <a:srgbClr val="FF0000"/>
                  </a:solidFill>
                  <a:latin typeface="Courier New" panose="02070309020205020404" pitchFamily="49" charset="0"/>
                </a:rPr>
                <a:t>p_tcb</a:t>
              </a:r>
              <a:r>
                <a:rPr lang="en-US" altLang="zh-CN" sz="20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);</a:t>
              </a:r>
            </a:p>
            <a:p>
              <a:r>
                <a:rPr lang="en-US" altLang="zh-CN" sz="2000" b="1" dirty="0" err="1">
                  <a:solidFill>
                    <a:schemeClr val="accent1"/>
                  </a:solidFill>
                  <a:latin typeface="Courier New" panose="02070309020205020404" pitchFamily="49" charset="0"/>
                </a:rPr>
                <a:t>OS_RdyListInsert</a:t>
              </a:r>
              <a:r>
                <a:rPr lang="en-US" altLang="zh-CN" sz="2000" b="1" dirty="0">
                  <a:solidFill>
                    <a:schemeClr val="accent1"/>
                  </a:solidFill>
                  <a:latin typeface="Courier New" panose="02070309020205020404" pitchFamily="49" charset="0"/>
                </a:rPr>
                <a:t>(</a:t>
              </a:r>
              <a:r>
                <a:rPr lang="en-US" altLang="zh-CN" sz="2000" b="1" dirty="0" err="1">
                  <a:solidFill>
                    <a:schemeClr val="accent1"/>
                  </a:solidFill>
                  <a:latin typeface="Courier New" panose="02070309020205020404" pitchFamily="49" charset="0"/>
                </a:rPr>
                <a:t>p_tcb</a:t>
              </a:r>
              <a:r>
                <a:rPr lang="en-US" altLang="zh-CN" sz="2000" b="1" dirty="0">
                  <a:solidFill>
                    <a:schemeClr val="accent1"/>
                  </a:solidFill>
                  <a:latin typeface="Courier New" panose="02070309020205020404" pitchFamily="49" charset="0"/>
                </a:rPr>
                <a:t>);</a:t>
              </a:r>
              <a:endParaRPr lang="zh-CN" altLang="en-US" sz="20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51142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7FF4B77E-341F-4B03-8842-65F48C4343EC}"/>
              </a:ext>
            </a:extLst>
          </p:cNvPr>
          <p:cNvGrpSpPr/>
          <p:nvPr/>
        </p:nvGrpSpPr>
        <p:grpSpPr>
          <a:xfrm>
            <a:off x="268344" y="2849079"/>
            <a:ext cx="10732100" cy="4086544"/>
            <a:chOff x="269506" y="2733892"/>
            <a:chExt cx="10732100" cy="408654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48C869EF-4262-4280-A1F6-5FAD834FBF84}"/>
                </a:ext>
              </a:extLst>
            </p:cNvPr>
            <p:cNvGrpSpPr/>
            <p:nvPr/>
          </p:nvGrpSpPr>
          <p:grpSpPr>
            <a:xfrm>
              <a:off x="269506" y="2733892"/>
              <a:ext cx="10732100" cy="4086544"/>
              <a:chOff x="693017" y="2656889"/>
              <a:chExt cx="10732100" cy="4086544"/>
            </a:xfrm>
          </p:grpSpPr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57679DFB-4B0A-4B75-A838-0288226D10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017" y="2656889"/>
                <a:ext cx="10732100" cy="4086544"/>
              </a:xfrm>
              <a:prstGeom prst="rect">
                <a:avLst/>
              </a:prstGeom>
            </p:spPr>
          </p:pic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4F30375-0DD5-415B-83C1-D03A96DAA360}"/>
                  </a:ext>
                </a:extLst>
              </p:cNvPr>
              <p:cNvSpPr txBox="1"/>
              <p:nvPr/>
            </p:nvSpPr>
            <p:spPr>
              <a:xfrm>
                <a:off x="1047892" y="4408367"/>
                <a:ext cx="19483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9</a:t>
                </a:r>
              </a:p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4602F0A-52D3-4A65-86F7-F28FCD0FBE18}"/>
                  </a:ext>
                </a:extLst>
              </p:cNvPr>
              <p:cNvSpPr txBox="1"/>
              <p:nvPr/>
            </p:nvSpPr>
            <p:spPr>
              <a:xfrm>
                <a:off x="5998583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7120F2F1-D200-4F58-AEAD-E3B478DFB12B}"/>
                  </a:ext>
                </a:extLst>
              </p:cNvPr>
              <p:cNvSpPr txBox="1"/>
              <p:nvPr/>
            </p:nvSpPr>
            <p:spPr>
              <a:xfrm>
                <a:off x="8289396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21</a:t>
                </a:r>
                <a:endParaRPr lang="zh-CN" altLang="en-US" sz="1300" b="1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08B87DB-5B5E-4EED-991B-3FE4C1B8D75B}"/>
                  </a:ext>
                </a:extLst>
              </p:cNvPr>
              <p:cNvSpPr txBox="1"/>
              <p:nvPr/>
            </p:nvSpPr>
            <p:spPr>
              <a:xfrm>
                <a:off x="10443856" y="52152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32</a:t>
                </a:r>
                <a:endParaRPr lang="zh-CN" altLang="en-US" sz="1300" b="1" dirty="0"/>
              </a:p>
            </p:txBody>
          </p:sp>
        </p:grp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090990D-4201-4BEF-B0F4-BDAECBA07889}"/>
                </a:ext>
              </a:extLst>
            </p:cNvPr>
            <p:cNvSpPr/>
            <p:nvPr/>
          </p:nvSpPr>
          <p:spPr>
            <a:xfrm>
              <a:off x="4424882" y="4038920"/>
              <a:ext cx="1345023" cy="2080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9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dirty="0">
                <a:solidFill>
                  <a:srgbClr val="00B050"/>
                </a:solidFill>
              </a:rPr>
              <a:t>更新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休眠表</a:t>
            </a:r>
            <a:r>
              <a:rPr lang="en-US" altLang="zh-CN" sz="4400" b="1" kern="1200" dirty="0">
                <a:solidFill>
                  <a:srgbClr val="00B050"/>
                </a:solidFill>
              </a:rPr>
              <a:t>_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案例</a:t>
            </a:r>
            <a:r>
              <a:rPr lang="en-US" altLang="zh-CN" sz="4400" b="1" kern="1200" dirty="0">
                <a:solidFill>
                  <a:srgbClr val="FF0000"/>
                </a:solidFill>
              </a:rPr>
              <a:t>1_2 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os_tick.c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B942C0-9116-4B82-9BF9-E0E7A6DB3F52}"/>
              </a:ext>
            </a:extLst>
          </p:cNvPr>
          <p:cNvSpPr txBox="1"/>
          <p:nvPr/>
        </p:nvSpPr>
        <p:spPr>
          <a:xfrm>
            <a:off x="221382" y="1210795"/>
            <a:ext cx="3599847" cy="101566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前提条件：</a:t>
            </a:r>
            <a:endParaRPr lang="en-US" altLang="zh-CN" sz="2400" b="1" i="0" dirty="0">
              <a:solidFill>
                <a:srgbClr val="0070C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18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OS_CFG_TICK_WHEEL_SIZE</a:t>
            </a:r>
            <a:r>
              <a:rPr lang="en-US" altLang="zh-CN" sz="1800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=11</a:t>
            </a:r>
          </a:p>
          <a:p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OSTickCtr</a:t>
            </a:r>
            <a:r>
              <a:rPr lang="en-US" altLang="zh-CN" b="1" dirty="0">
                <a:solidFill>
                  <a:srgbClr val="000000"/>
                </a:solidFill>
                <a:latin typeface="Courier New" panose="02070309020205020404" pitchFamily="49" charset="0"/>
              </a:rPr>
              <a:t> = 9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E081CD-DD5B-470A-9D97-DB2F6EA41064}"/>
              </a:ext>
            </a:extLst>
          </p:cNvPr>
          <p:cNvSpPr txBox="1"/>
          <p:nvPr/>
        </p:nvSpPr>
        <p:spPr>
          <a:xfrm>
            <a:off x="4591721" y="1158605"/>
            <a:ext cx="3166241" cy="40011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OSTickCtr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 ++   (=10)</a:t>
            </a:r>
            <a:endParaRPr lang="zh-CN" altLang="en-US" sz="2000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AAD0B4D-2CF1-483F-906D-CBB486155669}"/>
              </a:ext>
            </a:extLst>
          </p:cNvPr>
          <p:cNvSpPr/>
          <p:nvPr/>
        </p:nvSpPr>
        <p:spPr>
          <a:xfrm>
            <a:off x="3811604" y="1673706"/>
            <a:ext cx="520235" cy="42460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1EE634-7AA9-4CC6-A8B7-4E1864089710}"/>
              </a:ext>
            </a:extLst>
          </p:cNvPr>
          <p:cNvSpPr txBox="1"/>
          <p:nvPr/>
        </p:nvSpPr>
        <p:spPr>
          <a:xfrm>
            <a:off x="4331839" y="1673706"/>
            <a:ext cx="7767118" cy="40011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spoke =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%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OSCfg_TickWheelSize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=10%11=10</a:t>
            </a:r>
            <a:endParaRPr lang="zh-CN" altLang="en-US" sz="2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0B5C78-0BCC-4CF5-ABFB-73555B54B725}"/>
              </a:ext>
            </a:extLst>
          </p:cNvPr>
          <p:cNvSpPr txBox="1"/>
          <p:nvPr/>
        </p:nvSpPr>
        <p:spPr>
          <a:xfrm>
            <a:off x="3811604" y="2213298"/>
            <a:ext cx="8287353" cy="113877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TickRemain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p_tcb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TickCtrMatch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OSTickCtr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sz="2000" b="1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       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r>
              <a:rPr lang="en-US" altLang="zh-CN" sz="2800" b="1" dirty="0">
                <a:solidFill>
                  <a:srgbClr val="FF0000"/>
                </a:solidFill>
              </a:rPr>
              <a:t>if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chemeClr val="accent1"/>
                </a:solidFill>
              </a:rPr>
              <a:t>(</a:t>
            </a:r>
            <a:r>
              <a:rPr lang="en-US" altLang="zh-CN" sz="2000" b="1" dirty="0" err="1">
                <a:solidFill>
                  <a:schemeClr val="accent1"/>
                </a:solidFill>
              </a:rPr>
              <a:t>OSTickCtr</a:t>
            </a:r>
            <a:r>
              <a:rPr lang="en-US" altLang="zh-CN" sz="2000" b="1" dirty="0">
                <a:solidFill>
                  <a:schemeClr val="accent1"/>
                </a:solidFill>
              </a:rPr>
              <a:t> == </a:t>
            </a:r>
            <a:r>
              <a:rPr lang="en-US" altLang="zh-CN" sz="2000" b="1" dirty="0" err="1">
                <a:solidFill>
                  <a:schemeClr val="accent1"/>
                </a:solidFill>
              </a:rPr>
              <a:t>p_tcb</a:t>
            </a:r>
            <a:r>
              <a:rPr lang="en-US" altLang="zh-CN" sz="2000" b="1" dirty="0">
                <a:solidFill>
                  <a:schemeClr val="accent1"/>
                </a:solidFill>
              </a:rPr>
              <a:t>-&gt;</a:t>
            </a:r>
            <a:r>
              <a:rPr lang="en-US" altLang="zh-CN" sz="2000" b="1" dirty="0" err="1">
                <a:solidFill>
                  <a:schemeClr val="accent1"/>
                </a:solidFill>
              </a:rPr>
              <a:t>TickCtrMatch</a:t>
            </a:r>
            <a:r>
              <a:rPr lang="en-US" altLang="zh-CN" sz="2000" b="1" dirty="0">
                <a:solidFill>
                  <a:schemeClr val="accent1"/>
                </a:solidFill>
              </a:rPr>
              <a:t>) 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229FD7-160D-417D-AF52-8A565E72703F}"/>
              </a:ext>
            </a:extLst>
          </p:cNvPr>
          <p:cNvSpPr txBox="1"/>
          <p:nvPr/>
        </p:nvSpPr>
        <p:spPr>
          <a:xfrm>
            <a:off x="8568894" y="2946917"/>
            <a:ext cx="160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False</a:t>
            </a:r>
            <a:endParaRPr lang="zh-CN" altLang="en-US" sz="20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BEE1242-3C1F-4BFB-A75F-DBB5AD724A13}"/>
              </a:ext>
            </a:extLst>
          </p:cNvPr>
          <p:cNvSpPr txBox="1"/>
          <p:nvPr/>
        </p:nvSpPr>
        <p:spPr>
          <a:xfrm>
            <a:off x="7767185" y="5198029"/>
            <a:ext cx="26349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r>
              <a:rPr lang="en-US" altLang="zh-CN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11</a:t>
            </a:r>
            <a:endParaRPr lang="zh-CN" altLang="en-US" sz="16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6807E30-B04D-4D0F-B7CD-5E614DF0C727}"/>
              </a:ext>
            </a:extLst>
          </p:cNvPr>
          <p:cNvCxnSpPr/>
          <p:nvPr/>
        </p:nvCxnSpPr>
        <p:spPr>
          <a:xfrm>
            <a:off x="6497055" y="3792354"/>
            <a:ext cx="365760" cy="110690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880D5B9-9032-4B20-A0AB-BA6434B6441F}"/>
              </a:ext>
            </a:extLst>
          </p:cNvPr>
          <p:cNvGrpSpPr/>
          <p:nvPr/>
        </p:nvGrpSpPr>
        <p:grpSpPr>
          <a:xfrm>
            <a:off x="2569849" y="4480608"/>
            <a:ext cx="3526151" cy="1547566"/>
            <a:chOff x="2569849" y="4365108"/>
            <a:chExt cx="3526151" cy="1547566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A736F47F-05E7-4A4C-9E09-97BBC333E306}"/>
                </a:ext>
              </a:extLst>
            </p:cNvPr>
            <p:cNvGrpSpPr/>
            <p:nvPr/>
          </p:nvGrpSpPr>
          <p:grpSpPr>
            <a:xfrm>
              <a:off x="2569849" y="4365108"/>
              <a:ext cx="3526151" cy="1547566"/>
              <a:chOff x="2569849" y="4365108"/>
              <a:chExt cx="3526151" cy="1547566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F43A6C9-745B-4201-B190-511B030627CF}"/>
                  </a:ext>
                </a:extLst>
              </p:cNvPr>
              <p:cNvSpPr/>
              <p:nvPr/>
            </p:nvSpPr>
            <p:spPr>
              <a:xfrm>
                <a:off x="3564556" y="4365108"/>
                <a:ext cx="2531444" cy="15475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2B26BA24-ECE6-47A9-A460-EA6FD976092D}"/>
                  </a:ext>
                </a:extLst>
              </p:cNvPr>
              <p:cNvSpPr/>
              <p:nvPr/>
            </p:nvSpPr>
            <p:spPr>
              <a:xfrm>
                <a:off x="2569849" y="4863437"/>
                <a:ext cx="2599225" cy="10492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D6E5022-597F-4A38-ACA0-AE29C529A0B6}"/>
                </a:ext>
              </a:extLst>
            </p:cNvPr>
            <p:cNvCxnSpPr/>
            <p:nvPr/>
          </p:nvCxnSpPr>
          <p:spPr>
            <a:xfrm>
              <a:off x="3564556" y="4745255"/>
              <a:ext cx="253144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4EDE998-747B-403B-ACFE-E35E2D712039}"/>
                </a:ext>
              </a:extLst>
            </p:cNvPr>
            <p:cNvCxnSpPr/>
            <p:nvPr/>
          </p:nvCxnSpPr>
          <p:spPr>
            <a:xfrm flipH="1">
              <a:off x="5852160" y="4976261"/>
              <a:ext cx="24384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CC6DA37-001D-41FB-949A-293F5E600A90}"/>
                </a:ext>
              </a:extLst>
            </p:cNvPr>
            <p:cNvSpPr txBox="1"/>
            <p:nvPr/>
          </p:nvSpPr>
          <p:spPr>
            <a:xfrm>
              <a:off x="5546265" y="4802314"/>
              <a:ext cx="305895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1F75DCD-F909-462B-A789-6F63A6FBCD12}"/>
              </a:ext>
            </a:extLst>
          </p:cNvPr>
          <p:cNvSpPr txBox="1"/>
          <p:nvPr/>
        </p:nvSpPr>
        <p:spPr>
          <a:xfrm>
            <a:off x="6497055" y="2607578"/>
            <a:ext cx="1605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=21-10=11</a:t>
            </a:r>
            <a:endParaRPr lang="zh-CN" altLang="en-US" sz="2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24BB024-49EA-43AD-B35B-69002E624DCC}"/>
              </a:ext>
            </a:extLst>
          </p:cNvPr>
          <p:cNvSpPr txBox="1"/>
          <p:nvPr/>
        </p:nvSpPr>
        <p:spPr>
          <a:xfrm>
            <a:off x="8129125" y="3675351"/>
            <a:ext cx="8575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FF0000"/>
                </a:solidFill>
                <a:latin typeface="Courier New" panose="02070309020205020404" pitchFamily="49" charset="0"/>
              </a:rPr>
              <a:t>完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9323194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 animBg="1"/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9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kern="1200" dirty="0">
                <a:solidFill>
                  <a:schemeClr val="accent5">
                    <a:lumMod val="50000"/>
                  </a:schemeClr>
                </a:solidFill>
              </a:rPr>
              <a:t>修改阻塞延时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os_time.c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B942C0-9116-4B82-9BF9-E0E7A6DB3F52}"/>
              </a:ext>
            </a:extLst>
          </p:cNvPr>
          <p:cNvSpPr txBox="1"/>
          <p:nvPr/>
        </p:nvSpPr>
        <p:spPr>
          <a:xfrm>
            <a:off x="1219508" y="1288917"/>
            <a:ext cx="9665568" cy="532453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OSTimeDly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(OS_TICK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dly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	CPU_SR_ALLOC();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Courier New" panose="02070309020205020404" pitchFamily="49" charset="0"/>
              </a:rPr>
              <a:t>OS_CRITICAL_ENTER();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进入临界区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#if 0	</a:t>
            </a:r>
          </a:p>
          <a:p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effectLst/>
                <a:latin typeface="Courier New" panose="02070309020205020404" pitchFamily="49" charset="0"/>
              </a:rPr>
              <a:t>设置延时时间 *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OSTCBCurPtr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TaskDelayTicks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 = 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dly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;		</a:t>
            </a:r>
          </a:p>
          <a:p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effectLst/>
                <a:latin typeface="Courier New" panose="02070309020205020404" pitchFamily="49" charset="0"/>
              </a:rPr>
              <a:t>从就绪列表中移除 *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	//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OS_RdyListRemove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OSTCBCurPtr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OS_PrioRemove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OSTCBCurPtr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sz="2000" b="1" i="0" dirty="0" err="1">
                <a:effectLst/>
                <a:latin typeface="Courier New" panose="02070309020205020404" pitchFamily="49" charset="0"/>
              </a:rPr>
              <a:t>Prio</a:t>
            </a:r>
            <a:r>
              <a:rPr lang="en-US" altLang="zh-CN" sz="2000" b="1" i="0" dirty="0">
                <a:effectLst/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#endif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插入到时基列表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OS_TickListInsert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OSTCBCurPtr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dly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);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从就绪列表移除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OS_RdyListRemove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OSTCBCurPtr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);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OS_CRITICAL_EXIT();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退出临界区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OSSched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(); 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任务调度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7288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19508" y="350104"/>
            <a:ext cx="7767118" cy="922084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37918" y="366833"/>
            <a:ext cx="9315932" cy="649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kern="1200" dirty="0">
                <a:solidFill>
                  <a:schemeClr val="accent5">
                    <a:lumMod val="50000"/>
                  </a:schemeClr>
                </a:solidFill>
              </a:rPr>
              <a:t>修改时钟中断处理函数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4400" b="0" i="0" dirty="0" err="1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os_time.c</a:t>
            </a:r>
            <a:r>
              <a:rPr lang="zh-CN" altLang="en-US" sz="4400" b="0" i="0" dirty="0">
                <a:solidFill>
                  <a:schemeClr val="accent5">
                    <a:lumMod val="50000"/>
                  </a:schemeClr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44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B942C0-9116-4B82-9BF9-E0E7A6DB3F52}"/>
              </a:ext>
            </a:extLst>
          </p:cNvPr>
          <p:cNvSpPr txBox="1"/>
          <p:nvPr/>
        </p:nvSpPr>
        <p:spPr>
          <a:xfrm>
            <a:off x="228601" y="1060317"/>
            <a:ext cx="11677649" cy="5816977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void  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OSTimeTick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(void)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{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#if 0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unsigned int 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CPU_SR_ALLOC();	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OS_CRITICAL_ENTER(); /* </a:t>
            </a:r>
            <a:r>
              <a:rPr lang="zh-CN" altLang="en-US" b="1" i="0" dirty="0">
                <a:effectLst/>
                <a:latin typeface="Courier New" panose="02070309020205020404" pitchFamily="49" charset="0"/>
              </a:rPr>
              <a:t>进入临界区 *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/	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for(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=0; 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&lt;OS_CFG_PRIO_MAX; 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++){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	if(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[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].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TaskDelayTicks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 &gt; 0){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		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[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].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TaskDelayTicks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 --;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		if(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[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].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-&gt;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TaskDelayTicks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 == 0){//</a:t>
            </a:r>
            <a:r>
              <a:rPr lang="zh-CN" altLang="en-US" b="1" i="0" dirty="0">
                <a:effectLst/>
                <a:latin typeface="Courier New" panose="02070309020205020404" pitchFamily="49" charset="0"/>
              </a:rPr>
              <a:t>延时为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0</a:t>
            </a:r>
            <a:r>
              <a:rPr lang="zh-CN" altLang="en-US" b="1" i="0" dirty="0">
                <a:effectLst/>
                <a:latin typeface="Courier New" panose="02070309020205020404" pitchFamily="49" charset="0"/>
              </a:rPr>
              <a:t>则让任务就绪</a:t>
            </a:r>
            <a:endParaRPr lang="en-US" altLang="zh-CN" b="1" i="0" dirty="0">
              <a:effectLst/>
              <a:latin typeface="Courier New" panose="02070309020205020404" pitchFamily="49" charset="0"/>
            </a:endParaRP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			//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OS_RdyListInsert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 (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OSRdyList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[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].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HeadPtr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			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OS_PrioInsert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(</a:t>
            </a:r>
            <a:r>
              <a:rPr lang="en-US" altLang="zh-CN" b="1" i="0" dirty="0" err="1">
                <a:effectLst/>
                <a:latin typeface="Courier New" panose="02070309020205020404" pitchFamily="49" charset="0"/>
              </a:rPr>
              <a:t>i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		}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	}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}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	OS_CRITICAL_EXIT(); /* </a:t>
            </a:r>
            <a:r>
              <a:rPr lang="zh-CN" altLang="en-US" b="1" i="0" dirty="0">
                <a:effectLst/>
                <a:latin typeface="Courier New" panose="02070309020205020404" pitchFamily="49" charset="0"/>
              </a:rPr>
              <a:t>退出临界区 *</a:t>
            </a:r>
            <a:r>
              <a:rPr lang="en-US" altLang="zh-CN" b="1" i="0" dirty="0"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b="1" i="0" dirty="0">
                <a:effectLst/>
                <a:latin typeface="Courier New" panose="02070309020205020404" pitchFamily="49" charset="0"/>
              </a:rPr>
              <a:t>#endif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OS_TickListUpdate</a:t>
            </a:r>
            <a:r>
              <a:rPr lang="en-US" altLang="zh-CN" sz="20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(); 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更新时基列表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 	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altLang="zh-CN" sz="2000" b="1" i="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OSSched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(); /* </a:t>
            </a:r>
            <a:r>
              <a:rPr lang="zh-CN" altLang="en-US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任务调度 *</a:t>
            </a:r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/</a:t>
            </a:r>
          </a:p>
          <a:p>
            <a:r>
              <a:rPr lang="en-US" altLang="zh-CN" sz="20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altLang="zh-CN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3335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FDE6BA-3B80-45C8-B660-AB1519A91A4E}"/>
              </a:ext>
            </a:extLst>
          </p:cNvPr>
          <p:cNvGrpSpPr/>
          <p:nvPr/>
        </p:nvGrpSpPr>
        <p:grpSpPr>
          <a:xfrm>
            <a:off x="422938" y="3921762"/>
            <a:ext cx="8563688" cy="2942835"/>
            <a:chOff x="269506" y="2733892"/>
            <a:chExt cx="10732100" cy="4086544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10E5C63C-BB53-45B5-949B-2307BF0D1746}"/>
                </a:ext>
              </a:extLst>
            </p:cNvPr>
            <p:cNvGrpSpPr/>
            <p:nvPr/>
          </p:nvGrpSpPr>
          <p:grpSpPr>
            <a:xfrm>
              <a:off x="269506" y="2733892"/>
              <a:ext cx="10732100" cy="4086544"/>
              <a:chOff x="693017" y="2656889"/>
              <a:chExt cx="10732100" cy="4086544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8BED7B67-8FC7-4610-AF8E-FE377D1DEF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3017" y="2656889"/>
                <a:ext cx="10732100" cy="4086544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F9C5DE-EDF5-4ED8-BC22-82BEC7C92206}"/>
                  </a:ext>
                </a:extLst>
              </p:cNvPr>
              <p:cNvSpPr txBox="1"/>
              <p:nvPr/>
            </p:nvSpPr>
            <p:spPr>
              <a:xfrm>
                <a:off x="1047892" y="4408367"/>
                <a:ext cx="194833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9</a:t>
                </a:r>
              </a:p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247023A-C188-4EE0-A043-FE24A42FD673}"/>
                  </a:ext>
                </a:extLst>
              </p:cNvPr>
              <p:cNvSpPr txBox="1"/>
              <p:nvPr/>
            </p:nvSpPr>
            <p:spPr>
              <a:xfrm>
                <a:off x="5998583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10</a:t>
                </a:r>
                <a:endParaRPr lang="zh-CN" altLang="en-US" sz="1300" b="1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401CD4-E2BC-43E7-8D93-1F63596925AE}"/>
                  </a:ext>
                </a:extLst>
              </p:cNvPr>
              <p:cNvSpPr txBox="1"/>
              <p:nvPr/>
            </p:nvSpPr>
            <p:spPr>
              <a:xfrm>
                <a:off x="8289396" y="52168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21</a:t>
                </a:r>
                <a:endParaRPr lang="zh-CN" altLang="en-US" sz="1300" b="1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E1240BD-2C34-4A1B-AABF-A01E742909FD}"/>
                  </a:ext>
                </a:extLst>
              </p:cNvPr>
              <p:cNvSpPr txBox="1"/>
              <p:nvPr/>
            </p:nvSpPr>
            <p:spPr>
              <a:xfrm>
                <a:off x="10443856" y="5215289"/>
                <a:ext cx="194833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300" b="1" dirty="0"/>
                  <a:t>32</a:t>
                </a:r>
                <a:endParaRPr lang="zh-CN" altLang="en-US" sz="1300" b="1" dirty="0"/>
              </a:p>
            </p:txBody>
          </p:sp>
        </p:grp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2874773-63DF-4447-8F49-4BD3C0D355A8}"/>
                </a:ext>
              </a:extLst>
            </p:cNvPr>
            <p:cNvSpPr/>
            <p:nvPr/>
          </p:nvSpPr>
          <p:spPr>
            <a:xfrm>
              <a:off x="4424882" y="4038920"/>
              <a:ext cx="1345023" cy="2080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9634" name="object 1">
            <a:extLst>
              <a:ext uri="{FF2B5EF4-FFF2-40B4-BE49-F238E27FC236}">
                <a16:creationId xmlns:a16="http://schemas.microsoft.com/office/drawing/2014/main" id="{A87AE182-642F-4287-BB1B-C01960ABBBAB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43533" y="0"/>
            <a:ext cx="11526" cy="11526"/>
          </a:xfrm>
          <a:prstGeom prst="rect">
            <a:avLst/>
          </a:prstGeom>
          <a:blipFill dpi="0" rotWithShape="0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5" name="object 2">
            <a:extLst>
              <a:ext uri="{FF2B5EF4-FFF2-40B4-BE49-F238E27FC236}">
                <a16:creationId xmlns:a16="http://schemas.microsoft.com/office/drawing/2014/main" id="{20059016-18A9-48EC-9E6C-A5C81F12928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9883" y="350104"/>
            <a:ext cx="7767118" cy="922084"/>
          </a:xfrm>
          <a:prstGeom prst="rect">
            <a:avLst/>
          </a:prstGeom>
          <a:blipFill dpi="0" rotWithShape="0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  <a:buFont typeface="Calibri" panose="020F0502020204030204" pitchFamily="34" charset="0"/>
              <a:buNone/>
            </a:pPr>
            <a:endParaRPr lang="zh-CN" altLang="zh-CN" sz="1634"/>
          </a:p>
        </p:txBody>
      </p:sp>
      <p:sp>
        <p:nvSpPr>
          <p:cNvPr id="69636" name="object 4">
            <a:extLst>
              <a:ext uri="{FF2B5EF4-FFF2-40B4-BE49-F238E27FC236}">
                <a16:creationId xmlns:a16="http://schemas.microsoft.com/office/drawing/2014/main" id="{7921C755-DF57-47F6-8488-637AB7C929F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28293" y="366833"/>
            <a:ext cx="10306532" cy="65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5287"/>
              </a:lnSpc>
            </a:pPr>
            <a:r>
              <a:rPr lang="zh-CN" altLang="en-US" sz="4400" b="1" kern="1200" dirty="0">
                <a:solidFill>
                  <a:srgbClr val="00B050"/>
                </a:solidFill>
              </a:rPr>
              <a:t>两种时空转换的对比（</a:t>
            </a:r>
            <a:r>
              <a:rPr lang="zh-CN" altLang="en-US" sz="4400" b="1" kern="1200" dirty="0">
                <a:solidFill>
                  <a:srgbClr val="FF0000"/>
                </a:solidFill>
              </a:rPr>
              <a:t>一对一  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与</a:t>
            </a:r>
            <a:r>
              <a:rPr lang="zh-CN" altLang="en-US" sz="4400" b="1" kern="1200" dirty="0">
                <a:solidFill>
                  <a:srgbClr val="FF0000"/>
                </a:solidFill>
              </a:rPr>
              <a:t> 一对多</a:t>
            </a:r>
            <a:r>
              <a:rPr lang="zh-CN" altLang="en-US" sz="4400" b="1" kern="1200" dirty="0">
                <a:solidFill>
                  <a:srgbClr val="00B050"/>
                </a:solidFill>
              </a:rPr>
              <a:t>）</a:t>
            </a:r>
            <a:endParaRPr lang="zh-CN" altLang="zh-CN" sz="4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4DF6A87-E8A2-44F3-8958-2C66CCE2BD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81" y="1078465"/>
            <a:ext cx="6607544" cy="27806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550774-845B-4D33-9FEF-55ECE8F5C5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2050" y="1221561"/>
            <a:ext cx="5665911" cy="343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69560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26934</TotalTime>
  <Words>924</Words>
  <Application>Microsoft Office PowerPoint</Application>
  <PresentationFormat>宽屏</PresentationFormat>
  <Paragraphs>166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PJMWDW+STZhongsong,Bold</vt:lpstr>
      <vt:lpstr>等线</vt:lpstr>
      <vt:lpstr>等线 Light</vt:lpstr>
      <vt:lpstr>黑体</vt:lpstr>
      <vt:lpstr>宋体</vt:lpstr>
      <vt:lpstr>Arial</vt:lpstr>
      <vt:lpstr>Calibri</vt:lpstr>
      <vt:lpstr>Courier New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367</cp:revision>
  <dcterms:created xsi:type="dcterms:W3CDTF">2020-11-10T10:12:45Z</dcterms:created>
  <dcterms:modified xsi:type="dcterms:W3CDTF">2021-11-11T01:42:43Z</dcterms:modified>
</cp:coreProperties>
</file>